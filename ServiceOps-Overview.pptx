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6"/>
  </p:notesMasterIdLst>
  <p:sldIdLst>
    <p:sldId id="528" r:id="rId2"/>
    <p:sldId id="496" r:id="rId3"/>
    <p:sldId id="512" r:id="rId4"/>
    <p:sldId id="513" r:id="rId5"/>
    <p:sldId id="514" r:id="rId6"/>
    <p:sldId id="531" r:id="rId7"/>
    <p:sldId id="549" r:id="rId8"/>
    <p:sldId id="515" r:id="rId9"/>
    <p:sldId id="516" r:id="rId10"/>
    <p:sldId id="517" r:id="rId11"/>
    <p:sldId id="545" r:id="rId12"/>
    <p:sldId id="518" r:id="rId13"/>
    <p:sldId id="519" r:id="rId14"/>
    <p:sldId id="520" r:id="rId15"/>
    <p:sldId id="546" r:id="rId16"/>
    <p:sldId id="521" r:id="rId17"/>
    <p:sldId id="522" r:id="rId18"/>
    <p:sldId id="529" r:id="rId19"/>
    <p:sldId id="524" r:id="rId20"/>
    <p:sldId id="525" r:id="rId21"/>
    <p:sldId id="526" r:id="rId22"/>
    <p:sldId id="532" r:id="rId23"/>
    <p:sldId id="533" r:id="rId24"/>
    <p:sldId id="534" r:id="rId25"/>
    <p:sldId id="535" r:id="rId26"/>
    <p:sldId id="536" r:id="rId27"/>
    <p:sldId id="537" r:id="rId28"/>
    <p:sldId id="538" r:id="rId29"/>
    <p:sldId id="539" r:id="rId30"/>
    <p:sldId id="540" r:id="rId31"/>
    <p:sldId id="541" r:id="rId32"/>
    <p:sldId id="542" r:id="rId33"/>
    <p:sldId id="543" r:id="rId34"/>
    <p:sldId id="544" r:id="rId35"/>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676"/>
    <p:restoredTop sz="96164"/>
  </p:normalViewPr>
  <p:slideViewPr>
    <p:cSldViewPr snapToGrid="0" snapToObjects="1">
      <p:cViewPr>
        <p:scale>
          <a:sx n="75" d="100"/>
          <a:sy n="75" d="100"/>
        </p:scale>
        <p:origin x="2048" y="8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3863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CORE PRESENTATION | Target: 35 seconds</a:t>
            </a:r>
          </a:p>
          <a:p>
            <a:endParaRPr/>
          </a:p>
          <a:p>
            <a:r>
              <a:t>ServiceOps is a self-hosted workspace for the people who request IT services, the teams who deliver them and the managers who approve the work. It connects service records to infrastructure, project delivery and decisions. Over the next twelve minutes we will follow what people actually do in the app. All web screenshots were captured on 20 October from an isolated copy of deployed application code, version 1.113.65, with synthetic records. These are interface examples, not live customer statistics. The original deck is retained separately.</a:t>
            </a:r>
          </a:p>
          <a:p>
            <a:endParaRPr/>
          </a:p>
          <a:p>
            <a:r>
              <a:t>Sources: ServiceOps/README.md; Current deployed source VERSION 1.113.65</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CORE PRESENTATION | Target: 40 seconds</a:t>
            </a:r>
          </a:p>
          <a:p>
            <a:endParaRPr/>
          </a:p>
          <a:p>
            <a:r>
              <a:t>Start with three familiar problems. An employee asks for help in email and cannot see who owns it. An engineer schedules maintenance without seeing a related team's work. A manager is asked to approve a change without the implementation and recovery plan in front of them. ServiceOps is designed to bring those records, owners and decisions into a connected workspace. These are intended benefits, not measured savings or a claim that software removes every operational risk.</a:t>
            </a:r>
          </a:p>
          <a:p>
            <a:endParaRPr/>
          </a:p>
          <a:p>
            <a:r>
              <a:t>Sources: ServiceOps/README.md; ServiceOps.wiki/Home.md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CORE PRESENTATION | Target: 45 seconds</a:t>
            </a:r>
          </a:p>
          <a:p>
            <a:endParaRPr/>
          </a:p>
          <a:p>
            <a:r>
              <a:t>Point to the open-work cards, then to Assigned to me. The dashboard connects a high-level view to actual records. Explain that an incident is an unplanned disruption, a request is an ask for a service and a change is planned work that can affect a service. People see the workspace their permissions allow. The visible counts are synthetic demo data. Do not read out every number; show how someone gets from overview to action.</a:t>
            </a:r>
          </a:p>
          <a:p>
            <a:endParaRPr/>
          </a:p>
          <a:p>
            <a:r>
              <a:t>Sources: ServiceOps.wiki/App-Guide.md; screenshots/dashboard.png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CORE PRESENTATION | Target: 50 seconds</a:t>
            </a:r>
          </a:p>
          <a:p>
            <a:endParaRPr/>
          </a:p>
          <a:p>
            <a:r>
              <a:t>Use the laptop request as the nontechnical example: an employee chooses a published service, provides the required information and follows progress. ServiceOps separates the overall request, individual requested items and the tasks that fulfill them. Approval follows the configured policy; not every request requires the same path. The screenshot shows the real current catalog interface with three synthetic services. Explain the business outcome before naming the record types. An approval decision is distinct from a delivery task.</a:t>
            </a:r>
          </a:p>
          <a:p>
            <a:endParaRPr/>
          </a:p>
          <a:p>
            <a:r>
              <a:t>Sources: ServiceOps.wiki/Operations-Manual.md; screenshots/catalog.png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CORE PRESENTATION | Target: 60 seconds</a:t>
            </a:r>
          </a:p>
          <a:p>
            <a:endParaRPr/>
          </a:p>
          <a:p>
            <a:r>
              <a:t>Return to CoreApps: finance users report that the application is slow. Open the incident and point out the title, priority, assignee and activity areas. The incident is the shared record for investigation, communication and resolution. Technically, state transitions and access follow server-side permissions. Do not imply this screenshot is a real outage or that the sample incident has been resolved. Different teams can work from the same record rather than rebuilding the context in a separate email thread.</a:t>
            </a:r>
          </a:p>
          <a:p>
            <a:endParaRPr/>
          </a:p>
          <a:p>
            <a:r>
              <a:t>Sources: ServiceOps.wiki/Operations-Manual.md; screenshots/incident-detail.png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CORE PRESENTATION | Target: 40 seconds</a:t>
            </a:r>
          </a:p>
          <a:p>
            <a:endParaRPr/>
          </a:p>
          <a:p>
            <a:r>
              <a:t>Start with three familiar problems. An employee asks for help in email and cannot see who owns it. An engineer schedules maintenance without seeing a related team's work. A manager is asked to approve a change without the implementation and recovery plan in front of them. ServiceOps is designed to bring those records, owners and decisions into a connected workspace. These are intended benefits, not measured savings or a claim that software removes every operational risk.</a:t>
            </a:r>
          </a:p>
          <a:p>
            <a:endParaRPr/>
          </a:p>
          <a:p>
            <a:r>
              <a:t>Sources: ServiceOps/README.md; ServiceOps.wiki/Home.md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CORE PRESENTATION | Target: 40 seconds</a:t>
            </a:r>
          </a:p>
          <a:p>
            <a:endParaRPr/>
          </a:p>
          <a:p>
            <a:r>
              <a:t>Start with three familiar problems. An employee asks for help in email and cannot see who owns it. An engineer schedules maintenance without seeing a related team's work. A manager is asked to approve a change without the implementation and recovery plan in front of them. ServiceOps is designed to bring those records, owners and decisions into a connected workspace. These are intended benefits, not measured savings or a claim that software removes every operational risk.</a:t>
            </a:r>
          </a:p>
          <a:p>
            <a:endParaRPr/>
          </a:p>
          <a:p>
            <a:r>
              <a:t>Sources: ServiceOps/README.md; ServiceOps.wiki/Home.md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CORE PRESENTATION | Target: 55 seconds</a:t>
            </a:r>
          </a:p>
          <a:p>
            <a:endParaRPr/>
          </a:p>
          <a:p>
            <a:r>
              <a:t>CMDB means configuration management database: in plain language, the record of the things IT operates and their relationships. Show the server, switch and business application. In the CoreApps story the important relationship is that server maintenance and switch maintenance may affect the same service. Integrations such as NetBox can maintain inventory and physical context. Relationship-based impact and conflict checks are only as complete as the maintained links; ServiceOps does not automatically know every dependency.</a:t>
            </a:r>
          </a:p>
          <a:p>
            <a:endParaRPr/>
          </a:p>
          <a:p>
            <a:r>
              <a:t>Sources: ServiceOps.wiki/Operations-Manual.md; ServiceOps/README.md; screenshots/cmdb.png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CORE PRESENTATION | Target: 70 seconds</a:t>
            </a:r>
          </a:p>
          <a:p>
            <a:endParaRPr/>
          </a:p>
          <a:p>
            <a:r>
              <a:t>This is the CoreApps maintenance example. The Unix team wants to maintain coreapps-01 while the Network team wants to update the rack switch. Point to the schedule and governance details. The affected configuration item is on the main record; implementation, testing and backout plans can be inspected through the material-plan editor and change tasks. Explain that a linked-device conflict can surface before approval. A configured freeze blocks normal or standard changes in its window; emergency handling follows the configured governance. The current change interface states that conflicting schedules are blocked at creation and material plan revision. The usefulness of dependency checks still depends on maintained relationships and the configured scope. The demo record shows the form and sample plans, not evidence of a completed approval or conflict test. A backout plan explains how to restore service if the work fails.</a:t>
            </a:r>
          </a:p>
          <a:p>
            <a:endParaRPr/>
          </a:p>
          <a:p>
            <a:r>
              <a:t>Sources: ServiceOps.wiki/Operations-Manual.md; Current source serviceops_core/web/tickets.py; screenshots/change-detail.png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CORE PRESENTATION | Target: 40 seconds</a:t>
            </a:r>
          </a:p>
          <a:p>
            <a:endParaRPr/>
          </a:p>
          <a:p>
            <a:r>
              <a:t>Show rack A12 in Tokyo DC1, with the focused preview highlighting coreapps-01 at U20. The switch at U42 is part of the wider illustrative scenario. These are synthetic demo records chosen to preserve the original CoreApps story. Rack context helps a technician identify the intended equipment before carrying out a task. Physical accuracy still depends on maintained or synchronized inventory. NetBox is an optional integration, not a prerequisite for every manual rack record. Do not claim the sample rack was synchronized from NetBox; it was created only in the isolated screenshot demo.</a:t>
            </a:r>
          </a:p>
          <a:p>
            <a:endParaRPr/>
          </a:p>
          <a:p>
            <a:r>
              <a:t>Sources: ServiceOps/README.md; Current source serviceops_core/web/cmdb.py; screenshots/rack.png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these as intended benefits of connected workflows, not quantified ROI claims. ServiceOps combines service work with infrastructure and governance.</a:t>
            </a:r>
          </a:p>
          <a:p>
            <a:endParaRPr/>
          </a:p>
          <a:p>
            <a:r>
              <a:t>Sources: ServiceOps.wiki/Home.md</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811740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CORE PRESENTATION | Target: 55 seconds</a:t>
            </a:r>
          </a:p>
          <a:p>
            <a:endParaRPr/>
          </a:p>
          <a:p>
            <a:r>
              <a:t>The updated app includes project delivery, which was missing from the original presentation. Show the cloud migration demo board. Explain the columns as the team's agreed workflow and the cards as work that moves through it. Projects support nested work, assignment, blockers, sprints and related delivery views. This complements service operations: an incident restores service while a project can coordinate a longer-term improvement. The cloud programme is explicitly a learning scenario, not an actual production migration. Avoid describing sample sprint data as measured team performance.</a:t>
            </a:r>
          </a:p>
          <a:p>
            <a:endParaRPr/>
          </a:p>
          <a:p>
            <a:r>
              <a:t>Sources: ServiceOps.wiki/Project-Planning.md; screenshots/project-board.png</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CORE PRESENTATION | Target: 55 seconds</a:t>
            </a:r>
          </a:p>
          <a:p>
            <a:endParaRPr/>
          </a:p>
          <a:p>
            <a:r>
              <a:t>Point to the hierarchy and timeline bars. Dependencies explain why a later task may need to wait for a prerequisite. Planning supports private draft changes, review and selected application after validation. Explain the difference between previewing a proposal and changing the work itself. Automatic scheduling is a bounded planning aid with explicit assumptions; it is not proof of optimal staffing or a complete employee availability calendar. For nontechnical listeners, describe this simply as making the sequence and proposed dates visible before a team commits.</a:t>
            </a:r>
          </a:p>
          <a:p>
            <a:endParaRPr/>
          </a:p>
          <a:p>
            <a:r>
              <a:t>Sources: ServiceOps.wiki/Project-Planning.md; screenshots/project-timeline.png</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CORE PRESENTATION | Target: 50 seconds</a:t>
            </a:r>
          </a:p>
          <a:p>
            <a:endParaRPr/>
          </a:p>
          <a:p>
            <a:r>
              <a:t>Explain AI through a useful example: help investigate an incident or prepare a structured ticket draft. The screenshot deliberately shows the actual administrator controls rather than a fabricated answer. Providers, data-sharing rules and permissions govern availability. Self-hosted inference is an option; an external provider has a different data boundary that must be reviewed. AI output requires human review. No live model response was generated for this deck, so do not present an answer or accuracy figure as verified. The app keeps access scoped to the acting user's permissions.</a:t>
            </a:r>
          </a:p>
          <a:p>
            <a:endParaRPr/>
          </a:p>
          <a:p>
            <a:r>
              <a:t>Sources: ServiceOps/README.md; ServiceOps.wiki/Operations-Manual.md; screenshots/ai-controls.png</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these as intended benefits of connected workflows, not quantified ROI claims. ServiceOps combines service work with infrastructure and governance.</a:t>
            </a:r>
          </a:p>
          <a:p>
            <a:endParaRPr/>
          </a:p>
          <a:p>
            <a:r>
              <a:t>Sources: ServiceOps.wiki/Home.md</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0701631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CORE PRESENTATION | Target: 45 seconds</a:t>
            </a:r>
          </a:p>
          <a:p>
            <a:endParaRPr/>
          </a:p>
          <a:p>
            <a:r>
              <a:t>Point out that the audit area is a distinct management view, not an ordinary user's activity feed. Approvals, record history and platform audit events answer related but different questions. Access and retention must be configured for the organization's requirements. A visible audit screen is not a claim of formal certification, complete retention validation or a guarantee that every possible event is covered. For a pilot, agree which decision evidence must be retrievable and demonstrate it end to end. Any events visible here were generated inside the isolated demo.</a:t>
            </a:r>
          </a:p>
          <a:p>
            <a:endParaRPr/>
          </a:p>
          <a:p>
            <a:r>
              <a:t>Sources: ServiceOps.wiki/Security-and-Compliance.md; ServiceOps.wiki/Operations-Manual.md; screenshots/audit.png</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CORE PRESENTATION | Target: 30 seconds</a:t>
            </a:r>
          </a:p>
          <a:p>
            <a:endParaRPr/>
          </a:p>
          <a:p>
            <a:r>
              <a:t>ServiceOps also has a native iPhone companion for home, work, approvals, knowledge and infrastructure context, subject to server permissions and configuration. These two images are existing iOS documentation screenshots with fixture records; they were not freshly captured from the current web deployment. Keep this slide brief. The point for managers and engineers is continuity of access when away from a desktop. The web interface also supports browser and PWA access.</a:t>
            </a:r>
          </a:p>
          <a:p>
            <a:endParaRPr/>
          </a:p>
          <a:p>
            <a:r>
              <a:t>Sources: ServiceOps_iOS/README.md; ServiceOps_iOS/docs/screenshots/iphone-home.png; ServiceOps_iOS/docs/screenshots/iphone-work.png</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CORE PRESENTATION | Target: 55 seconds</a:t>
            </a:r>
          </a:p>
          <a:p>
            <a:endParaRPr/>
          </a:p>
          <a:p>
            <a:r>
              <a:t>This is a conceptual architecture, not a detailed inventory of the current cluster. Browser/PWA and native mobile access the ServiceOps application and its scoped interfaces. The application and background workers use PostgreSQL, while files are stored in managed uploads. Identity, messaging, infrastructure integrations and AI are configured connections. Deployment and recovery responsibilities include protected access, persistent data, backups, migrations and upgrades. Mention REST and read-only MCP only as integration options; do not imply every interface has the same capabilities. For a ten-minute audience, summarize this as: operated on your infrastructure, connected through controlled interfaces.</a:t>
            </a:r>
          </a:p>
          <a:p>
            <a:endParaRPr/>
          </a:p>
          <a:p>
            <a:r>
              <a:t>Sources: ServiceOps/README.md; ServiceOps.wiki/Deployment-and-Recovery.md; ServiceOps.wiki/Home.md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CORE PRESENTATION | Target: 45 seconds</a:t>
            </a:r>
          </a:p>
          <a:p>
            <a:endParaRPr/>
          </a:p>
          <a:p>
            <a:r>
              <a:t>Close on a practical next step, keeping the pilot explicitly a proposal. Pick one business service, the people who own it and a small inventory scope. Walk a request through approval and fulfillment, investigate one incident and review one planned change with relevant dependencies. Agree evidence before starting: clear ownership, reliable infrastructure links, recorded approval and recoverable data. Review optional AI separately before enabling data sharing. Ask the room which service and teams should be the first pilot. No sponsor, rollout date or measured saving is assumed by this presentation.</a:t>
            </a:r>
          </a:p>
          <a:p>
            <a:endParaRPr/>
          </a:p>
          <a:p>
            <a:r>
              <a:t>Sources: ServiceOps.wiki/Operations-Manual.md; ServiceOps.wiki/Deployment-and-Recovery.md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APPENDIX | Target: 90 seconds</a:t>
            </a:r>
          </a:p>
          <a:p>
            <a:endParaRPr/>
          </a:p>
          <a:p>
            <a:r>
              <a:t>Optional scenario discussion, excluded from the twelve-minute core talk. Unix proposes server maintenance from 13:00 to 17:00 on Saturday. Network proposes a switch update from 14:00 to 16:00. If the recorded dependency connects the switch to the server and service, the overlap can be surfaced for review. Reschedule or follow the authorized exception process. A freeze is a separate enforced policy: standard and normal changes within an active freeze are blocked at submission; emergency handling follows the configured approval path. These times and links are illustrative; the application's current change interface describes blocking of detected conflicts at creation and plan revision. The isolated rack was manually entered, and the deck does not claim that a live NetBox sync, conflict rejection or emergency approval was executed.</a:t>
            </a:r>
          </a:p>
          <a:p>
            <a:endParaRPr/>
          </a:p>
          <a:p>
            <a:r>
              <a:t>Sources: Original user-provided ServiceOps-Overview.pptx slides 8-11; Current source serviceops_models.ChangeFreezeWindow; ServiceOps.wiki/Operations-Manual.md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APPENDIX | Target: 90 seconds</a:t>
            </a:r>
          </a:p>
          <a:p>
            <a:endParaRPr/>
          </a:p>
          <a:p>
            <a:r>
              <a:t>Optional checklist for technical questions. Demonstrate the configured approval path and a denied unauthorized action. Validate a sample of inventory and dependency links against the real equipment. Confirm the data path for each AI provider before use. Prove a backup can be restored, and exercise the controlled migration and upgrade path. Confirm the required audit evidence, retention and access permissions. Check the deployed scoped API contract rather than inventing integrations. This is an acceptance discussion, not a claim that the deck itself has retested production operations, formal compliance, availability targets or disaster recovery.</a:t>
            </a:r>
          </a:p>
          <a:p>
            <a:endParaRPr/>
          </a:p>
          <a:p>
            <a:r>
              <a:t>Sources: ServiceOps.wiki/Deployment-and-Recovery.md; ServiceOps.wiki/Security-and-Compliance.md; ServiceOps.wiki/REST-API-Reference.md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these as intended benefits of connected workflows, not quantified ROI claims. </a:t>
            </a:r>
            <a:r>
              <a:rPr dirty="0" err="1"/>
              <a:t>ServiceOps</a:t>
            </a:r>
            <a:r>
              <a:rPr dirty="0"/>
              <a:t> combines service work with infrastructure and governance.</a:t>
            </a:r>
          </a:p>
          <a:p>
            <a:endParaRPr dirty="0"/>
          </a:p>
          <a:p>
            <a:r>
              <a:rPr dirty="0"/>
              <a:t>Sources: </a:t>
            </a:r>
            <a:r>
              <a:rPr dirty="0" err="1"/>
              <a:t>ServiceOps.wiki</a:t>
            </a:r>
            <a:r>
              <a:rPr dirty="0"/>
              <a:t>/</a:t>
            </a:r>
            <a:r>
              <a:rPr dirty="0" err="1"/>
              <a:t>Home.md</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these as intended benefits of connected workflows, not quantified ROI claims. ServiceOps combines service work with infrastructure and governance.</a:t>
            </a:r>
          </a:p>
          <a:p>
            <a:endParaRPr/>
          </a:p>
          <a:p>
            <a:r>
              <a:t>Sources: ServiceOps.wiki/Home.md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these as intended benefits of connected workflows, not quantified ROI claims. ServiceOps combines service work with infrastructure and governance.</a:t>
            </a:r>
          </a:p>
          <a:p>
            <a:endParaRPr/>
          </a:p>
          <a:p>
            <a:r>
              <a:t>Sources: ServiceOps.wiki/Home.md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these as intended benefits of connected workflows, not quantified ROI claims. ServiceOps combines service work with infrastructure and governance.</a:t>
            </a:r>
          </a:p>
          <a:p>
            <a:endParaRPr/>
          </a:p>
          <a:p>
            <a:r>
              <a:t>Sources: ServiceOps.wiki/Home.md</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these as intended benefits of connected workflows, not quantified ROI claims. ServiceOps combines service work with infrastructure and governance.</a:t>
            </a:r>
          </a:p>
          <a:p>
            <a:endParaRPr/>
          </a:p>
          <a:p>
            <a:r>
              <a:t>Sources: ServiceOps.wiki/Home.md</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ServiceOps as a connected operational workspace, built by Anushka Wijesundara. The deck illustrates product capabilities, not customer adoption or measured business outcomes. Screenshots are existing documentation examples; their visible versions and sample counts are not current production metrics.</a:t>
            </a:r>
          </a:p>
          <a:p>
            <a:endParaRPr/>
          </a:p>
          <a:p>
            <a:r>
              <a:t>Sources: ServiceOps/README.md; ServiceOps.wiki/Home.md</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these as intended benefits of connected workflows, not quantified ROI claims. ServiceOps combines service work with infrastructure and governance.</a:t>
            </a:r>
          </a:p>
          <a:p>
            <a:endParaRPr/>
          </a:p>
          <a:p>
            <a:r>
              <a:t>Sources: ServiceOps.wiki/Home.md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these as intended benefits of connected workflows, not quantified ROI claims. ServiceOps combines service work with infrastructure and governance.</a:t>
            </a:r>
          </a:p>
          <a:p>
            <a:endParaRPr/>
          </a:p>
          <a:p>
            <a:r>
              <a:t>Sources: ServiceOps.wiki/Home.md</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these as intended benefits of connected workflows, not quantified ROI claims. ServiceOps combines service work with infrastructure and governance.</a:t>
            </a:r>
          </a:p>
          <a:p>
            <a:endParaRPr/>
          </a:p>
          <a:p>
            <a:r>
              <a:t>Sources: ServiceOps.wiki/Home.md</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these as intended benefits of connected workflows, not quantified ROI claims. ServiceOps combines service work with infrastructure and governance.</a:t>
            </a:r>
          </a:p>
          <a:p>
            <a:endParaRPr/>
          </a:p>
          <a:p>
            <a:r>
              <a:t>Sources: ServiceOps.wiki/Home.md</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these as intended benefits of connected workflows, not quantified ROI claims. ServiceOps combines service work with infrastructure and governance.</a:t>
            </a:r>
          </a:p>
          <a:p>
            <a:endParaRPr/>
          </a:p>
          <a:p>
            <a:r>
              <a:t>Sources: ServiceOps.wiki/Home.md</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these as intended benefits of connected workflows, not quantified ROI claims. ServiceOps combines service work with infrastructure and governance.</a:t>
            </a:r>
          </a:p>
          <a:p>
            <a:endParaRPr/>
          </a:p>
          <a:p>
            <a:r>
              <a:t>Sources: ServiceOps.wiki/Home.md</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these as intended benefits of connected workflows, not quantified ROI claims. ServiceOps combines service work with infrastructure and governance.</a:t>
            </a:r>
          </a:p>
          <a:p>
            <a:endParaRPr/>
          </a:p>
          <a:p>
            <a:r>
              <a:t>Sources: ServiceOps.wiki/Home.md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3.jpeg"/><Relationship Id="rId7" Type="http://schemas.openxmlformats.org/officeDocument/2006/relationships/image" Target="../media/image22.sv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 Id="rId9" Type="http://schemas.openxmlformats.org/officeDocument/2006/relationships/image" Target="../media/image24.svg"/></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0"/>
          </a:xfrm>
          <a:prstGeom prst="rect">
            <a:avLst/>
          </a:prstGeom>
          <a:solidFill>
            <a:srgbClr val="003C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7918704"/>
            <a:ext cx="751809" cy="153888"/>
          </a:xfrm>
          <a:prstGeom prst="rect">
            <a:avLst/>
          </a:prstGeom>
          <a:noFill/>
        </p:spPr>
        <p:txBody>
          <a:bodyPr wrap="none" lIns="0" tIns="0" rIns="0" bIns="0">
            <a:spAutoFit/>
          </a:bodyPr>
          <a:lstStyle/>
          <a:p>
            <a:pPr>
              <a:lnSpc>
                <a:spcPts val="1200"/>
              </a:lnSpc>
              <a:spcBef>
                <a:spcPts val="0"/>
              </a:spcBef>
              <a:spcAft>
                <a:spcPts val="0"/>
              </a:spcAft>
              <a:defRPr sz="1000" b="0">
                <a:solidFill>
                  <a:srgbClr val="C9D6DB"/>
                </a:solidFill>
                <a:latin typeface="Barlow"/>
              </a:defRPr>
            </a:pPr>
            <a:r>
              <a:rPr dirty="0"/>
              <a:t>October 2026</a:t>
            </a:r>
          </a:p>
        </p:txBody>
      </p:sp>
      <p:sp>
        <p:nvSpPr>
          <p:cNvPr id="8" name="TextBox 7"/>
          <p:cNvSpPr txBox="1"/>
          <p:nvPr/>
        </p:nvSpPr>
        <p:spPr>
          <a:xfrm>
            <a:off x="11976100" y="7918704"/>
            <a:ext cx="2159000" cy="215900"/>
          </a:xfrm>
          <a:prstGeom prst="rect">
            <a:avLst/>
          </a:prstGeom>
          <a:noFill/>
        </p:spPr>
        <p:txBody>
          <a:bodyPr wrap="none" lIns="0" tIns="0" rIns="0" bIns="0">
            <a:spAutoFit/>
          </a:bodyPr>
          <a:lstStyle/>
          <a:p>
            <a:pPr algn="r">
              <a:lnSpc>
                <a:spcPts val="1200"/>
              </a:lnSpc>
              <a:spcBef>
                <a:spcPts val="0"/>
              </a:spcBef>
              <a:spcAft>
                <a:spcPts val="0"/>
              </a:spcAft>
              <a:defRPr sz="1000" b="1">
                <a:solidFill>
                  <a:srgbClr val="F5A623"/>
                </a:solidFill>
                <a:latin typeface="Barlow"/>
              </a:defRPr>
            </a:pPr>
            <a:r>
              <a:t>01</a:t>
            </a:r>
          </a:p>
        </p:txBody>
      </p:sp>
      <p:sp>
        <p:nvSpPr>
          <p:cNvPr id="9" name="TextBox 8"/>
          <p:cNvSpPr txBox="1"/>
          <p:nvPr/>
        </p:nvSpPr>
        <p:spPr>
          <a:xfrm>
            <a:off x="576072" y="542290"/>
            <a:ext cx="6400800" cy="901700"/>
          </a:xfrm>
          <a:prstGeom prst="rect">
            <a:avLst/>
          </a:prstGeom>
          <a:noFill/>
        </p:spPr>
        <p:txBody>
          <a:bodyPr wrap="none" lIns="0" tIns="0" rIns="0" bIns="0">
            <a:spAutoFit/>
          </a:bodyPr>
          <a:lstStyle/>
          <a:p>
            <a:pPr>
              <a:lnSpc>
                <a:spcPts val="6600"/>
              </a:lnSpc>
              <a:spcBef>
                <a:spcPts val="0"/>
              </a:spcBef>
              <a:spcAft>
                <a:spcPts val="0"/>
              </a:spcAft>
              <a:defRPr sz="5500" b="1">
                <a:solidFill>
                  <a:srgbClr val="F5A623"/>
                </a:solidFill>
                <a:latin typeface="Barlow"/>
              </a:defRPr>
            </a:pPr>
            <a:r>
              <a:rPr dirty="0" err="1"/>
              <a:t>ServiceOps</a:t>
            </a:r>
            <a:endParaRPr dirty="0"/>
          </a:p>
        </p:txBody>
      </p:sp>
      <p:sp>
        <p:nvSpPr>
          <p:cNvPr id="10" name="TextBox 9"/>
          <p:cNvSpPr txBox="1"/>
          <p:nvPr/>
        </p:nvSpPr>
        <p:spPr>
          <a:xfrm>
            <a:off x="576072" y="1583563"/>
            <a:ext cx="3683000" cy="1949252"/>
          </a:xfrm>
          <a:prstGeom prst="rect">
            <a:avLst/>
          </a:prstGeom>
          <a:noFill/>
        </p:spPr>
        <p:txBody>
          <a:bodyPr wrap="square" lIns="0" tIns="0" rIns="0" bIns="0">
            <a:spAutoFit/>
          </a:bodyPr>
          <a:lstStyle/>
          <a:p>
            <a:pPr>
              <a:lnSpc>
                <a:spcPts val="3840"/>
              </a:lnSpc>
              <a:spcBef>
                <a:spcPts val="0"/>
              </a:spcBef>
              <a:spcAft>
                <a:spcPts val="0"/>
              </a:spcAft>
              <a:defRPr sz="3200" b="1">
                <a:solidFill>
                  <a:srgbClr val="FFFFFF"/>
                </a:solidFill>
                <a:latin typeface="Barlow"/>
              </a:defRPr>
            </a:pPr>
            <a:r>
              <a:rPr lang="en-US"/>
              <a:t>Prevent change
conflicts.
Keep teams
aligned.</a:t>
            </a:r>
            <a:endParaRPr dirty="0"/>
          </a:p>
        </p:txBody>
      </p:sp>
      <p:sp>
        <p:nvSpPr>
          <p:cNvPr id="12" name="TextBox 11"/>
          <p:cNvSpPr txBox="1"/>
          <p:nvPr/>
        </p:nvSpPr>
        <p:spPr>
          <a:xfrm>
            <a:off x="576072" y="6812280"/>
            <a:ext cx="3234860" cy="257763"/>
          </a:xfrm>
          <a:prstGeom prst="rect">
            <a:avLst/>
          </a:prstGeom>
          <a:noFill/>
        </p:spPr>
        <p:txBody>
          <a:bodyPr wrap="none" lIns="0" tIns="0" rIns="0" bIns="0">
            <a:spAutoFit/>
          </a:bodyPr>
          <a:lstStyle/>
          <a:p>
            <a:pPr>
              <a:lnSpc>
                <a:spcPts val="2160"/>
              </a:lnSpc>
              <a:spcBef>
                <a:spcPts val="0"/>
              </a:spcBef>
              <a:spcAft>
                <a:spcPts val="0"/>
              </a:spcAft>
              <a:defRPr sz="1800" b="1">
                <a:solidFill>
                  <a:srgbClr val="F5A623"/>
                </a:solidFill>
                <a:latin typeface="Barlow"/>
              </a:defRPr>
            </a:pPr>
            <a:r>
              <a:rPr lang="en-US"/>
              <a:t>Safer changes. Shared context.</a:t>
            </a:r>
            <a:endParaRPr dirty="0"/>
          </a:p>
        </p:txBody>
      </p:sp>
      <p:pic>
        <p:nvPicPr>
          <p:cNvPr id="13" name="Screenshot: dashboard" descr="dashboard.png"/>
          <p:cNvPicPr>
            <a:picLocks noChangeAspect="1"/>
          </p:cNvPicPr>
          <p:nvPr/>
        </p:nvPicPr>
        <p:blipFill>
          <a:blip r:embed="rId3"/>
          <a:stretch>
            <a:fillRect/>
          </a:stretch>
        </p:blipFill>
        <p:spPr>
          <a:xfrm>
            <a:off x="4357758" y="391929"/>
            <a:ext cx="10006573" cy="6254108"/>
          </a:xfrm>
          <a:prstGeom prst="rect">
            <a:avLst/>
          </a:prstGeom>
        </p:spPr>
      </p:pic>
      <p:pic>
        <p:nvPicPr>
          <p:cNvPr id="14" name="Copied Picture 14">
            <a:extLst>
              <a:ext uri="{FF2B5EF4-FFF2-40B4-BE49-F238E27FC236}">
                <a16:creationId xmlns:a16="http://schemas.microsoft.com/office/drawing/2014/main" id="{A16E4864-BF96-B1A0-D091-CA77996E3842}"/>
              </a:ext>
            </a:extLst>
          </p:cNvPr>
          <p:cNvPicPr>
            <a:picLocks noChangeAspect="1"/>
          </p:cNvPicPr>
          <p:nvPr/>
        </p:nvPicPr>
        <p:blipFill>
          <a:blip r:embed="rId4"/>
          <a:stretch>
            <a:fillRect/>
          </a:stretch>
        </p:blipFill>
        <p:spPr>
          <a:xfrm>
            <a:off x="10777057" y="7241844"/>
            <a:ext cx="3350049" cy="431800"/>
          </a:xfrm>
          <a:prstGeom prst="rect">
            <a:avLst/>
          </a:prstGeom>
        </p:spPr>
      </p:pic>
    </p:spTree>
    <p:extLst>
      <p:ext uri="{BB962C8B-B14F-4D97-AF65-F5344CB8AC3E}">
        <p14:creationId xmlns:p14="http://schemas.microsoft.com/office/powerpoint/2010/main" val="3422414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1244600"/>
            <a:ext cx="1143000" cy="254000"/>
          </a:xfrm>
          <a:prstGeom prst="rect">
            <a:avLst/>
          </a:prstGeom>
          <a:noFill/>
        </p:spPr>
        <p:txBody>
          <a:bodyPr wrap="none" lIns="0" tIns="0" rIns="0" bIns="0">
            <a:spAutoFit/>
          </a:bodyPr>
          <a:lstStyle/>
          <a:p>
            <a:pPr>
              <a:lnSpc>
                <a:spcPts val="1439"/>
              </a:lnSpc>
              <a:spcBef>
                <a:spcPts val="0"/>
              </a:spcBef>
              <a:spcAft>
                <a:spcPts val="0"/>
              </a:spcAft>
              <a:defRPr sz="1200" b="1">
                <a:solidFill>
                  <a:srgbClr val="00708A"/>
                </a:solidFill>
                <a:latin typeface="Barlow"/>
              </a:defRPr>
            </a:pPr>
            <a:r>
              <a:t>SERVICEOPS</a:t>
            </a:r>
          </a:p>
        </p:txBody>
      </p:sp>
      <p:sp>
        <p:nvSpPr>
          <p:cNvPr id="4" name="TextBox 3"/>
          <p:cNvSpPr txBox="1"/>
          <p:nvPr/>
        </p:nvSpPr>
        <p:spPr>
          <a:xfrm>
            <a:off x="1625600" y="1244600"/>
            <a:ext cx="1760097" cy="179536"/>
          </a:xfrm>
          <a:prstGeom prst="rect">
            <a:avLst/>
          </a:prstGeom>
          <a:noFill/>
        </p:spPr>
        <p:txBody>
          <a:bodyPr wrap="none" lIns="0" tIns="0" rIns="0" bIns="0">
            <a:spAutoFit/>
          </a:bodyPr>
          <a:lstStyle/>
          <a:p>
            <a:pPr>
              <a:lnSpc>
                <a:spcPts val="1439"/>
              </a:lnSpc>
              <a:spcBef>
                <a:spcPts val="0"/>
              </a:spcBef>
              <a:spcAft>
                <a:spcPts val="0"/>
              </a:spcAft>
              <a:defRPr sz="1200" b="1">
                <a:solidFill>
                  <a:srgbClr val="4F6670"/>
                </a:solidFill>
                <a:latin typeface="Barlow"/>
              </a:defRPr>
            </a:pPr>
            <a:r>
              <a:rPr lang="en-US"/>
              <a:t>WHY SERVICEOPS EXISTS</a:t>
            </a:r>
            <a:endParaRPr/>
          </a:p>
        </p:txBody>
      </p:sp>
      <p:sp>
        <p:nvSpPr>
          <p:cNvPr id="5" name="TextBox 4"/>
          <p:cNvSpPr txBox="1"/>
          <p:nvPr/>
        </p:nvSpPr>
        <p:spPr>
          <a:xfrm>
            <a:off x="508000" y="304800"/>
            <a:ext cx="7199087" cy="412934"/>
          </a:xfrm>
          <a:prstGeom prst="rect">
            <a:avLst/>
          </a:prstGeom>
          <a:noFill/>
        </p:spPr>
        <p:txBody>
          <a:bodyPr wrap="none" lIns="0" tIns="0" rIns="0" bIns="0">
            <a:spAutoFit/>
          </a:bodyPr>
          <a:lstStyle/>
          <a:p>
            <a:pPr>
              <a:lnSpc>
                <a:spcPts val="3600"/>
              </a:lnSpc>
              <a:spcBef>
                <a:spcPts val="0"/>
              </a:spcBef>
              <a:spcAft>
                <a:spcPts val="0"/>
              </a:spcAft>
              <a:defRPr sz="2600" b="1">
                <a:solidFill>
                  <a:srgbClr val="0B3C4C"/>
                </a:solidFill>
                <a:latin typeface="Barlow"/>
              </a:defRPr>
            </a:pPr>
            <a:r>
              <a:rPr lang="en-US"/>
              <a:t>Change conflicts start with disconnected teams.</a:t>
            </a:r>
            <a:endParaRPr/>
          </a:p>
        </p:txBody>
      </p:sp>
      <p:sp>
        <p:nvSpPr>
          <p:cNvPr id="6" name="Rectangle 5"/>
          <p:cNvSpPr/>
          <p:nvPr/>
        </p:nvSpPr>
        <p:spPr>
          <a:xfrm>
            <a:off x="502920" y="7790688"/>
            <a:ext cx="13624560" cy="10972"/>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7918704"/>
            <a:ext cx="10972800" cy="215900"/>
          </a:xfrm>
          <a:prstGeom prst="rect">
            <a:avLst/>
          </a:prstGeom>
          <a:noFill/>
        </p:spPr>
        <p:txBody>
          <a:bodyPr wrap="none" lIns="0" tIns="0" rIns="0" bIns="0">
            <a:spAutoFit/>
          </a:bodyPr>
          <a:lstStyle/>
          <a:p>
            <a:pPr>
              <a:lnSpc>
                <a:spcPts val="1200"/>
              </a:lnSpc>
              <a:spcBef>
                <a:spcPts val="0"/>
              </a:spcBef>
              <a:spcAft>
                <a:spcPts val="0"/>
              </a:spcAft>
              <a:defRPr sz="1000" b="0">
                <a:solidFill>
                  <a:srgbClr val="4F6670"/>
                </a:solidFill>
                <a:latin typeface="Barlow"/>
              </a:defRPr>
            </a:pPr>
            <a:r>
              <a:t>Anushka Wijesundara / Product overview / October 2026</a:t>
            </a:r>
          </a:p>
        </p:txBody>
      </p:sp>
      <p:sp>
        <p:nvSpPr>
          <p:cNvPr id="8" name="TextBox 7"/>
          <p:cNvSpPr txBox="1"/>
          <p:nvPr/>
        </p:nvSpPr>
        <p:spPr>
          <a:xfrm>
            <a:off x="11976100" y="7918704"/>
            <a:ext cx="2159000" cy="215900"/>
          </a:xfrm>
          <a:prstGeom prst="rect">
            <a:avLst/>
          </a:prstGeom>
          <a:noFill/>
        </p:spPr>
        <p:txBody>
          <a:bodyPr wrap="none" lIns="0" tIns="0" rIns="0" bIns="0">
            <a:spAutoFit/>
          </a:bodyPr>
          <a:lstStyle/>
          <a:p>
            <a:pPr algn="r">
              <a:lnSpc>
                <a:spcPts val="1200"/>
              </a:lnSpc>
              <a:spcBef>
                <a:spcPts val="0"/>
              </a:spcBef>
              <a:spcAft>
                <a:spcPts val="0"/>
              </a:spcAft>
              <a:defRPr sz="1000" b="1">
                <a:solidFill>
                  <a:srgbClr val="00708A"/>
                </a:solidFill>
                <a:latin typeface="Barlow"/>
              </a:defRPr>
            </a:pPr>
            <a:r>
              <a:t>02</a:t>
            </a:r>
          </a:p>
        </p:txBody>
      </p:sp>
      <p:sp>
        <p:nvSpPr>
          <p:cNvPr id="9" name="Rectangle 8"/>
          <p:cNvSpPr/>
          <p:nvPr/>
        </p:nvSpPr>
        <p:spPr>
          <a:xfrm>
            <a:off x="548640" y="2423160"/>
            <a:ext cx="4297680" cy="3383280"/>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2697480"/>
            <a:ext cx="1893147" cy="269946"/>
          </a:xfrm>
          <a:prstGeom prst="rect">
            <a:avLst/>
          </a:prstGeom>
          <a:noFill/>
        </p:spPr>
        <p:txBody>
          <a:bodyPr wrap="none" lIns="0" tIns="0" rIns="0" bIns="0">
            <a:spAutoFit/>
          </a:bodyPr>
          <a:lstStyle/>
          <a:p>
            <a:pPr>
              <a:lnSpc>
                <a:spcPts val="2280"/>
              </a:lnSpc>
              <a:spcBef>
                <a:spcPts val="0"/>
              </a:spcBef>
              <a:spcAft>
                <a:spcPts val="0"/>
              </a:spcAft>
              <a:defRPr sz="1900" b="1">
                <a:solidFill>
                  <a:srgbClr val="00708A"/>
                </a:solidFill>
                <a:latin typeface="Barlow"/>
              </a:defRPr>
            </a:pPr>
            <a:r>
              <a:rPr lang="en-US"/>
              <a:t>01 Separate plans</a:t>
            </a:r>
            <a:endParaRPr/>
          </a:p>
        </p:txBody>
      </p:sp>
      <p:sp>
        <p:nvSpPr>
          <p:cNvPr id="11" name="TextBox 10"/>
          <p:cNvSpPr txBox="1"/>
          <p:nvPr/>
        </p:nvSpPr>
        <p:spPr>
          <a:xfrm>
            <a:off x="777240" y="3337560"/>
            <a:ext cx="2112758" cy="834844"/>
          </a:xfrm>
          <a:prstGeom prst="rect">
            <a:avLst/>
          </a:prstGeom>
          <a:noFill/>
        </p:spPr>
        <p:txBody>
          <a:bodyPr wrap="none" lIns="0" tIns="0" rIns="0" bIns="0">
            <a:spAutoFit/>
          </a:bodyPr>
          <a:lstStyle/>
          <a:p>
            <a:pPr>
              <a:lnSpc>
                <a:spcPts val="3360"/>
              </a:lnSpc>
              <a:spcBef>
                <a:spcPts val="0"/>
              </a:spcBef>
              <a:spcAft>
                <a:spcPts val="0"/>
              </a:spcAft>
              <a:defRPr sz="2800" b="1">
                <a:solidFill>
                  <a:srgbClr val="0B3C4C"/>
                </a:solidFill>
                <a:latin typeface="Barlow"/>
              </a:defRPr>
            </a:pPr>
            <a:r>
              <a:rPr lang="en-US"/>
              <a:t>Two teams.
One collision.</a:t>
            </a:r>
            <a:endParaRPr/>
          </a:p>
        </p:txBody>
      </p:sp>
      <p:sp>
        <p:nvSpPr>
          <p:cNvPr id="12" name="TextBox 11"/>
          <p:cNvSpPr txBox="1"/>
          <p:nvPr/>
        </p:nvSpPr>
        <p:spPr>
          <a:xfrm>
            <a:off x="777240" y="4572000"/>
            <a:ext cx="3040897" cy="641201"/>
          </a:xfrm>
          <a:prstGeom prst="rect">
            <a:avLst/>
          </a:prstGeom>
          <a:noFill/>
        </p:spPr>
        <p:txBody>
          <a:bodyPr wrap="none" lIns="0" tIns="0" rIns="0" bIns="0">
            <a:spAutoFit/>
          </a:bodyPr>
          <a:lstStyle/>
          <a:p>
            <a:pPr>
              <a:lnSpc>
                <a:spcPts val="2520"/>
              </a:lnSpc>
              <a:spcBef>
                <a:spcPts val="0"/>
              </a:spcBef>
              <a:spcAft>
                <a:spcPts val="0"/>
              </a:spcAft>
              <a:defRPr sz="2100" b="0">
                <a:solidFill>
                  <a:srgbClr val="4F6670"/>
                </a:solidFill>
                <a:latin typeface="Barlow"/>
              </a:defRPr>
            </a:pPr>
            <a:r>
              <a:rPr lang="en-US"/>
              <a:t>Overlapping work puts the
same service at risk.</a:t>
            </a:r>
            <a:endParaRPr/>
          </a:p>
        </p:txBody>
      </p:sp>
      <p:sp>
        <p:nvSpPr>
          <p:cNvPr id="13" name="Rectangle 12"/>
          <p:cNvSpPr/>
          <p:nvPr/>
        </p:nvSpPr>
        <p:spPr>
          <a:xfrm>
            <a:off x="5166359" y="2423160"/>
            <a:ext cx="4297680" cy="3383280"/>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394959" y="2697480"/>
            <a:ext cx="2035814" cy="269946"/>
          </a:xfrm>
          <a:prstGeom prst="rect">
            <a:avLst/>
          </a:prstGeom>
          <a:noFill/>
        </p:spPr>
        <p:txBody>
          <a:bodyPr wrap="none" lIns="0" tIns="0" rIns="0" bIns="0">
            <a:spAutoFit/>
          </a:bodyPr>
          <a:lstStyle/>
          <a:p>
            <a:pPr>
              <a:lnSpc>
                <a:spcPts val="2280"/>
              </a:lnSpc>
              <a:spcBef>
                <a:spcPts val="0"/>
              </a:spcBef>
              <a:spcAft>
                <a:spcPts val="0"/>
              </a:spcAft>
              <a:defRPr sz="1900" b="1">
                <a:solidFill>
                  <a:srgbClr val="00708A"/>
                </a:solidFill>
                <a:latin typeface="Barlow"/>
              </a:defRPr>
            </a:pPr>
            <a:r>
              <a:rPr lang="en-US"/>
              <a:t>02 Missing context</a:t>
            </a:r>
            <a:endParaRPr/>
          </a:p>
        </p:txBody>
      </p:sp>
      <p:sp>
        <p:nvSpPr>
          <p:cNvPr id="15" name="TextBox 14"/>
          <p:cNvSpPr txBox="1"/>
          <p:nvPr/>
        </p:nvSpPr>
        <p:spPr>
          <a:xfrm>
            <a:off x="5394959" y="3337560"/>
            <a:ext cx="2386872" cy="834844"/>
          </a:xfrm>
          <a:prstGeom prst="rect">
            <a:avLst/>
          </a:prstGeom>
          <a:noFill/>
        </p:spPr>
        <p:txBody>
          <a:bodyPr wrap="none" lIns="0" tIns="0" rIns="0" bIns="0">
            <a:spAutoFit/>
          </a:bodyPr>
          <a:lstStyle/>
          <a:p>
            <a:pPr>
              <a:lnSpc>
                <a:spcPts val="3360"/>
              </a:lnSpc>
              <a:spcBef>
                <a:spcPts val="0"/>
              </a:spcBef>
              <a:spcAft>
                <a:spcPts val="0"/>
              </a:spcAft>
              <a:defRPr sz="2800" b="1">
                <a:solidFill>
                  <a:srgbClr val="0B3C4C"/>
                </a:solidFill>
                <a:latin typeface="Barlow"/>
              </a:defRPr>
            </a:pPr>
            <a:r>
              <a:rPr lang="en-US"/>
              <a:t>Hidden links.
Missed impact.</a:t>
            </a:r>
            <a:endParaRPr/>
          </a:p>
        </p:txBody>
      </p:sp>
      <p:sp>
        <p:nvSpPr>
          <p:cNvPr id="16" name="TextBox 15"/>
          <p:cNvSpPr txBox="1"/>
          <p:nvPr/>
        </p:nvSpPr>
        <p:spPr>
          <a:xfrm>
            <a:off x="5394959" y="4572000"/>
            <a:ext cx="3146695" cy="641201"/>
          </a:xfrm>
          <a:prstGeom prst="rect">
            <a:avLst/>
          </a:prstGeom>
          <a:noFill/>
        </p:spPr>
        <p:txBody>
          <a:bodyPr wrap="none" lIns="0" tIns="0" rIns="0" bIns="0">
            <a:spAutoFit/>
          </a:bodyPr>
          <a:lstStyle/>
          <a:p>
            <a:pPr>
              <a:lnSpc>
                <a:spcPts val="2520"/>
              </a:lnSpc>
              <a:spcBef>
                <a:spcPts val="0"/>
              </a:spcBef>
              <a:spcAft>
                <a:spcPts val="0"/>
              </a:spcAft>
              <a:defRPr sz="2100" b="0">
                <a:solidFill>
                  <a:srgbClr val="4F6670"/>
                </a:solidFill>
                <a:latin typeface="Barlow"/>
              </a:defRPr>
            </a:pPr>
            <a:r>
              <a:rPr lang="en-US"/>
              <a:t>A device change can affect
another team’s service.</a:t>
            </a:r>
            <a:endParaRPr/>
          </a:p>
        </p:txBody>
      </p:sp>
      <p:sp>
        <p:nvSpPr>
          <p:cNvPr id="17" name="Rectangle 16"/>
          <p:cNvSpPr/>
          <p:nvPr/>
        </p:nvSpPr>
        <p:spPr>
          <a:xfrm>
            <a:off x="9784080" y="2423160"/>
            <a:ext cx="4297680" cy="3383280"/>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012680" y="2697480"/>
            <a:ext cx="2341988" cy="269946"/>
          </a:xfrm>
          <a:prstGeom prst="rect">
            <a:avLst/>
          </a:prstGeom>
          <a:noFill/>
        </p:spPr>
        <p:txBody>
          <a:bodyPr wrap="none" lIns="0" tIns="0" rIns="0" bIns="0">
            <a:spAutoFit/>
          </a:bodyPr>
          <a:lstStyle/>
          <a:p>
            <a:pPr>
              <a:lnSpc>
                <a:spcPts val="2280"/>
              </a:lnSpc>
              <a:spcBef>
                <a:spcPts val="0"/>
              </a:spcBef>
              <a:spcAft>
                <a:spcPts val="0"/>
              </a:spcAft>
              <a:defRPr sz="1900" b="1">
                <a:solidFill>
                  <a:srgbClr val="00708A"/>
                </a:solidFill>
                <a:latin typeface="Barlow"/>
              </a:defRPr>
            </a:pPr>
            <a:r>
              <a:rPr lang="en-US"/>
              <a:t>03 Unclear handovers</a:t>
            </a:r>
            <a:endParaRPr/>
          </a:p>
        </p:txBody>
      </p:sp>
      <p:sp>
        <p:nvSpPr>
          <p:cNvPr id="19" name="TextBox 18"/>
          <p:cNvSpPr txBox="1"/>
          <p:nvPr/>
        </p:nvSpPr>
        <p:spPr>
          <a:xfrm>
            <a:off x="10012680" y="3337560"/>
            <a:ext cx="2128788" cy="834844"/>
          </a:xfrm>
          <a:prstGeom prst="rect">
            <a:avLst/>
          </a:prstGeom>
          <a:noFill/>
        </p:spPr>
        <p:txBody>
          <a:bodyPr wrap="none" lIns="0" tIns="0" rIns="0" bIns="0">
            <a:spAutoFit/>
          </a:bodyPr>
          <a:lstStyle/>
          <a:p>
            <a:pPr>
              <a:lnSpc>
                <a:spcPts val="3360"/>
              </a:lnSpc>
              <a:spcBef>
                <a:spcPts val="0"/>
              </a:spcBef>
              <a:spcAft>
                <a:spcPts val="0"/>
              </a:spcAft>
              <a:defRPr sz="2800" b="1">
                <a:solidFill>
                  <a:srgbClr val="0B3C4C"/>
                </a:solidFill>
                <a:latin typeface="Barlow"/>
              </a:defRPr>
            </a:pPr>
            <a:r>
              <a:rPr lang="en-US"/>
              <a:t>Who knew?
Who owns it?</a:t>
            </a:r>
            <a:endParaRPr/>
          </a:p>
        </p:txBody>
      </p:sp>
      <p:sp>
        <p:nvSpPr>
          <p:cNvPr id="20" name="TextBox 19"/>
          <p:cNvSpPr txBox="1"/>
          <p:nvPr/>
        </p:nvSpPr>
        <p:spPr>
          <a:xfrm>
            <a:off x="10012680" y="4572000"/>
            <a:ext cx="3496150" cy="641201"/>
          </a:xfrm>
          <a:prstGeom prst="rect">
            <a:avLst/>
          </a:prstGeom>
          <a:noFill/>
        </p:spPr>
        <p:txBody>
          <a:bodyPr wrap="none" lIns="0" tIns="0" rIns="0" bIns="0">
            <a:spAutoFit/>
          </a:bodyPr>
          <a:lstStyle/>
          <a:p>
            <a:pPr>
              <a:lnSpc>
                <a:spcPts val="2520"/>
              </a:lnSpc>
              <a:spcBef>
                <a:spcPts val="0"/>
              </a:spcBef>
              <a:spcAft>
                <a:spcPts val="0"/>
              </a:spcAft>
              <a:defRPr sz="2100" b="0">
                <a:solidFill>
                  <a:srgbClr val="4F6670"/>
                </a:solidFill>
                <a:latin typeface="Barlow"/>
              </a:defRPr>
            </a:pPr>
            <a:r>
              <a:rPr lang="en-US"/>
              <a:t>Decisions get lost across
email, chat and spreadsheets.</a:t>
            </a:r>
            <a:endParaRPr/>
          </a:p>
        </p:txBody>
      </p:sp>
      <p:sp>
        <p:nvSpPr>
          <p:cNvPr id="21" name="TextBox 20"/>
          <p:cNvSpPr txBox="1"/>
          <p:nvPr/>
        </p:nvSpPr>
        <p:spPr>
          <a:xfrm>
            <a:off x="594360" y="6629400"/>
            <a:ext cx="11283538" cy="410369"/>
          </a:xfrm>
          <a:prstGeom prst="rect">
            <a:avLst/>
          </a:prstGeom>
          <a:noFill/>
        </p:spPr>
        <p:txBody>
          <a:bodyPr wrap="none" lIns="0" tIns="0" rIns="0" bIns="0">
            <a:spAutoFit/>
          </a:bodyPr>
          <a:lstStyle/>
          <a:p>
            <a:pPr>
              <a:lnSpc>
                <a:spcPts val="3240"/>
              </a:lnSpc>
              <a:spcBef>
                <a:spcPts val="0"/>
              </a:spcBef>
              <a:spcAft>
                <a:spcPts val="0"/>
              </a:spcAft>
              <a:defRPr sz="2700" b="1">
                <a:solidFill>
                  <a:srgbClr val="B35F00"/>
                </a:solidFill>
                <a:latin typeface="Barlow"/>
              </a:defRPr>
            </a:pPr>
            <a:r>
              <a:rPr lang="en-US"/>
              <a:t>ServiceOps connects plans, dependencies and people before work starts.</a:t>
            </a:r>
            <a:endParaRPr/>
          </a:p>
        </p:txBody>
      </p:sp>
      <p:sp>
        <p:nvSpPr>
          <p:cNvPr id="901" name="JNX Rule"/>
          <p:cNvSpPr/>
          <p:nvPr/>
        </p:nvSpPr>
        <p:spPr>
          <a:xfrm>
            <a:off x="508000" y="1016000"/>
            <a:ext cx="13627100" cy="19050"/>
          </a:xfrm>
          <a:prstGeom prst="rect">
            <a:avLst/>
          </a:prstGeom>
          <a:solidFill>
            <a:srgbClr val="0B3C4C"/>
          </a:solidFill>
          <a:ln>
            <a:noFill/>
          </a:ln>
        </p:spPr>
        <p:txBody>
          <a:bodyPr/>
          <a:lstStyle/>
          <a:p>
            <a:endParaRPr lang="en-JP"/>
          </a:p>
        </p:txBody>
      </p:sp>
      <p:pic>
        <p:nvPicPr>
          <p:cNvPr id="902" name="Copied Picture 902" descr="Japannext JNX logo">
            <a:extLst>
              <a:ext uri="{FF2B5EF4-FFF2-40B4-BE49-F238E27FC236}">
                <a16:creationId xmlns:a16="http://schemas.microsoft.com/office/drawing/2014/main" id="{429122C2-2B95-92FB-9A5C-2E92C9458AAC}"/>
              </a:ext>
            </a:extLst>
          </p:cNvPr>
          <p:cNvPicPr>
            <a:picLocks noChangeAspect="1"/>
          </p:cNvPicPr>
          <p:nvPr/>
        </p:nvPicPr>
        <p:blipFill>
          <a:blip r:embed="rId3">
            <a:clrChange>
              <a:clrFrom>
                <a:srgbClr val="FFFFFF"/>
              </a:clrFrom>
              <a:clrTo>
                <a:srgbClr val="FFFFFF">
                  <a:alpha val="0"/>
                </a:srgbClr>
              </a:clrTo>
            </a:clrChange>
          </a:blip>
          <a:srcRect l="13500" t="21500" r="13800" b="22500"/>
          <a:stretch>
            <a:fillRect/>
          </a:stretch>
        </p:blipFill>
        <p:spPr>
          <a:xfrm>
            <a:off x="12725400" y="254000"/>
            <a:ext cx="1409700" cy="660400"/>
          </a:xfrm>
          <a:prstGeom prst="rect">
            <a:avLst/>
          </a:prstGeom>
        </p:spPr>
      </p:pic>
    </p:spTree>
    <p:extLst>
      <p:ext uri="{BB962C8B-B14F-4D97-AF65-F5344CB8AC3E}">
        <p14:creationId xmlns:p14="http://schemas.microsoft.com/office/powerpoint/2010/main" val="21924240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1244600"/>
            <a:ext cx="1143000" cy="254000"/>
          </a:xfrm>
          <a:prstGeom prst="rect">
            <a:avLst/>
          </a:prstGeom>
          <a:noFill/>
        </p:spPr>
        <p:txBody>
          <a:bodyPr wrap="none" lIns="0" tIns="0" rIns="0" bIns="0">
            <a:spAutoFit/>
          </a:bodyPr>
          <a:lstStyle/>
          <a:p>
            <a:pPr>
              <a:lnSpc>
                <a:spcPts val="1439"/>
              </a:lnSpc>
              <a:spcBef>
                <a:spcPts val="0"/>
              </a:spcBef>
              <a:spcAft>
                <a:spcPts val="0"/>
              </a:spcAft>
              <a:defRPr sz="1200" b="1">
                <a:solidFill>
                  <a:srgbClr val="00708A"/>
                </a:solidFill>
                <a:latin typeface="Barlow"/>
              </a:defRPr>
            </a:pPr>
            <a:r>
              <a:t>SERVICEOPS</a:t>
            </a:r>
          </a:p>
        </p:txBody>
      </p:sp>
      <p:sp>
        <p:nvSpPr>
          <p:cNvPr id="4" name="TextBox 3"/>
          <p:cNvSpPr txBox="1"/>
          <p:nvPr/>
        </p:nvSpPr>
        <p:spPr>
          <a:xfrm>
            <a:off x="1625600" y="1244600"/>
            <a:ext cx="1984518" cy="179536"/>
          </a:xfrm>
          <a:prstGeom prst="rect">
            <a:avLst/>
          </a:prstGeom>
          <a:noFill/>
        </p:spPr>
        <p:txBody>
          <a:bodyPr wrap="none" lIns="0" tIns="0" rIns="0" bIns="0">
            <a:spAutoFit/>
          </a:bodyPr>
          <a:lstStyle/>
          <a:p>
            <a:pPr>
              <a:lnSpc>
                <a:spcPts val="1439"/>
              </a:lnSpc>
              <a:spcBef>
                <a:spcPts val="0"/>
              </a:spcBef>
              <a:spcAft>
                <a:spcPts val="0"/>
              </a:spcAft>
              <a:defRPr sz="1200" b="1">
                <a:solidFill>
                  <a:srgbClr val="4F6670"/>
                </a:solidFill>
                <a:latin typeface="Barlow"/>
              </a:defRPr>
            </a:pPr>
            <a:r>
              <a:rPr lang="en-US"/>
              <a:t>SHARED OPERATIONAL VIEW</a:t>
            </a:r>
            <a:endParaRPr/>
          </a:p>
        </p:txBody>
      </p:sp>
      <p:sp>
        <p:nvSpPr>
          <p:cNvPr id="5" name="TextBox 4"/>
          <p:cNvSpPr txBox="1"/>
          <p:nvPr/>
        </p:nvSpPr>
        <p:spPr>
          <a:xfrm>
            <a:off x="508000" y="304800"/>
            <a:ext cx="5982407" cy="412934"/>
          </a:xfrm>
          <a:prstGeom prst="rect">
            <a:avLst/>
          </a:prstGeom>
          <a:noFill/>
        </p:spPr>
        <p:txBody>
          <a:bodyPr wrap="none" lIns="0" tIns="0" rIns="0" bIns="0">
            <a:spAutoFit/>
          </a:bodyPr>
          <a:lstStyle/>
          <a:p>
            <a:pPr>
              <a:lnSpc>
                <a:spcPts val="3600"/>
              </a:lnSpc>
              <a:spcBef>
                <a:spcPts val="0"/>
              </a:spcBef>
              <a:spcAft>
                <a:spcPts val="0"/>
              </a:spcAft>
              <a:defRPr sz="2600" b="1">
                <a:solidFill>
                  <a:srgbClr val="0B3C4C"/>
                </a:solidFill>
                <a:latin typeface="Barlow"/>
              </a:defRPr>
            </a:pPr>
            <a:r>
              <a:rPr lang="en-US"/>
              <a:t>Give every team the same starting point.</a:t>
            </a:r>
            <a:endParaRPr/>
          </a:p>
        </p:txBody>
      </p:sp>
      <p:sp>
        <p:nvSpPr>
          <p:cNvPr id="6" name="Rectangle 5"/>
          <p:cNvSpPr/>
          <p:nvPr/>
        </p:nvSpPr>
        <p:spPr>
          <a:xfrm>
            <a:off x="502920" y="7790688"/>
            <a:ext cx="13624560" cy="10972"/>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7918704"/>
            <a:ext cx="10972800" cy="215900"/>
          </a:xfrm>
          <a:prstGeom prst="rect">
            <a:avLst/>
          </a:prstGeom>
          <a:noFill/>
        </p:spPr>
        <p:txBody>
          <a:bodyPr wrap="none" lIns="0" tIns="0" rIns="0" bIns="0">
            <a:spAutoFit/>
          </a:bodyPr>
          <a:lstStyle/>
          <a:p>
            <a:pPr>
              <a:lnSpc>
                <a:spcPts val="1200"/>
              </a:lnSpc>
              <a:spcBef>
                <a:spcPts val="0"/>
              </a:spcBef>
              <a:spcAft>
                <a:spcPts val="0"/>
              </a:spcAft>
              <a:defRPr sz="1000" b="0">
                <a:solidFill>
                  <a:srgbClr val="4F6670"/>
                </a:solidFill>
                <a:latin typeface="Barlow"/>
              </a:defRPr>
            </a:pPr>
            <a:r>
              <a:t>Anushka Wijesundara / Product overview / October 2026</a:t>
            </a:r>
          </a:p>
        </p:txBody>
      </p:sp>
      <p:sp>
        <p:nvSpPr>
          <p:cNvPr id="8" name="TextBox 7"/>
          <p:cNvSpPr txBox="1"/>
          <p:nvPr/>
        </p:nvSpPr>
        <p:spPr>
          <a:xfrm>
            <a:off x="11976100" y="7918704"/>
            <a:ext cx="2159000" cy="215900"/>
          </a:xfrm>
          <a:prstGeom prst="rect">
            <a:avLst/>
          </a:prstGeom>
          <a:noFill/>
        </p:spPr>
        <p:txBody>
          <a:bodyPr wrap="none" lIns="0" tIns="0" rIns="0" bIns="0">
            <a:spAutoFit/>
          </a:bodyPr>
          <a:lstStyle/>
          <a:p>
            <a:pPr algn="r">
              <a:lnSpc>
                <a:spcPts val="1200"/>
              </a:lnSpc>
              <a:spcBef>
                <a:spcPts val="0"/>
              </a:spcBef>
              <a:spcAft>
                <a:spcPts val="0"/>
              </a:spcAft>
              <a:defRPr sz="1000" b="1">
                <a:solidFill>
                  <a:srgbClr val="00708A"/>
                </a:solidFill>
                <a:latin typeface="Barlow"/>
              </a:defRPr>
            </a:pPr>
            <a:r>
              <a:t>03</a:t>
            </a:r>
          </a:p>
        </p:txBody>
      </p:sp>
      <p:sp>
        <p:nvSpPr>
          <p:cNvPr id="9" name="TextBox 8"/>
          <p:cNvSpPr txBox="1"/>
          <p:nvPr/>
        </p:nvSpPr>
        <p:spPr>
          <a:xfrm>
            <a:off x="530352" y="2176272"/>
            <a:ext cx="2247410" cy="320601"/>
          </a:xfrm>
          <a:prstGeom prst="rect">
            <a:avLst/>
          </a:prstGeom>
          <a:noFill/>
        </p:spPr>
        <p:txBody>
          <a:bodyPr wrap="none" lIns="0" tIns="0" rIns="0" bIns="0">
            <a:spAutoFit/>
          </a:bodyPr>
          <a:lstStyle/>
          <a:p>
            <a:pPr>
              <a:lnSpc>
                <a:spcPts val="2520"/>
              </a:lnSpc>
              <a:spcBef>
                <a:spcPts val="0"/>
              </a:spcBef>
              <a:spcAft>
                <a:spcPts val="0"/>
              </a:spcAft>
              <a:defRPr sz="2100" b="1">
                <a:solidFill>
                  <a:srgbClr val="00708A"/>
                </a:solidFill>
                <a:latin typeface="Barlow"/>
              </a:defRPr>
            </a:pPr>
            <a:r>
              <a:rPr lang="en-US"/>
              <a:t>Know what is open</a:t>
            </a:r>
            <a:endParaRPr/>
          </a:p>
        </p:txBody>
      </p:sp>
      <p:sp>
        <p:nvSpPr>
          <p:cNvPr id="10" name="TextBox 9"/>
          <p:cNvSpPr txBox="1"/>
          <p:nvPr/>
        </p:nvSpPr>
        <p:spPr>
          <a:xfrm>
            <a:off x="530352" y="2569464"/>
            <a:ext cx="2769989" cy="539891"/>
          </a:xfrm>
          <a:prstGeom prst="rect">
            <a:avLst/>
          </a:prstGeom>
          <a:noFill/>
        </p:spPr>
        <p:txBody>
          <a:bodyPr wrap="none" lIns="0" tIns="0" rIns="0" bIns="0">
            <a:spAutoFit/>
          </a:bodyPr>
          <a:lstStyle/>
          <a:p>
            <a:pPr>
              <a:lnSpc>
                <a:spcPts val="2160"/>
              </a:lnSpc>
              <a:spcBef>
                <a:spcPts val="0"/>
              </a:spcBef>
              <a:spcAft>
                <a:spcPts val="0"/>
              </a:spcAft>
              <a:defRPr sz="1800" b="0">
                <a:solidFill>
                  <a:srgbClr val="0B3C4C"/>
                </a:solidFill>
                <a:latin typeface="Barlow"/>
              </a:defRPr>
            </a:pPr>
            <a:r>
              <a:rPr lang="en-US"/>
              <a:t>See requests, incidents and
changes in one workspace.</a:t>
            </a:r>
            <a:endParaRPr/>
          </a:p>
        </p:txBody>
      </p:sp>
      <p:sp>
        <p:nvSpPr>
          <p:cNvPr id="11" name="TextBox 10"/>
          <p:cNvSpPr txBox="1"/>
          <p:nvPr/>
        </p:nvSpPr>
        <p:spPr>
          <a:xfrm>
            <a:off x="530352" y="3529584"/>
            <a:ext cx="2167260" cy="320601"/>
          </a:xfrm>
          <a:prstGeom prst="rect">
            <a:avLst/>
          </a:prstGeom>
          <a:noFill/>
        </p:spPr>
        <p:txBody>
          <a:bodyPr wrap="none" lIns="0" tIns="0" rIns="0" bIns="0">
            <a:spAutoFit/>
          </a:bodyPr>
          <a:lstStyle/>
          <a:p>
            <a:pPr>
              <a:lnSpc>
                <a:spcPts val="2520"/>
              </a:lnSpc>
              <a:spcBef>
                <a:spcPts val="0"/>
              </a:spcBef>
              <a:spcAft>
                <a:spcPts val="0"/>
              </a:spcAft>
              <a:defRPr sz="2100" b="1">
                <a:solidFill>
                  <a:srgbClr val="00708A"/>
                </a:solidFill>
                <a:latin typeface="Barlow"/>
              </a:defRPr>
            </a:pPr>
            <a:r>
              <a:rPr lang="en-US"/>
              <a:t>Know who owns it</a:t>
            </a:r>
            <a:endParaRPr/>
          </a:p>
        </p:txBody>
      </p:sp>
      <p:sp>
        <p:nvSpPr>
          <p:cNvPr id="12" name="TextBox 11"/>
          <p:cNvSpPr txBox="1"/>
          <p:nvPr/>
        </p:nvSpPr>
        <p:spPr>
          <a:xfrm>
            <a:off x="530352" y="3922776"/>
            <a:ext cx="2845331" cy="539891"/>
          </a:xfrm>
          <a:prstGeom prst="rect">
            <a:avLst/>
          </a:prstGeom>
          <a:noFill/>
        </p:spPr>
        <p:txBody>
          <a:bodyPr wrap="none" lIns="0" tIns="0" rIns="0" bIns="0">
            <a:spAutoFit/>
          </a:bodyPr>
          <a:lstStyle/>
          <a:p>
            <a:pPr>
              <a:lnSpc>
                <a:spcPts val="2160"/>
              </a:lnSpc>
              <a:spcBef>
                <a:spcPts val="0"/>
              </a:spcBef>
              <a:spcAft>
                <a:spcPts val="0"/>
              </a:spcAft>
              <a:defRPr sz="1800" b="0">
                <a:solidFill>
                  <a:srgbClr val="0B3C4C"/>
                </a:solidFill>
                <a:latin typeface="Barlow"/>
              </a:defRPr>
            </a:pPr>
            <a:r>
              <a:rPr lang="en-US"/>
              <a:t>Make responsibility visible
to the teams doing the work.</a:t>
            </a:r>
            <a:endParaRPr/>
          </a:p>
        </p:txBody>
      </p:sp>
      <p:sp>
        <p:nvSpPr>
          <p:cNvPr id="13" name="TextBox 12"/>
          <p:cNvSpPr txBox="1"/>
          <p:nvPr/>
        </p:nvSpPr>
        <p:spPr>
          <a:xfrm>
            <a:off x="530352" y="4882896"/>
            <a:ext cx="2931893" cy="320601"/>
          </a:xfrm>
          <a:prstGeom prst="rect">
            <a:avLst/>
          </a:prstGeom>
          <a:noFill/>
        </p:spPr>
        <p:txBody>
          <a:bodyPr wrap="none" lIns="0" tIns="0" rIns="0" bIns="0">
            <a:spAutoFit/>
          </a:bodyPr>
          <a:lstStyle/>
          <a:p>
            <a:pPr>
              <a:lnSpc>
                <a:spcPts val="2520"/>
              </a:lnSpc>
              <a:spcBef>
                <a:spcPts val="0"/>
              </a:spcBef>
              <a:spcAft>
                <a:spcPts val="0"/>
              </a:spcAft>
              <a:defRPr sz="2100" b="1">
                <a:solidFill>
                  <a:srgbClr val="00708A"/>
                </a:solidFill>
                <a:latin typeface="Barlow"/>
              </a:defRPr>
            </a:pPr>
            <a:r>
              <a:rPr lang="en-US"/>
              <a:t>Know what needs action</a:t>
            </a:r>
            <a:endParaRPr/>
          </a:p>
        </p:txBody>
      </p:sp>
      <p:sp>
        <p:nvSpPr>
          <p:cNvPr id="14" name="TextBox 13"/>
          <p:cNvSpPr txBox="1"/>
          <p:nvPr/>
        </p:nvSpPr>
        <p:spPr>
          <a:xfrm>
            <a:off x="530352" y="5276088"/>
            <a:ext cx="2518318" cy="539891"/>
          </a:xfrm>
          <a:prstGeom prst="rect">
            <a:avLst/>
          </a:prstGeom>
          <a:noFill/>
        </p:spPr>
        <p:txBody>
          <a:bodyPr wrap="none" lIns="0" tIns="0" rIns="0" bIns="0">
            <a:spAutoFit/>
          </a:bodyPr>
          <a:lstStyle/>
          <a:p>
            <a:pPr>
              <a:lnSpc>
                <a:spcPts val="2160"/>
              </a:lnSpc>
              <a:spcBef>
                <a:spcPts val="0"/>
              </a:spcBef>
              <a:spcAft>
                <a:spcPts val="0"/>
              </a:spcAft>
              <a:defRPr sz="1800" b="0">
                <a:solidFill>
                  <a:srgbClr val="0B3C4C"/>
                </a:solidFill>
                <a:latin typeface="Barlow"/>
              </a:defRPr>
            </a:pPr>
            <a:r>
              <a:rPr lang="en-US"/>
              <a:t>Review outstanding work
without chasing updates.</a:t>
            </a:r>
            <a:endParaRPr/>
          </a:p>
        </p:txBody>
      </p:sp>
      <p:sp>
        <p:nvSpPr>
          <p:cNvPr id="15" name="Rectangle 14"/>
          <p:cNvSpPr/>
          <p:nvPr/>
        </p:nvSpPr>
        <p:spPr>
          <a:xfrm>
            <a:off x="502920" y="6510528"/>
            <a:ext cx="3291840" cy="868680"/>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7512" y="6656832"/>
            <a:ext cx="1551707" cy="512961"/>
          </a:xfrm>
          <a:prstGeom prst="rect">
            <a:avLst/>
          </a:prstGeom>
          <a:noFill/>
        </p:spPr>
        <p:txBody>
          <a:bodyPr wrap="none" lIns="0" tIns="0" rIns="0" bIns="0">
            <a:spAutoFit/>
          </a:bodyPr>
          <a:lstStyle/>
          <a:p>
            <a:pPr>
              <a:lnSpc>
                <a:spcPts val="2039"/>
              </a:lnSpc>
              <a:spcBef>
                <a:spcPts val="0"/>
              </a:spcBef>
              <a:spcAft>
                <a:spcPts val="0"/>
              </a:spcAft>
              <a:defRPr sz="1700" b="1">
                <a:solidFill>
                  <a:srgbClr val="B35F00"/>
                </a:solidFill>
                <a:latin typeface="Barlow"/>
              </a:defRPr>
            </a:pPr>
            <a:r>
              <a:rPr lang="en-US"/>
              <a:t>Shared context.
Less chasing.</a:t>
            </a:r>
            <a:endParaRPr/>
          </a:p>
        </p:txBody>
      </p:sp>
      <p:pic>
        <p:nvPicPr>
          <p:cNvPr id="18" name="Screenshot: dashboard-245-60-1600-1000" descr="dashboard-245-60-1600-1000.png"/>
          <p:cNvPicPr>
            <a:picLocks noChangeAspect="1"/>
          </p:cNvPicPr>
          <p:nvPr/>
        </p:nvPicPr>
        <p:blipFill>
          <a:blip r:embed="rId3"/>
          <a:stretch>
            <a:fillRect/>
          </a:stretch>
        </p:blipFill>
        <p:spPr>
          <a:xfrm>
            <a:off x="5184949" y="1244599"/>
            <a:ext cx="8937451" cy="6200151"/>
          </a:xfrm>
          <a:prstGeom prst="rect">
            <a:avLst/>
          </a:prstGeom>
        </p:spPr>
      </p:pic>
      <p:sp>
        <p:nvSpPr>
          <p:cNvPr id="19" name="TextBox 18"/>
          <p:cNvSpPr txBox="1"/>
          <p:nvPr/>
        </p:nvSpPr>
        <p:spPr>
          <a:xfrm>
            <a:off x="4169663" y="7543800"/>
            <a:ext cx="9875520" cy="215900"/>
          </a:xfrm>
          <a:prstGeom prst="rect">
            <a:avLst/>
          </a:prstGeom>
          <a:noFill/>
        </p:spPr>
        <p:txBody>
          <a:bodyPr wrap="none" lIns="0" tIns="0" rIns="0" bIns="0">
            <a:spAutoFit/>
          </a:bodyPr>
          <a:lstStyle/>
          <a:p>
            <a:pPr>
              <a:lnSpc>
                <a:spcPts val="1200"/>
              </a:lnSpc>
              <a:spcBef>
                <a:spcPts val="0"/>
              </a:spcBef>
              <a:spcAft>
                <a:spcPts val="0"/>
              </a:spcAft>
              <a:defRPr sz="1000" b="0">
                <a:solidFill>
                  <a:srgbClr val="4F6670"/>
                </a:solidFill>
                <a:latin typeface="Barlow"/>
              </a:defRPr>
            </a:pPr>
            <a:r>
              <a:rPr dirty="0"/>
              <a:t>Current app v1.113.65 / Isolated demo / Sample records</a:t>
            </a:r>
          </a:p>
        </p:txBody>
      </p:sp>
      <p:sp>
        <p:nvSpPr>
          <p:cNvPr id="901" name="JNX Rule"/>
          <p:cNvSpPr/>
          <p:nvPr/>
        </p:nvSpPr>
        <p:spPr>
          <a:xfrm>
            <a:off x="508000" y="1016000"/>
            <a:ext cx="13627100" cy="19050"/>
          </a:xfrm>
          <a:prstGeom prst="rect">
            <a:avLst/>
          </a:prstGeom>
          <a:solidFill>
            <a:srgbClr val="0B3C4C"/>
          </a:solidFill>
          <a:ln>
            <a:noFill/>
          </a:ln>
        </p:spPr>
        <p:txBody>
          <a:bodyPr/>
          <a:lstStyle/>
          <a:p>
            <a:endParaRPr lang="en-JP"/>
          </a:p>
        </p:txBody>
      </p:sp>
      <p:pic>
        <p:nvPicPr>
          <p:cNvPr id="902" name="Copied Picture 902" descr="Japannext JNX logo">
            <a:extLst>
              <a:ext uri="{FF2B5EF4-FFF2-40B4-BE49-F238E27FC236}">
                <a16:creationId xmlns:a16="http://schemas.microsoft.com/office/drawing/2014/main" id="{429122C2-2B95-92FB-9A5C-2E92C9458AAC}"/>
              </a:ext>
            </a:extLst>
          </p:cNvPr>
          <p:cNvPicPr>
            <a:picLocks noChangeAspect="1"/>
          </p:cNvPicPr>
          <p:nvPr/>
        </p:nvPicPr>
        <p:blipFill>
          <a:blip r:embed="rId4">
            <a:clrChange>
              <a:clrFrom>
                <a:srgbClr val="FFFFFF"/>
              </a:clrFrom>
              <a:clrTo>
                <a:srgbClr val="FFFFFF">
                  <a:alpha val="0"/>
                </a:srgbClr>
              </a:clrTo>
            </a:clrChange>
          </a:blip>
          <a:srcRect l="13500" t="21500" r="13800" b="22500"/>
          <a:stretch>
            <a:fillRect/>
          </a:stretch>
        </p:blipFill>
        <p:spPr>
          <a:xfrm>
            <a:off x="12725400" y="254000"/>
            <a:ext cx="1409700" cy="660400"/>
          </a:xfrm>
          <a:prstGeom prst="rect">
            <a:avLst/>
          </a:prstGeom>
        </p:spPr>
      </p:pic>
    </p:spTree>
    <p:extLst>
      <p:ext uri="{BB962C8B-B14F-4D97-AF65-F5344CB8AC3E}">
        <p14:creationId xmlns:p14="http://schemas.microsoft.com/office/powerpoint/2010/main" val="17778290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1244600"/>
            <a:ext cx="1143000" cy="254000"/>
          </a:xfrm>
          <a:prstGeom prst="rect">
            <a:avLst/>
          </a:prstGeom>
          <a:noFill/>
        </p:spPr>
        <p:txBody>
          <a:bodyPr wrap="none" lIns="0" tIns="0" rIns="0" bIns="0">
            <a:spAutoFit/>
          </a:bodyPr>
          <a:lstStyle/>
          <a:p>
            <a:pPr>
              <a:lnSpc>
                <a:spcPts val="1439"/>
              </a:lnSpc>
              <a:spcBef>
                <a:spcPts val="0"/>
              </a:spcBef>
              <a:spcAft>
                <a:spcPts val="0"/>
              </a:spcAft>
              <a:defRPr sz="1200" b="1">
                <a:solidFill>
                  <a:srgbClr val="00708A"/>
                </a:solidFill>
                <a:latin typeface="Barlow"/>
              </a:defRPr>
            </a:pPr>
            <a:r>
              <a:t>SERVICEOPS</a:t>
            </a:r>
          </a:p>
        </p:txBody>
      </p:sp>
      <p:sp>
        <p:nvSpPr>
          <p:cNvPr id="4" name="TextBox 3"/>
          <p:cNvSpPr txBox="1"/>
          <p:nvPr/>
        </p:nvSpPr>
        <p:spPr>
          <a:xfrm>
            <a:off x="1625600" y="1244600"/>
            <a:ext cx="2035814" cy="179536"/>
          </a:xfrm>
          <a:prstGeom prst="rect">
            <a:avLst/>
          </a:prstGeom>
          <a:noFill/>
        </p:spPr>
        <p:txBody>
          <a:bodyPr wrap="none" lIns="0" tIns="0" rIns="0" bIns="0">
            <a:spAutoFit/>
          </a:bodyPr>
          <a:lstStyle/>
          <a:p>
            <a:pPr>
              <a:lnSpc>
                <a:spcPts val="1439"/>
              </a:lnSpc>
              <a:spcBef>
                <a:spcPts val="0"/>
              </a:spcBef>
              <a:spcAft>
                <a:spcPts val="0"/>
              </a:spcAft>
              <a:defRPr sz="1200" b="1">
                <a:solidFill>
                  <a:srgbClr val="4F6670"/>
                </a:solidFill>
                <a:latin typeface="Barlow"/>
              </a:defRPr>
            </a:pPr>
            <a:r>
              <a:rPr lang="en-US"/>
              <a:t>CLEAR REQUEST HANDOVERS</a:t>
            </a:r>
            <a:endParaRPr/>
          </a:p>
        </p:txBody>
      </p:sp>
      <p:sp>
        <p:nvSpPr>
          <p:cNvPr id="5" name="TextBox 4"/>
          <p:cNvSpPr txBox="1"/>
          <p:nvPr/>
        </p:nvSpPr>
        <p:spPr>
          <a:xfrm>
            <a:off x="508000" y="304800"/>
            <a:ext cx="7123745" cy="412934"/>
          </a:xfrm>
          <a:prstGeom prst="rect">
            <a:avLst/>
          </a:prstGeom>
          <a:noFill/>
        </p:spPr>
        <p:txBody>
          <a:bodyPr wrap="none" lIns="0" tIns="0" rIns="0" bIns="0">
            <a:spAutoFit/>
          </a:bodyPr>
          <a:lstStyle/>
          <a:p>
            <a:pPr>
              <a:lnSpc>
                <a:spcPts val="3600"/>
              </a:lnSpc>
              <a:spcBef>
                <a:spcPts val="0"/>
              </a:spcBef>
              <a:spcAft>
                <a:spcPts val="0"/>
              </a:spcAft>
              <a:defRPr sz="2600" b="1">
                <a:solidFill>
                  <a:srgbClr val="0B3C4C"/>
                </a:solidFill>
                <a:latin typeface="Barlow"/>
              </a:defRPr>
            </a:pPr>
            <a:r>
              <a:rPr lang="en-US"/>
              <a:t>Replace request chasing with visible ownership.</a:t>
            </a:r>
            <a:endParaRPr/>
          </a:p>
        </p:txBody>
      </p:sp>
      <p:sp>
        <p:nvSpPr>
          <p:cNvPr id="6" name="Rectangle 5"/>
          <p:cNvSpPr/>
          <p:nvPr/>
        </p:nvSpPr>
        <p:spPr>
          <a:xfrm>
            <a:off x="502920" y="7790688"/>
            <a:ext cx="13624560" cy="10972"/>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7918704"/>
            <a:ext cx="10972800" cy="215900"/>
          </a:xfrm>
          <a:prstGeom prst="rect">
            <a:avLst/>
          </a:prstGeom>
          <a:noFill/>
        </p:spPr>
        <p:txBody>
          <a:bodyPr wrap="none" lIns="0" tIns="0" rIns="0" bIns="0">
            <a:spAutoFit/>
          </a:bodyPr>
          <a:lstStyle/>
          <a:p>
            <a:pPr>
              <a:lnSpc>
                <a:spcPts val="1200"/>
              </a:lnSpc>
              <a:spcBef>
                <a:spcPts val="0"/>
              </a:spcBef>
              <a:spcAft>
                <a:spcPts val="0"/>
              </a:spcAft>
              <a:defRPr sz="1000" b="0">
                <a:solidFill>
                  <a:srgbClr val="4F6670"/>
                </a:solidFill>
                <a:latin typeface="Barlow"/>
              </a:defRPr>
            </a:pPr>
            <a:r>
              <a:t>Anushka Wijesundara / Product overview / October 2026</a:t>
            </a:r>
          </a:p>
        </p:txBody>
      </p:sp>
      <p:sp>
        <p:nvSpPr>
          <p:cNvPr id="8" name="TextBox 7"/>
          <p:cNvSpPr txBox="1"/>
          <p:nvPr/>
        </p:nvSpPr>
        <p:spPr>
          <a:xfrm>
            <a:off x="11976100" y="7918704"/>
            <a:ext cx="2159000" cy="215900"/>
          </a:xfrm>
          <a:prstGeom prst="rect">
            <a:avLst/>
          </a:prstGeom>
          <a:noFill/>
        </p:spPr>
        <p:txBody>
          <a:bodyPr wrap="none" lIns="0" tIns="0" rIns="0" bIns="0">
            <a:spAutoFit/>
          </a:bodyPr>
          <a:lstStyle/>
          <a:p>
            <a:pPr algn="r">
              <a:lnSpc>
                <a:spcPts val="1200"/>
              </a:lnSpc>
              <a:spcBef>
                <a:spcPts val="0"/>
              </a:spcBef>
              <a:spcAft>
                <a:spcPts val="0"/>
              </a:spcAft>
              <a:defRPr sz="1000" b="1">
                <a:solidFill>
                  <a:srgbClr val="00708A"/>
                </a:solidFill>
                <a:latin typeface="Barlow"/>
              </a:defRPr>
            </a:pPr>
            <a:r>
              <a:t>04</a:t>
            </a:r>
          </a:p>
        </p:txBody>
      </p:sp>
      <p:sp>
        <p:nvSpPr>
          <p:cNvPr id="9" name="TextBox 8"/>
          <p:cNvSpPr txBox="1"/>
          <p:nvPr/>
        </p:nvSpPr>
        <p:spPr>
          <a:xfrm>
            <a:off x="530352" y="2176272"/>
            <a:ext cx="2212144" cy="320601"/>
          </a:xfrm>
          <a:prstGeom prst="rect">
            <a:avLst/>
          </a:prstGeom>
          <a:noFill/>
        </p:spPr>
        <p:txBody>
          <a:bodyPr wrap="none" lIns="0" tIns="0" rIns="0" bIns="0">
            <a:spAutoFit/>
          </a:bodyPr>
          <a:lstStyle/>
          <a:p>
            <a:pPr>
              <a:lnSpc>
                <a:spcPts val="2520"/>
              </a:lnSpc>
              <a:spcBef>
                <a:spcPts val="0"/>
              </a:spcBef>
              <a:spcAft>
                <a:spcPts val="0"/>
              </a:spcAft>
              <a:defRPr sz="2100" b="1">
                <a:solidFill>
                  <a:srgbClr val="00708A"/>
                </a:solidFill>
                <a:latin typeface="Barlow"/>
              </a:defRPr>
            </a:pPr>
            <a:r>
              <a:rPr lang="en-US"/>
              <a:t>Make the ask clear</a:t>
            </a:r>
            <a:endParaRPr/>
          </a:p>
        </p:txBody>
      </p:sp>
      <p:sp>
        <p:nvSpPr>
          <p:cNvPr id="10" name="TextBox 9"/>
          <p:cNvSpPr txBox="1"/>
          <p:nvPr/>
        </p:nvSpPr>
        <p:spPr>
          <a:xfrm>
            <a:off x="530352" y="2569464"/>
            <a:ext cx="2811667" cy="257763"/>
          </a:xfrm>
          <a:prstGeom prst="rect">
            <a:avLst/>
          </a:prstGeom>
          <a:noFill/>
        </p:spPr>
        <p:txBody>
          <a:bodyPr wrap="none" lIns="0" tIns="0" rIns="0" bIns="0">
            <a:spAutoFit/>
          </a:bodyPr>
          <a:lstStyle/>
          <a:p>
            <a:pPr>
              <a:lnSpc>
                <a:spcPts val="2160"/>
              </a:lnSpc>
              <a:spcBef>
                <a:spcPts val="0"/>
              </a:spcBef>
              <a:spcAft>
                <a:spcPts val="0"/>
              </a:spcAft>
              <a:defRPr sz="1800" b="0">
                <a:solidFill>
                  <a:srgbClr val="0B3C4C"/>
                </a:solidFill>
                <a:latin typeface="Barlow"/>
              </a:defRPr>
            </a:pPr>
            <a:r>
              <a:rPr lang="en-US"/>
              <a:t>Capture the service needed.</a:t>
            </a:r>
            <a:endParaRPr/>
          </a:p>
        </p:txBody>
      </p:sp>
      <p:sp>
        <p:nvSpPr>
          <p:cNvPr id="11" name="TextBox 10"/>
          <p:cNvSpPr txBox="1"/>
          <p:nvPr/>
        </p:nvSpPr>
        <p:spPr>
          <a:xfrm>
            <a:off x="530352" y="3529584"/>
            <a:ext cx="2234586" cy="320601"/>
          </a:xfrm>
          <a:prstGeom prst="rect">
            <a:avLst/>
          </a:prstGeom>
          <a:noFill/>
        </p:spPr>
        <p:txBody>
          <a:bodyPr wrap="none" lIns="0" tIns="0" rIns="0" bIns="0">
            <a:spAutoFit/>
          </a:bodyPr>
          <a:lstStyle/>
          <a:p>
            <a:pPr>
              <a:lnSpc>
                <a:spcPts val="2520"/>
              </a:lnSpc>
              <a:spcBef>
                <a:spcPts val="0"/>
              </a:spcBef>
              <a:spcAft>
                <a:spcPts val="0"/>
              </a:spcAft>
              <a:defRPr sz="2100" b="1">
                <a:solidFill>
                  <a:srgbClr val="00708A"/>
                </a:solidFill>
                <a:latin typeface="Barlow"/>
              </a:defRPr>
            </a:pPr>
            <a:r>
              <a:rPr lang="en-US"/>
              <a:t>Route the decision</a:t>
            </a:r>
            <a:endParaRPr/>
          </a:p>
        </p:txBody>
      </p:sp>
      <p:sp>
        <p:nvSpPr>
          <p:cNvPr id="12" name="TextBox 11"/>
          <p:cNvSpPr txBox="1"/>
          <p:nvPr/>
        </p:nvSpPr>
        <p:spPr>
          <a:xfrm>
            <a:off x="530352" y="3922776"/>
            <a:ext cx="2508700" cy="539891"/>
          </a:xfrm>
          <a:prstGeom prst="rect">
            <a:avLst/>
          </a:prstGeom>
          <a:noFill/>
        </p:spPr>
        <p:txBody>
          <a:bodyPr wrap="none" lIns="0" tIns="0" rIns="0" bIns="0">
            <a:spAutoFit/>
          </a:bodyPr>
          <a:lstStyle/>
          <a:p>
            <a:pPr>
              <a:lnSpc>
                <a:spcPts val="2160"/>
              </a:lnSpc>
              <a:spcBef>
                <a:spcPts val="0"/>
              </a:spcBef>
              <a:spcAft>
                <a:spcPts val="0"/>
              </a:spcAft>
              <a:defRPr sz="1800" b="0">
                <a:solidFill>
                  <a:srgbClr val="0B3C4C"/>
                </a:solidFill>
                <a:latin typeface="Barlow"/>
              </a:defRPr>
            </a:pPr>
            <a:r>
              <a:rPr lang="en-US"/>
              <a:t>Use the configured path
for approval and delivery.</a:t>
            </a:r>
            <a:endParaRPr/>
          </a:p>
        </p:txBody>
      </p:sp>
      <p:sp>
        <p:nvSpPr>
          <p:cNvPr id="13" name="TextBox 12"/>
          <p:cNvSpPr txBox="1"/>
          <p:nvPr/>
        </p:nvSpPr>
        <p:spPr>
          <a:xfrm>
            <a:off x="530352" y="4882896"/>
            <a:ext cx="2638543" cy="320601"/>
          </a:xfrm>
          <a:prstGeom prst="rect">
            <a:avLst/>
          </a:prstGeom>
          <a:noFill/>
        </p:spPr>
        <p:txBody>
          <a:bodyPr wrap="none" lIns="0" tIns="0" rIns="0" bIns="0">
            <a:spAutoFit/>
          </a:bodyPr>
          <a:lstStyle/>
          <a:p>
            <a:pPr>
              <a:lnSpc>
                <a:spcPts val="2520"/>
              </a:lnSpc>
              <a:spcBef>
                <a:spcPts val="0"/>
              </a:spcBef>
              <a:spcAft>
                <a:spcPts val="0"/>
              </a:spcAft>
              <a:defRPr sz="2100" b="1">
                <a:solidFill>
                  <a:srgbClr val="00708A"/>
                </a:solidFill>
                <a:latin typeface="Barlow"/>
              </a:defRPr>
            </a:pPr>
            <a:r>
              <a:rPr lang="en-US"/>
              <a:t>Keep people informed</a:t>
            </a:r>
            <a:endParaRPr/>
          </a:p>
        </p:txBody>
      </p:sp>
      <p:sp>
        <p:nvSpPr>
          <p:cNvPr id="14" name="TextBox 13"/>
          <p:cNvSpPr txBox="1"/>
          <p:nvPr/>
        </p:nvSpPr>
        <p:spPr>
          <a:xfrm>
            <a:off x="530352" y="5276088"/>
            <a:ext cx="2576026" cy="539891"/>
          </a:xfrm>
          <a:prstGeom prst="rect">
            <a:avLst/>
          </a:prstGeom>
          <a:noFill/>
        </p:spPr>
        <p:txBody>
          <a:bodyPr wrap="none" lIns="0" tIns="0" rIns="0" bIns="0">
            <a:spAutoFit/>
          </a:bodyPr>
          <a:lstStyle/>
          <a:p>
            <a:pPr>
              <a:lnSpc>
                <a:spcPts val="2160"/>
              </a:lnSpc>
              <a:spcBef>
                <a:spcPts val="0"/>
              </a:spcBef>
              <a:spcAft>
                <a:spcPts val="0"/>
              </a:spcAft>
              <a:defRPr sz="1800" b="0">
                <a:solidFill>
                  <a:srgbClr val="0B3C4C"/>
                </a:solidFill>
                <a:latin typeface="Barlow"/>
              </a:defRPr>
            </a:pPr>
            <a:r>
              <a:rPr lang="en-US"/>
              <a:t>Show status and delivery
tasks on the same record.</a:t>
            </a:r>
            <a:endParaRPr/>
          </a:p>
        </p:txBody>
      </p:sp>
      <p:sp>
        <p:nvSpPr>
          <p:cNvPr id="15" name="Rectangle 14"/>
          <p:cNvSpPr/>
          <p:nvPr/>
        </p:nvSpPr>
        <p:spPr>
          <a:xfrm>
            <a:off x="502920" y="6510528"/>
            <a:ext cx="3291840" cy="868680"/>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7512" y="6656832"/>
            <a:ext cx="1628651" cy="512961"/>
          </a:xfrm>
          <a:prstGeom prst="rect">
            <a:avLst/>
          </a:prstGeom>
          <a:noFill/>
        </p:spPr>
        <p:txBody>
          <a:bodyPr wrap="none" lIns="0" tIns="0" rIns="0" bIns="0">
            <a:spAutoFit/>
          </a:bodyPr>
          <a:lstStyle/>
          <a:p>
            <a:pPr>
              <a:lnSpc>
                <a:spcPts val="2039"/>
              </a:lnSpc>
              <a:spcBef>
                <a:spcPts val="0"/>
              </a:spcBef>
              <a:spcAft>
                <a:spcPts val="0"/>
              </a:spcAft>
              <a:defRPr sz="1700" b="1">
                <a:solidFill>
                  <a:srgbClr val="B35F00"/>
                </a:solidFill>
                <a:latin typeface="Barlow"/>
              </a:defRPr>
            </a:pPr>
            <a:r>
              <a:rPr lang="en-US"/>
              <a:t>Clear asks.
Clear handovers.</a:t>
            </a:r>
            <a:endParaRPr/>
          </a:p>
        </p:txBody>
      </p:sp>
      <p:pic>
        <p:nvPicPr>
          <p:cNvPr id="18" name="Screenshot: catalog-245-60-1600-1000" descr="catalog-245-60-1600-1000.png"/>
          <p:cNvPicPr>
            <a:picLocks noChangeAspect="1"/>
          </p:cNvPicPr>
          <p:nvPr/>
        </p:nvPicPr>
        <p:blipFill>
          <a:blip r:embed="rId3"/>
          <a:srcRect l="2137" t="1891" r="1955" b="45153"/>
          <a:stretch>
            <a:fillRect/>
          </a:stretch>
        </p:blipFill>
        <p:spPr>
          <a:xfrm>
            <a:off x="4378421" y="1219200"/>
            <a:ext cx="9728057" cy="3726192"/>
          </a:xfrm>
          <a:prstGeom prst="rect">
            <a:avLst/>
          </a:prstGeom>
        </p:spPr>
      </p:pic>
      <p:sp>
        <p:nvSpPr>
          <p:cNvPr id="19" name="TextBox 18"/>
          <p:cNvSpPr txBox="1"/>
          <p:nvPr/>
        </p:nvSpPr>
        <p:spPr>
          <a:xfrm>
            <a:off x="4169663" y="7543800"/>
            <a:ext cx="9875520" cy="215900"/>
          </a:xfrm>
          <a:prstGeom prst="rect">
            <a:avLst/>
          </a:prstGeom>
          <a:noFill/>
        </p:spPr>
        <p:txBody>
          <a:bodyPr wrap="none" lIns="0" tIns="0" rIns="0" bIns="0">
            <a:spAutoFit/>
          </a:bodyPr>
          <a:lstStyle/>
          <a:p>
            <a:pPr>
              <a:lnSpc>
                <a:spcPts val="1200"/>
              </a:lnSpc>
              <a:spcBef>
                <a:spcPts val="0"/>
              </a:spcBef>
              <a:spcAft>
                <a:spcPts val="0"/>
              </a:spcAft>
              <a:defRPr sz="1000" b="0">
                <a:solidFill>
                  <a:srgbClr val="4F6670"/>
                </a:solidFill>
                <a:latin typeface="Barlow"/>
              </a:defRPr>
            </a:pPr>
            <a:r>
              <a:t>Current app v1.113.65 / Isolated demo / Sample records</a:t>
            </a:r>
          </a:p>
        </p:txBody>
      </p:sp>
      <p:sp>
        <p:nvSpPr>
          <p:cNvPr id="901" name="JNX Rule"/>
          <p:cNvSpPr/>
          <p:nvPr/>
        </p:nvSpPr>
        <p:spPr>
          <a:xfrm>
            <a:off x="508000" y="1016000"/>
            <a:ext cx="13627100" cy="19050"/>
          </a:xfrm>
          <a:prstGeom prst="rect">
            <a:avLst/>
          </a:prstGeom>
          <a:solidFill>
            <a:srgbClr val="0B3C4C"/>
          </a:solidFill>
          <a:ln>
            <a:noFill/>
          </a:ln>
        </p:spPr>
        <p:txBody>
          <a:bodyPr/>
          <a:lstStyle/>
          <a:p>
            <a:endParaRPr lang="en-JP"/>
          </a:p>
        </p:txBody>
      </p:sp>
      <p:pic>
        <p:nvPicPr>
          <p:cNvPr id="902" name="Copied Picture 902" descr="Japannext JNX logo">
            <a:extLst>
              <a:ext uri="{FF2B5EF4-FFF2-40B4-BE49-F238E27FC236}">
                <a16:creationId xmlns:a16="http://schemas.microsoft.com/office/drawing/2014/main" id="{429122C2-2B95-92FB-9A5C-2E92C9458AAC}"/>
              </a:ext>
            </a:extLst>
          </p:cNvPr>
          <p:cNvPicPr>
            <a:picLocks noChangeAspect="1"/>
          </p:cNvPicPr>
          <p:nvPr/>
        </p:nvPicPr>
        <p:blipFill>
          <a:blip r:embed="rId4">
            <a:clrChange>
              <a:clrFrom>
                <a:srgbClr val="FFFFFF"/>
              </a:clrFrom>
              <a:clrTo>
                <a:srgbClr val="FFFFFF">
                  <a:alpha val="0"/>
                </a:srgbClr>
              </a:clrTo>
            </a:clrChange>
          </a:blip>
          <a:srcRect l="13500" t="21500" r="13800" b="22500"/>
          <a:stretch>
            <a:fillRect/>
          </a:stretch>
        </p:blipFill>
        <p:spPr>
          <a:xfrm>
            <a:off x="12725400" y="254000"/>
            <a:ext cx="1409700" cy="660400"/>
          </a:xfrm>
          <a:prstGeom prst="rect">
            <a:avLst/>
          </a:prstGeom>
        </p:spPr>
      </p:pic>
    </p:spTree>
    <p:extLst>
      <p:ext uri="{BB962C8B-B14F-4D97-AF65-F5344CB8AC3E}">
        <p14:creationId xmlns:p14="http://schemas.microsoft.com/office/powerpoint/2010/main" val="549682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1244600"/>
            <a:ext cx="1143000" cy="254000"/>
          </a:xfrm>
          <a:prstGeom prst="rect">
            <a:avLst/>
          </a:prstGeom>
          <a:noFill/>
        </p:spPr>
        <p:txBody>
          <a:bodyPr wrap="none" lIns="0" tIns="0" rIns="0" bIns="0">
            <a:spAutoFit/>
          </a:bodyPr>
          <a:lstStyle/>
          <a:p>
            <a:pPr>
              <a:lnSpc>
                <a:spcPts val="1439"/>
              </a:lnSpc>
              <a:spcBef>
                <a:spcPts val="0"/>
              </a:spcBef>
              <a:spcAft>
                <a:spcPts val="0"/>
              </a:spcAft>
              <a:defRPr sz="1200" b="1">
                <a:solidFill>
                  <a:srgbClr val="00708A"/>
                </a:solidFill>
                <a:latin typeface="Barlow"/>
              </a:defRPr>
            </a:pPr>
            <a:r>
              <a:t>SERVICEOPS</a:t>
            </a:r>
          </a:p>
        </p:txBody>
      </p:sp>
      <p:sp>
        <p:nvSpPr>
          <p:cNvPr id="4" name="TextBox 3"/>
          <p:cNvSpPr txBox="1"/>
          <p:nvPr/>
        </p:nvSpPr>
        <p:spPr>
          <a:xfrm>
            <a:off x="1625600" y="1244600"/>
            <a:ext cx="2454198" cy="179536"/>
          </a:xfrm>
          <a:prstGeom prst="rect">
            <a:avLst/>
          </a:prstGeom>
          <a:noFill/>
        </p:spPr>
        <p:txBody>
          <a:bodyPr wrap="none" lIns="0" tIns="0" rIns="0" bIns="0">
            <a:spAutoFit/>
          </a:bodyPr>
          <a:lstStyle/>
          <a:p>
            <a:pPr>
              <a:lnSpc>
                <a:spcPts val="1439"/>
              </a:lnSpc>
              <a:spcBef>
                <a:spcPts val="0"/>
              </a:spcBef>
              <a:spcAft>
                <a:spcPts val="0"/>
              </a:spcAft>
              <a:defRPr sz="1200" b="1">
                <a:solidFill>
                  <a:srgbClr val="4F6670"/>
                </a:solidFill>
                <a:latin typeface="Barlow"/>
              </a:defRPr>
            </a:pPr>
            <a:r>
              <a:rPr lang="en-US"/>
              <a:t>COORDINATED INCIDENT RESPONSE</a:t>
            </a:r>
            <a:endParaRPr/>
          </a:p>
        </p:txBody>
      </p:sp>
      <p:sp>
        <p:nvSpPr>
          <p:cNvPr id="5" name="TextBox 4"/>
          <p:cNvSpPr txBox="1"/>
          <p:nvPr/>
        </p:nvSpPr>
        <p:spPr>
          <a:xfrm>
            <a:off x="508000" y="304800"/>
            <a:ext cx="7441140" cy="412934"/>
          </a:xfrm>
          <a:prstGeom prst="rect">
            <a:avLst/>
          </a:prstGeom>
          <a:noFill/>
        </p:spPr>
        <p:txBody>
          <a:bodyPr wrap="none" lIns="0" tIns="0" rIns="0" bIns="0">
            <a:spAutoFit/>
          </a:bodyPr>
          <a:lstStyle/>
          <a:p>
            <a:pPr>
              <a:lnSpc>
                <a:spcPts val="3600"/>
              </a:lnSpc>
              <a:spcBef>
                <a:spcPts val="0"/>
              </a:spcBef>
              <a:spcAft>
                <a:spcPts val="0"/>
              </a:spcAft>
              <a:defRPr sz="2600" b="1">
                <a:solidFill>
                  <a:srgbClr val="0B3C4C"/>
                </a:solidFill>
                <a:latin typeface="Barlow"/>
              </a:defRPr>
            </a:pPr>
            <a:r>
              <a:rPr lang="en-US"/>
              <a:t>Keep incident teams aligned on impact and action.</a:t>
            </a:r>
            <a:endParaRPr/>
          </a:p>
        </p:txBody>
      </p:sp>
      <p:sp>
        <p:nvSpPr>
          <p:cNvPr id="6" name="Rectangle 5"/>
          <p:cNvSpPr/>
          <p:nvPr/>
        </p:nvSpPr>
        <p:spPr>
          <a:xfrm>
            <a:off x="502920" y="7790688"/>
            <a:ext cx="13624560" cy="10972"/>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7918704"/>
            <a:ext cx="10972800" cy="215900"/>
          </a:xfrm>
          <a:prstGeom prst="rect">
            <a:avLst/>
          </a:prstGeom>
          <a:noFill/>
        </p:spPr>
        <p:txBody>
          <a:bodyPr wrap="none" lIns="0" tIns="0" rIns="0" bIns="0">
            <a:spAutoFit/>
          </a:bodyPr>
          <a:lstStyle/>
          <a:p>
            <a:pPr>
              <a:lnSpc>
                <a:spcPts val="1200"/>
              </a:lnSpc>
              <a:spcBef>
                <a:spcPts val="0"/>
              </a:spcBef>
              <a:spcAft>
                <a:spcPts val="0"/>
              </a:spcAft>
              <a:defRPr sz="1000" b="0">
                <a:solidFill>
                  <a:srgbClr val="4F6670"/>
                </a:solidFill>
                <a:latin typeface="Barlow"/>
              </a:defRPr>
            </a:pPr>
            <a:r>
              <a:t>Anushka Wijesundara / Product overview / October 2026</a:t>
            </a:r>
          </a:p>
        </p:txBody>
      </p:sp>
      <p:sp>
        <p:nvSpPr>
          <p:cNvPr id="8" name="TextBox 7"/>
          <p:cNvSpPr txBox="1"/>
          <p:nvPr/>
        </p:nvSpPr>
        <p:spPr>
          <a:xfrm>
            <a:off x="11976100" y="7918704"/>
            <a:ext cx="2159000" cy="215900"/>
          </a:xfrm>
          <a:prstGeom prst="rect">
            <a:avLst/>
          </a:prstGeom>
          <a:noFill/>
        </p:spPr>
        <p:txBody>
          <a:bodyPr wrap="none" lIns="0" tIns="0" rIns="0" bIns="0">
            <a:spAutoFit/>
          </a:bodyPr>
          <a:lstStyle/>
          <a:p>
            <a:pPr algn="r">
              <a:lnSpc>
                <a:spcPts val="1200"/>
              </a:lnSpc>
              <a:spcBef>
                <a:spcPts val="0"/>
              </a:spcBef>
              <a:spcAft>
                <a:spcPts val="0"/>
              </a:spcAft>
              <a:defRPr sz="1000" b="1">
                <a:solidFill>
                  <a:srgbClr val="00708A"/>
                </a:solidFill>
                <a:latin typeface="Barlow"/>
              </a:defRPr>
            </a:pPr>
            <a:r>
              <a:t>05</a:t>
            </a:r>
          </a:p>
        </p:txBody>
      </p:sp>
      <p:sp>
        <p:nvSpPr>
          <p:cNvPr id="9" name="TextBox 8"/>
          <p:cNvSpPr txBox="1"/>
          <p:nvPr/>
        </p:nvSpPr>
        <p:spPr>
          <a:xfrm>
            <a:off x="530352" y="2176272"/>
            <a:ext cx="2042226" cy="320601"/>
          </a:xfrm>
          <a:prstGeom prst="rect">
            <a:avLst/>
          </a:prstGeom>
          <a:noFill/>
        </p:spPr>
        <p:txBody>
          <a:bodyPr wrap="none" lIns="0" tIns="0" rIns="0" bIns="0">
            <a:spAutoFit/>
          </a:bodyPr>
          <a:lstStyle/>
          <a:p>
            <a:pPr>
              <a:lnSpc>
                <a:spcPts val="2520"/>
              </a:lnSpc>
              <a:spcBef>
                <a:spcPts val="0"/>
              </a:spcBef>
              <a:spcAft>
                <a:spcPts val="0"/>
              </a:spcAft>
              <a:defRPr sz="2100" b="1">
                <a:solidFill>
                  <a:srgbClr val="00708A"/>
                </a:solidFill>
                <a:latin typeface="Barlow"/>
              </a:defRPr>
            </a:pPr>
            <a:r>
              <a:rPr lang="en-US"/>
              <a:t>Share the impact</a:t>
            </a:r>
            <a:endParaRPr/>
          </a:p>
        </p:txBody>
      </p:sp>
      <p:sp>
        <p:nvSpPr>
          <p:cNvPr id="10" name="TextBox 9"/>
          <p:cNvSpPr txBox="1"/>
          <p:nvPr/>
        </p:nvSpPr>
        <p:spPr>
          <a:xfrm>
            <a:off x="530352" y="2569464"/>
            <a:ext cx="2601674" cy="539891"/>
          </a:xfrm>
          <a:prstGeom prst="rect">
            <a:avLst/>
          </a:prstGeom>
          <a:noFill/>
        </p:spPr>
        <p:txBody>
          <a:bodyPr wrap="none" lIns="0" tIns="0" rIns="0" bIns="0">
            <a:spAutoFit/>
          </a:bodyPr>
          <a:lstStyle/>
          <a:p>
            <a:pPr>
              <a:lnSpc>
                <a:spcPts val="2160"/>
              </a:lnSpc>
              <a:spcBef>
                <a:spcPts val="0"/>
              </a:spcBef>
              <a:spcAft>
                <a:spcPts val="0"/>
              </a:spcAft>
              <a:defRPr sz="1800" b="0">
                <a:solidFill>
                  <a:srgbClr val="0B3C4C"/>
                </a:solidFill>
                <a:latin typeface="Barlow"/>
              </a:defRPr>
            </a:pPr>
            <a:r>
              <a:rPr lang="en-US"/>
              <a:t>Record the affected users
and service symptoms.</a:t>
            </a:r>
            <a:endParaRPr/>
          </a:p>
        </p:txBody>
      </p:sp>
      <p:sp>
        <p:nvSpPr>
          <p:cNvPr id="11" name="TextBox 10"/>
          <p:cNvSpPr txBox="1"/>
          <p:nvPr/>
        </p:nvSpPr>
        <p:spPr>
          <a:xfrm>
            <a:off x="530352" y="3529584"/>
            <a:ext cx="1960473" cy="320601"/>
          </a:xfrm>
          <a:prstGeom prst="rect">
            <a:avLst/>
          </a:prstGeom>
          <a:noFill/>
        </p:spPr>
        <p:txBody>
          <a:bodyPr wrap="none" lIns="0" tIns="0" rIns="0" bIns="0">
            <a:spAutoFit/>
          </a:bodyPr>
          <a:lstStyle/>
          <a:p>
            <a:pPr>
              <a:lnSpc>
                <a:spcPts val="2520"/>
              </a:lnSpc>
              <a:spcBef>
                <a:spcPts val="0"/>
              </a:spcBef>
              <a:spcAft>
                <a:spcPts val="0"/>
              </a:spcAft>
              <a:defRPr sz="2100" b="1">
                <a:solidFill>
                  <a:srgbClr val="00708A"/>
                </a:solidFill>
                <a:latin typeface="Barlow"/>
              </a:defRPr>
            </a:pPr>
            <a:r>
              <a:rPr lang="en-US"/>
              <a:t>Name the owner</a:t>
            </a:r>
            <a:endParaRPr/>
          </a:p>
        </p:txBody>
      </p:sp>
      <p:sp>
        <p:nvSpPr>
          <p:cNvPr id="12" name="TextBox 11"/>
          <p:cNvSpPr txBox="1"/>
          <p:nvPr/>
        </p:nvSpPr>
        <p:spPr>
          <a:xfrm>
            <a:off x="530352" y="3922776"/>
            <a:ext cx="2534348" cy="539891"/>
          </a:xfrm>
          <a:prstGeom prst="rect">
            <a:avLst/>
          </a:prstGeom>
          <a:noFill/>
        </p:spPr>
        <p:txBody>
          <a:bodyPr wrap="none" lIns="0" tIns="0" rIns="0" bIns="0">
            <a:spAutoFit/>
          </a:bodyPr>
          <a:lstStyle/>
          <a:p>
            <a:pPr>
              <a:lnSpc>
                <a:spcPts val="2160"/>
              </a:lnSpc>
              <a:spcBef>
                <a:spcPts val="0"/>
              </a:spcBef>
              <a:spcAft>
                <a:spcPts val="0"/>
              </a:spcAft>
              <a:defRPr sz="1800" b="0">
                <a:solidFill>
                  <a:srgbClr val="0B3C4C"/>
                </a:solidFill>
                <a:latin typeface="Barlow"/>
              </a:defRPr>
            </a:pPr>
            <a:r>
              <a:rPr lang="en-US"/>
              <a:t>Make responsibility and
priority clear to all teams.</a:t>
            </a:r>
            <a:endParaRPr/>
          </a:p>
        </p:txBody>
      </p:sp>
      <p:sp>
        <p:nvSpPr>
          <p:cNvPr id="13" name="TextBox 12"/>
          <p:cNvSpPr txBox="1"/>
          <p:nvPr/>
        </p:nvSpPr>
        <p:spPr>
          <a:xfrm>
            <a:off x="530352" y="4882896"/>
            <a:ext cx="2013372" cy="320601"/>
          </a:xfrm>
          <a:prstGeom prst="rect">
            <a:avLst/>
          </a:prstGeom>
          <a:noFill/>
        </p:spPr>
        <p:txBody>
          <a:bodyPr wrap="none" lIns="0" tIns="0" rIns="0" bIns="0">
            <a:spAutoFit/>
          </a:bodyPr>
          <a:lstStyle/>
          <a:p>
            <a:pPr>
              <a:lnSpc>
                <a:spcPts val="2520"/>
              </a:lnSpc>
              <a:spcBef>
                <a:spcPts val="0"/>
              </a:spcBef>
              <a:spcAft>
                <a:spcPts val="0"/>
              </a:spcAft>
              <a:defRPr sz="2100" b="1">
                <a:solidFill>
                  <a:srgbClr val="00708A"/>
                </a:solidFill>
                <a:latin typeface="Barlow"/>
              </a:defRPr>
            </a:pPr>
            <a:r>
              <a:rPr lang="en-US"/>
              <a:t>Keep one history</a:t>
            </a:r>
            <a:endParaRPr/>
          </a:p>
        </p:txBody>
      </p:sp>
      <p:sp>
        <p:nvSpPr>
          <p:cNvPr id="14" name="TextBox 13"/>
          <p:cNvSpPr txBox="1"/>
          <p:nvPr/>
        </p:nvSpPr>
        <p:spPr>
          <a:xfrm>
            <a:off x="530352" y="5276088"/>
            <a:ext cx="2616101" cy="539891"/>
          </a:xfrm>
          <a:prstGeom prst="rect">
            <a:avLst/>
          </a:prstGeom>
          <a:noFill/>
        </p:spPr>
        <p:txBody>
          <a:bodyPr wrap="none" lIns="0" tIns="0" rIns="0" bIns="0">
            <a:spAutoFit/>
          </a:bodyPr>
          <a:lstStyle/>
          <a:p>
            <a:pPr>
              <a:lnSpc>
                <a:spcPts val="2160"/>
              </a:lnSpc>
              <a:spcBef>
                <a:spcPts val="0"/>
              </a:spcBef>
              <a:spcAft>
                <a:spcPts val="0"/>
              </a:spcAft>
              <a:defRPr sz="1800" b="0">
                <a:solidFill>
                  <a:srgbClr val="0B3C4C"/>
                </a:solidFill>
                <a:latin typeface="Barlow"/>
              </a:defRPr>
            </a:pPr>
            <a:r>
              <a:rPr lang="en-US"/>
              <a:t>Retain investigation notes
and resolution on record.</a:t>
            </a:r>
            <a:endParaRPr/>
          </a:p>
        </p:txBody>
      </p:sp>
      <p:sp>
        <p:nvSpPr>
          <p:cNvPr id="15" name="Rectangle 14"/>
          <p:cNvSpPr/>
          <p:nvPr/>
        </p:nvSpPr>
        <p:spPr>
          <a:xfrm>
            <a:off x="502920" y="6510528"/>
            <a:ext cx="3291840" cy="868680"/>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7512" y="6656832"/>
            <a:ext cx="1957267" cy="512961"/>
          </a:xfrm>
          <a:prstGeom prst="rect">
            <a:avLst/>
          </a:prstGeom>
          <a:noFill/>
        </p:spPr>
        <p:txBody>
          <a:bodyPr wrap="none" lIns="0" tIns="0" rIns="0" bIns="0">
            <a:spAutoFit/>
          </a:bodyPr>
          <a:lstStyle/>
          <a:p>
            <a:pPr>
              <a:lnSpc>
                <a:spcPts val="2039"/>
              </a:lnSpc>
              <a:spcBef>
                <a:spcPts val="0"/>
              </a:spcBef>
              <a:spcAft>
                <a:spcPts val="0"/>
              </a:spcAft>
              <a:defRPr sz="1700" b="1">
                <a:solidFill>
                  <a:srgbClr val="B35F00"/>
                </a:solidFill>
                <a:latin typeface="Barlow"/>
              </a:defRPr>
            </a:pPr>
            <a:r>
              <a:rPr lang="en-US"/>
              <a:t>One incident record.
A shared response.</a:t>
            </a:r>
            <a:endParaRPr/>
          </a:p>
        </p:txBody>
      </p:sp>
      <p:pic>
        <p:nvPicPr>
          <p:cNvPr id="18" name="Screenshot: incident-detail-245-60-1600-1000" descr="incident-detail-245-60-1600-1000.png"/>
          <p:cNvPicPr>
            <a:picLocks noChangeAspect="1"/>
          </p:cNvPicPr>
          <p:nvPr/>
        </p:nvPicPr>
        <p:blipFill>
          <a:blip r:embed="rId3"/>
          <a:srcRect l="1604" t="1538" r="1546"/>
          <a:stretch>
            <a:fillRect/>
          </a:stretch>
        </p:blipFill>
        <p:spPr>
          <a:xfrm>
            <a:off x="5367454" y="1288488"/>
            <a:ext cx="8595434" cy="6062072"/>
          </a:xfrm>
          <a:prstGeom prst="rect">
            <a:avLst/>
          </a:prstGeom>
        </p:spPr>
      </p:pic>
      <p:sp>
        <p:nvSpPr>
          <p:cNvPr id="19" name="TextBox 18"/>
          <p:cNvSpPr txBox="1"/>
          <p:nvPr/>
        </p:nvSpPr>
        <p:spPr>
          <a:xfrm>
            <a:off x="4169663" y="7543800"/>
            <a:ext cx="9875520" cy="215900"/>
          </a:xfrm>
          <a:prstGeom prst="rect">
            <a:avLst/>
          </a:prstGeom>
          <a:noFill/>
        </p:spPr>
        <p:txBody>
          <a:bodyPr wrap="none" lIns="0" tIns="0" rIns="0" bIns="0">
            <a:spAutoFit/>
          </a:bodyPr>
          <a:lstStyle/>
          <a:p>
            <a:pPr>
              <a:lnSpc>
                <a:spcPts val="1200"/>
              </a:lnSpc>
              <a:spcBef>
                <a:spcPts val="0"/>
              </a:spcBef>
              <a:spcAft>
                <a:spcPts val="0"/>
              </a:spcAft>
              <a:defRPr sz="1000" b="0">
                <a:solidFill>
                  <a:srgbClr val="4F6670"/>
                </a:solidFill>
                <a:latin typeface="Barlow"/>
              </a:defRPr>
            </a:pPr>
            <a:r>
              <a:t>Current app v1.113.65 / Isolated demo / Sample records</a:t>
            </a:r>
          </a:p>
        </p:txBody>
      </p:sp>
      <p:sp>
        <p:nvSpPr>
          <p:cNvPr id="901" name="JNX Rule"/>
          <p:cNvSpPr/>
          <p:nvPr/>
        </p:nvSpPr>
        <p:spPr>
          <a:xfrm>
            <a:off x="508000" y="1016000"/>
            <a:ext cx="13627100" cy="19050"/>
          </a:xfrm>
          <a:prstGeom prst="rect">
            <a:avLst/>
          </a:prstGeom>
          <a:solidFill>
            <a:srgbClr val="0B3C4C"/>
          </a:solidFill>
          <a:ln>
            <a:noFill/>
          </a:ln>
        </p:spPr>
        <p:txBody>
          <a:bodyPr/>
          <a:lstStyle/>
          <a:p>
            <a:endParaRPr lang="en-JP"/>
          </a:p>
        </p:txBody>
      </p:sp>
      <p:pic>
        <p:nvPicPr>
          <p:cNvPr id="902" name="Copied Picture 902" descr="Japannext JNX logo">
            <a:extLst>
              <a:ext uri="{FF2B5EF4-FFF2-40B4-BE49-F238E27FC236}">
                <a16:creationId xmlns:a16="http://schemas.microsoft.com/office/drawing/2014/main" id="{429122C2-2B95-92FB-9A5C-2E92C9458AAC}"/>
              </a:ext>
            </a:extLst>
          </p:cNvPr>
          <p:cNvPicPr>
            <a:picLocks noChangeAspect="1"/>
          </p:cNvPicPr>
          <p:nvPr/>
        </p:nvPicPr>
        <p:blipFill>
          <a:blip r:embed="rId4">
            <a:clrChange>
              <a:clrFrom>
                <a:srgbClr val="FFFFFF"/>
              </a:clrFrom>
              <a:clrTo>
                <a:srgbClr val="FFFFFF">
                  <a:alpha val="0"/>
                </a:srgbClr>
              </a:clrTo>
            </a:clrChange>
          </a:blip>
          <a:srcRect l="13500" t="21500" r="13800" b="22500"/>
          <a:stretch>
            <a:fillRect/>
          </a:stretch>
        </p:blipFill>
        <p:spPr>
          <a:xfrm>
            <a:off x="12725400" y="254000"/>
            <a:ext cx="1409700" cy="660400"/>
          </a:xfrm>
          <a:prstGeom prst="rect">
            <a:avLst/>
          </a:prstGeom>
        </p:spPr>
      </p:pic>
    </p:spTree>
    <p:extLst>
      <p:ext uri="{BB962C8B-B14F-4D97-AF65-F5344CB8AC3E}">
        <p14:creationId xmlns:p14="http://schemas.microsoft.com/office/powerpoint/2010/main" val="21260096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1244600"/>
            <a:ext cx="1143000" cy="254000"/>
          </a:xfrm>
          <a:prstGeom prst="rect">
            <a:avLst/>
          </a:prstGeom>
          <a:noFill/>
        </p:spPr>
        <p:txBody>
          <a:bodyPr wrap="none" lIns="0" tIns="0" rIns="0" bIns="0">
            <a:spAutoFit/>
          </a:bodyPr>
          <a:lstStyle/>
          <a:p>
            <a:pPr>
              <a:lnSpc>
                <a:spcPts val="1439"/>
              </a:lnSpc>
              <a:spcBef>
                <a:spcPts val="0"/>
              </a:spcBef>
              <a:spcAft>
                <a:spcPts val="0"/>
              </a:spcAft>
              <a:defRPr sz="1200" b="1">
                <a:solidFill>
                  <a:srgbClr val="00708A"/>
                </a:solidFill>
                <a:latin typeface="Barlow"/>
              </a:defRPr>
            </a:pPr>
            <a:r>
              <a:t>SERVICEOPS</a:t>
            </a:r>
          </a:p>
        </p:txBody>
      </p:sp>
      <p:sp>
        <p:nvSpPr>
          <p:cNvPr id="4" name="TextBox 3"/>
          <p:cNvSpPr txBox="1"/>
          <p:nvPr/>
        </p:nvSpPr>
        <p:spPr>
          <a:xfrm>
            <a:off x="1625600" y="1244600"/>
            <a:ext cx="2500685" cy="179536"/>
          </a:xfrm>
          <a:prstGeom prst="rect">
            <a:avLst/>
          </a:prstGeom>
          <a:noFill/>
        </p:spPr>
        <p:txBody>
          <a:bodyPr wrap="none" lIns="0" tIns="0" rIns="0" bIns="0">
            <a:spAutoFit/>
          </a:bodyPr>
          <a:lstStyle/>
          <a:p>
            <a:pPr>
              <a:lnSpc>
                <a:spcPts val="1439"/>
              </a:lnSpc>
              <a:spcBef>
                <a:spcPts val="0"/>
              </a:spcBef>
              <a:spcAft>
                <a:spcPts val="0"/>
              </a:spcAft>
              <a:defRPr sz="1200" b="1">
                <a:solidFill>
                  <a:srgbClr val="4F6670"/>
                </a:solidFill>
                <a:latin typeface="Barlow"/>
              </a:defRPr>
            </a:pPr>
            <a:r>
              <a:t>RT (REQUEST TRACKER) / CMDB GAP</a:t>
            </a:r>
          </a:p>
        </p:txBody>
      </p:sp>
      <p:sp>
        <p:nvSpPr>
          <p:cNvPr id="5" name="TextBox 4"/>
          <p:cNvSpPr txBox="1"/>
          <p:nvPr/>
        </p:nvSpPr>
        <p:spPr>
          <a:xfrm>
            <a:off x="508000" y="304800"/>
            <a:ext cx="6714980" cy="412934"/>
          </a:xfrm>
          <a:prstGeom prst="rect">
            <a:avLst/>
          </a:prstGeom>
          <a:noFill/>
        </p:spPr>
        <p:txBody>
          <a:bodyPr wrap="none" lIns="0" tIns="0" rIns="0" bIns="0">
            <a:spAutoFit/>
          </a:bodyPr>
          <a:lstStyle/>
          <a:p>
            <a:pPr>
              <a:lnSpc>
                <a:spcPts val="3600"/>
              </a:lnSpc>
              <a:spcBef>
                <a:spcPts val="0"/>
              </a:spcBef>
              <a:spcAft>
                <a:spcPts val="0"/>
              </a:spcAft>
              <a:defRPr sz="2600" b="1">
                <a:solidFill>
                  <a:srgbClr val="0B3C4C"/>
                </a:solidFill>
                <a:latin typeface="Barlow"/>
              </a:defRPr>
            </a:pPr>
            <a:r>
              <a:rPr lang="en-US"/>
              <a:t>Tickets alone cannot reveal change conflicts.</a:t>
            </a:r>
            <a:endParaRPr/>
          </a:p>
        </p:txBody>
      </p:sp>
      <p:sp>
        <p:nvSpPr>
          <p:cNvPr id="6" name="Rectangle 5"/>
          <p:cNvSpPr/>
          <p:nvPr/>
        </p:nvSpPr>
        <p:spPr>
          <a:xfrm>
            <a:off x="502920" y="7790688"/>
            <a:ext cx="13624560" cy="10972"/>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7918704"/>
            <a:ext cx="10972800" cy="215900"/>
          </a:xfrm>
          <a:prstGeom prst="rect">
            <a:avLst/>
          </a:prstGeom>
          <a:noFill/>
        </p:spPr>
        <p:txBody>
          <a:bodyPr wrap="none" lIns="0" tIns="0" rIns="0" bIns="0">
            <a:spAutoFit/>
          </a:bodyPr>
          <a:lstStyle/>
          <a:p>
            <a:pPr>
              <a:lnSpc>
                <a:spcPts val="1200"/>
              </a:lnSpc>
              <a:spcBef>
                <a:spcPts val="0"/>
              </a:spcBef>
              <a:spcAft>
                <a:spcPts val="0"/>
              </a:spcAft>
              <a:defRPr sz="1000" b="0">
                <a:solidFill>
                  <a:srgbClr val="4F6670"/>
                </a:solidFill>
                <a:latin typeface="Barlow"/>
              </a:defRPr>
            </a:pPr>
            <a:r>
              <a:t>Anushka Wijesundara / Product overview / October 2026</a:t>
            </a:r>
          </a:p>
        </p:txBody>
      </p:sp>
      <p:sp>
        <p:nvSpPr>
          <p:cNvPr id="8" name="TextBox 7"/>
          <p:cNvSpPr txBox="1"/>
          <p:nvPr/>
        </p:nvSpPr>
        <p:spPr>
          <a:xfrm>
            <a:off x="13283906" y="7918704"/>
            <a:ext cx="851194" cy="153888"/>
          </a:xfrm>
          <a:prstGeom prst="rect">
            <a:avLst/>
          </a:prstGeom>
          <a:noFill/>
        </p:spPr>
        <p:txBody>
          <a:bodyPr wrap="none" lIns="0" tIns="0" rIns="0" bIns="0">
            <a:spAutoFit/>
          </a:bodyPr>
          <a:lstStyle/>
          <a:p>
            <a:pPr algn="r">
              <a:lnSpc>
                <a:spcPts val="1200"/>
              </a:lnSpc>
              <a:spcBef>
                <a:spcPts val="0"/>
              </a:spcBef>
              <a:spcAft>
                <a:spcPts val="0"/>
              </a:spcAft>
              <a:defRPr sz="1000" b="1">
                <a:solidFill>
                  <a:srgbClr val="00708A"/>
                </a:solidFill>
                <a:latin typeface="Barlow"/>
              </a:defRPr>
            </a:pPr>
            <a:r>
              <a:t>06 / CMDB GAP</a:t>
            </a:r>
          </a:p>
        </p:txBody>
      </p:sp>
      <p:sp>
        <p:nvSpPr>
          <p:cNvPr id="9" name="Rectangle 8"/>
          <p:cNvSpPr/>
          <p:nvPr/>
        </p:nvSpPr>
        <p:spPr>
          <a:xfrm>
            <a:off x="548640" y="2423160"/>
            <a:ext cx="4297680" cy="3383280"/>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2697480"/>
            <a:ext cx="2071080" cy="269946"/>
          </a:xfrm>
          <a:prstGeom prst="rect">
            <a:avLst/>
          </a:prstGeom>
          <a:noFill/>
        </p:spPr>
        <p:txBody>
          <a:bodyPr wrap="none" lIns="0" tIns="0" rIns="0" bIns="0">
            <a:spAutoFit/>
          </a:bodyPr>
          <a:lstStyle/>
          <a:p>
            <a:pPr>
              <a:lnSpc>
                <a:spcPts val="2280"/>
              </a:lnSpc>
              <a:spcBef>
                <a:spcPts val="0"/>
              </a:spcBef>
              <a:spcAft>
                <a:spcPts val="0"/>
              </a:spcAft>
              <a:defRPr sz="1900" b="1">
                <a:solidFill>
                  <a:srgbClr val="00708A"/>
                </a:solidFill>
                <a:latin typeface="Barlow"/>
              </a:defRPr>
            </a:pPr>
            <a:r>
              <a:rPr lang="en-US"/>
              <a:t>01 Dependency gap</a:t>
            </a:r>
            <a:endParaRPr/>
          </a:p>
        </p:txBody>
      </p:sp>
      <p:sp>
        <p:nvSpPr>
          <p:cNvPr id="11" name="TextBox 10"/>
          <p:cNvSpPr txBox="1"/>
          <p:nvPr/>
        </p:nvSpPr>
        <p:spPr>
          <a:xfrm>
            <a:off x="777240" y="3200400"/>
            <a:ext cx="2356414" cy="834844"/>
          </a:xfrm>
          <a:prstGeom prst="rect">
            <a:avLst/>
          </a:prstGeom>
          <a:noFill/>
        </p:spPr>
        <p:txBody>
          <a:bodyPr wrap="none" lIns="0" tIns="0" rIns="0" bIns="0">
            <a:spAutoFit/>
          </a:bodyPr>
          <a:lstStyle/>
          <a:p>
            <a:pPr>
              <a:lnSpc>
                <a:spcPts val="3360"/>
              </a:lnSpc>
              <a:spcBef>
                <a:spcPts val="0"/>
              </a:spcBef>
              <a:spcAft>
                <a:spcPts val="0"/>
              </a:spcAft>
              <a:defRPr sz="2800" b="1">
                <a:solidFill>
                  <a:srgbClr val="0B3C4C"/>
                </a:solidFill>
                <a:latin typeface="Barlow"/>
              </a:defRPr>
            </a:pPr>
            <a:r>
              <a:rPr lang="en-US"/>
              <a:t>Hidden
change impact</a:t>
            </a:r>
            <a:endParaRPr/>
          </a:p>
        </p:txBody>
      </p:sp>
      <p:sp>
        <p:nvSpPr>
          <p:cNvPr id="12" name="TextBox 11"/>
          <p:cNvSpPr txBox="1"/>
          <p:nvPr/>
        </p:nvSpPr>
        <p:spPr>
          <a:xfrm>
            <a:off x="777240" y="4419600"/>
            <a:ext cx="2944717" cy="961802"/>
          </a:xfrm>
          <a:prstGeom prst="rect">
            <a:avLst/>
          </a:prstGeom>
          <a:noFill/>
        </p:spPr>
        <p:txBody>
          <a:bodyPr wrap="none" lIns="0" tIns="0" rIns="0" bIns="0">
            <a:spAutoFit/>
          </a:bodyPr>
          <a:lstStyle/>
          <a:p>
            <a:pPr>
              <a:lnSpc>
                <a:spcPts val="2520"/>
              </a:lnSpc>
              <a:spcBef>
                <a:spcPts val="0"/>
              </a:spcBef>
              <a:spcAft>
                <a:spcPts val="0"/>
              </a:spcAft>
              <a:defRPr sz="2100" b="0">
                <a:solidFill>
                  <a:srgbClr val="4F6670"/>
                </a:solidFill>
                <a:latin typeface="Barlow"/>
              </a:defRPr>
            </a:pPr>
            <a:r>
              <a:rPr lang="en-US"/>
              <a:t>Without service links,
separate tickets can hide
a shared dependency.</a:t>
            </a:r>
            <a:endParaRPr/>
          </a:p>
        </p:txBody>
      </p:sp>
      <p:sp>
        <p:nvSpPr>
          <p:cNvPr id="13" name="Rectangle 12"/>
          <p:cNvSpPr/>
          <p:nvPr/>
        </p:nvSpPr>
        <p:spPr>
          <a:xfrm>
            <a:off x="5166359" y="2423160"/>
            <a:ext cx="4297680" cy="3383280"/>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394959" y="2697480"/>
            <a:ext cx="2173672" cy="269946"/>
          </a:xfrm>
          <a:prstGeom prst="rect">
            <a:avLst/>
          </a:prstGeom>
          <a:noFill/>
        </p:spPr>
        <p:txBody>
          <a:bodyPr wrap="none" lIns="0" tIns="0" rIns="0" bIns="0">
            <a:spAutoFit/>
          </a:bodyPr>
          <a:lstStyle/>
          <a:p>
            <a:pPr>
              <a:lnSpc>
                <a:spcPts val="2280"/>
              </a:lnSpc>
              <a:spcBef>
                <a:spcPts val="0"/>
              </a:spcBef>
              <a:spcAft>
                <a:spcPts val="0"/>
              </a:spcAft>
              <a:defRPr sz="1900" b="1">
                <a:solidFill>
                  <a:srgbClr val="00708A"/>
                </a:solidFill>
                <a:latin typeface="Barlow"/>
              </a:defRPr>
            </a:pPr>
            <a:r>
              <a:rPr lang="en-US"/>
              <a:t>02 Coordination gap</a:t>
            </a:r>
            <a:endParaRPr/>
          </a:p>
        </p:txBody>
      </p:sp>
      <p:sp>
        <p:nvSpPr>
          <p:cNvPr id="15" name="TextBox 14"/>
          <p:cNvSpPr txBox="1"/>
          <p:nvPr/>
        </p:nvSpPr>
        <p:spPr>
          <a:xfrm>
            <a:off x="5394959" y="3200400"/>
            <a:ext cx="2101537" cy="834844"/>
          </a:xfrm>
          <a:prstGeom prst="rect">
            <a:avLst/>
          </a:prstGeom>
          <a:noFill/>
        </p:spPr>
        <p:txBody>
          <a:bodyPr wrap="none" lIns="0" tIns="0" rIns="0" bIns="0">
            <a:spAutoFit/>
          </a:bodyPr>
          <a:lstStyle/>
          <a:p>
            <a:pPr>
              <a:lnSpc>
                <a:spcPts val="3360"/>
              </a:lnSpc>
              <a:spcBef>
                <a:spcPts val="0"/>
              </a:spcBef>
              <a:spcAft>
                <a:spcPts val="0"/>
              </a:spcAft>
              <a:defRPr sz="2800" b="1">
                <a:solidFill>
                  <a:srgbClr val="0B3C4C"/>
                </a:solidFill>
                <a:latin typeface="Barlow"/>
              </a:defRPr>
            </a:pPr>
            <a:r>
              <a:rPr lang="en-US"/>
              <a:t>Clashing
change plans</a:t>
            </a:r>
            <a:endParaRPr/>
          </a:p>
        </p:txBody>
      </p:sp>
      <p:sp>
        <p:nvSpPr>
          <p:cNvPr id="16" name="TextBox 15"/>
          <p:cNvSpPr txBox="1"/>
          <p:nvPr/>
        </p:nvSpPr>
        <p:spPr>
          <a:xfrm>
            <a:off x="5394959" y="4419600"/>
            <a:ext cx="2963953" cy="961802"/>
          </a:xfrm>
          <a:prstGeom prst="rect">
            <a:avLst/>
          </a:prstGeom>
          <a:noFill/>
        </p:spPr>
        <p:txBody>
          <a:bodyPr wrap="none" lIns="0" tIns="0" rIns="0" bIns="0">
            <a:spAutoFit/>
          </a:bodyPr>
          <a:lstStyle/>
          <a:p>
            <a:pPr>
              <a:lnSpc>
                <a:spcPts val="2520"/>
              </a:lnSpc>
              <a:spcBef>
                <a:spcPts val="0"/>
              </a:spcBef>
              <a:spcAft>
                <a:spcPts val="0"/>
              </a:spcAft>
              <a:defRPr sz="2100" b="0">
                <a:solidFill>
                  <a:srgbClr val="4F6670"/>
                </a:solidFill>
                <a:latin typeface="Barlow"/>
              </a:defRPr>
            </a:pPr>
            <a:r>
              <a:rPr lang="en-US"/>
              <a:t>Teams may approve work
without seeing another
team’s service exposure.</a:t>
            </a:r>
            <a:endParaRPr/>
          </a:p>
        </p:txBody>
      </p:sp>
      <p:sp>
        <p:nvSpPr>
          <p:cNvPr id="17" name="Rectangle 16"/>
          <p:cNvSpPr/>
          <p:nvPr/>
        </p:nvSpPr>
        <p:spPr>
          <a:xfrm>
            <a:off x="9784080" y="2423160"/>
            <a:ext cx="4297680" cy="3383280"/>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012680" y="2697480"/>
            <a:ext cx="2473434" cy="269946"/>
          </a:xfrm>
          <a:prstGeom prst="rect">
            <a:avLst/>
          </a:prstGeom>
          <a:noFill/>
        </p:spPr>
        <p:txBody>
          <a:bodyPr wrap="none" lIns="0" tIns="0" rIns="0" bIns="0">
            <a:spAutoFit/>
          </a:bodyPr>
          <a:lstStyle/>
          <a:p>
            <a:pPr>
              <a:lnSpc>
                <a:spcPts val="2280"/>
              </a:lnSpc>
              <a:spcBef>
                <a:spcPts val="0"/>
              </a:spcBef>
              <a:spcAft>
                <a:spcPts val="0"/>
              </a:spcAft>
              <a:defRPr sz="1900" b="1">
                <a:solidFill>
                  <a:srgbClr val="00708A"/>
                </a:solidFill>
                <a:latin typeface="Barlow"/>
              </a:defRPr>
            </a:pPr>
            <a:r>
              <a:rPr lang="en-US"/>
              <a:t>03 Communication gap</a:t>
            </a:r>
            <a:endParaRPr/>
          </a:p>
        </p:txBody>
      </p:sp>
      <p:sp>
        <p:nvSpPr>
          <p:cNvPr id="19" name="TextBox 18"/>
          <p:cNvSpPr txBox="1"/>
          <p:nvPr/>
        </p:nvSpPr>
        <p:spPr>
          <a:xfrm>
            <a:off x="10012680" y="3200400"/>
            <a:ext cx="1686359" cy="834844"/>
          </a:xfrm>
          <a:prstGeom prst="rect">
            <a:avLst/>
          </a:prstGeom>
          <a:noFill/>
        </p:spPr>
        <p:txBody>
          <a:bodyPr wrap="none" lIns="0" tIns="0" rIns="0" bIns="0">
            <a:spAutoFit/>
          </a:bodyPr>
          <a:lstStyle/>
          <a:p>
            <a:pPr>
              <a:lnSpc>
                <a:spcPts val="3360"/>
              </a:lnSpc>
              <a:spcBef>
                <a:spcPts val="0"/>
              </a:spcBef>
              <a:spcAft>
                <a:spcPts val="0"/>
              </a:spcAft>
              <a:defRPr sz="2800" b="1">
                <a:solidFill>
                  <a:srgbClr val="0B3C4C"/>
                </a:solidFill>
                <a:latin typeface="Barlow"/>
              </a:defRPr>
            </a:pPr>
            <a:r>
              <a:rPr lang="en-US"/>
              <a:t>Unclear
handovers</a:t>
            </a:r>
            <a:endParaRPr/>
          </a:p>
        </p:txBody>
      </p:sp>
      <p:sp>
        <p:nvSpPr>
          <p:cNvPr id="20" name="TextBox 19"/>
          <p:cNvSpPr txBox="1"/>
          <p:nvPr/>
        </p:nvSpPr>
        <p:spPr>
          <a:xfrm>
            <a:off x="10012680" y="4419600"/>
            <a:ext cx="3141886" cy="961802"/>
          </a:xfrm>
          <a:prstGeom prst="rect">
            <a:avLst/>
          </a:prstGeom>
          <a:noFill/>
        </p:spPr>
        <p:txBody>
          <a:bodyPr wrap="none" lIns="0" tIns="0" rIns="0" bIns="0">
            <a:spAutoFit/>
          </a:bodyPr>
          <a:lstStyle/>
          <a:p>
            <a:pPr>
              <a:lnSpc>
                <a:spcPts val="2520"/>
              </a:lnSpc>
              <a:spcBef>
                <a:spcPts val="0"/>
              </a:spcBef>
              <a:spcAft>
                <a:spcPts val="0"/>
              </a:spcAft>
              <a:defRPr sz="2100" b="0">
                <a:solidFill>
                  <a:srgbClr val="4F6670"/>
                </a:solidFill>
                <a:latin typeface="Barlow"/>
              </a:defRPr>
            </a:pPr>
            <a:r>
              <a:rPr lang="en-US"/>
              <a:t>Scattered ownership and
configuration history make
coordination harder.</a:t>
            </a:r>
            <a:endParaRPr/>
          </a:p>
        </p:txBody>
      </p:sp>
      <p:sp>
        <p:nvSpPr>
          <p:cNvPr id="21" name="TextBox 20"/>
          <p:cNvSpPr txBox="1"/>
          <p:nvPr/>
        </p:nvSpPr>
        <p:spPr>
          <a:xfrm>
            <a:off x="594360" y="6299200"/>
            <a:ext cx="8601714" cy="410369"/>
          </a:xfrm>
          <a:prstGeom prst="rect">
            <a:avLst/>
          </a:prstGeom>
          <a:noFill/>
        </p:spPr>
        <p:txBody>
          <a:bodyPr wrap="none" lIns="0" tIns="0" rIns="0" bIns="0">
            <a:spAutoFit/>
          </a:bodyPr>
          <a:lstStyle/>
          <a:p>
            <a:pPr>
              <a:lnSpc>
                <a:spcPts val="3240"/>
              </a:lnSpc>
              <a:spcBef>
                <a:spcPts val="0"/>
              </a:spcBef>
              <a:spcAft>
                <a:spcPts val="0"/>
              </a:spcAft>
              <a:defRPr sz="2700" b="1">
                <a:solidFill>
                  <a:srgbClr val="B35F00"/>
                </a:solidFill>
                <a:latin typeface="Barlow"/>
              </a:defRPr>
            </a:pPr>
            <a:r>
              <a:rPr lang="en-US"/>
              <a:t>A maintained CMDB gives teams shared change context.</a:t>
            </a:r>
            <a:endParaRPr/>
          </a:p>
        </p:txBody>
      </p:sp>
      <p:sp>
        <p:nvSpPr>
          <p:cNvPr id="901" name="JNX Rule"/>
          <p:cNvSpPr/>
          <p:nvPr/>
        </p:nvSpPr>
        <p:spPr>
          <a:xfrm>
            <a:off x="508000" y="1016000"/>
            <a:ext cx="13627100" cy="19050"/>
          </a:xfrm>
          <a:prstGeom prst="rect">
            <a:avLst/>
          </a:prstGeom>
          <a:solidFill>
            <a:srgbClr val="0B3C4C"/>
          </a:solidFill>
          <a:ln>
            <a:noFill/>
          </a:ln>
        </p:spPr>
        <p:txBody>
          <a:bodyPr/>
          <a:lstStyle/>
          <a:p>
            <a:endParaRPr lang="en-JP"/>
          </a:p>
        </p:txBody>
      </p:sp>
      <p:pic>
        <p:nvPicPr>
          <p:cNvPr id="902" name="Copied Picture 902" descr="Japannext JNX logo">
            <a:extLst>
              <a:ext uri="{FF2B5EF4-FFF2-40B4-BE49-F238E27FC236}">
                <a16:creationId xmlns:a16="http://schemas.microsoft.com/office/drawing/2014/main" id="{429122C2-2B95-92FB-9A5C-2E92C9458AAC}"/>
              </a:ext>
            </a:extLst>
          </p:cNvPr>
          <p:cNvPicPr>
            <a:picLocks noChangeAspect="1"/>
          </p:cNvPicPr>
          <p:nvPr/>
        </p:nvPicPr>
        <p:blipFill>
          <a:blip r:embed="rId3">
            <a:clrChange>
              <a:clrFrom>
                <a:srgbClr val="FFFFFF"/>
              </a:clrFrom>
              <a:clrTo>
                <a:srgbClr val="FFFFFF">
                  <a:alpha val="0"/>
                </a:srgbClr>
              </a:clrTo>
            </a:clrChange>
          </a:blip>
          <a:srcRect l="13500" t="21500" r="13800" b="22500"/>
          <a:stretch>
            <a:fillRect/>
          </a:stretch>
        </p:blipFill>
        <p:spPr>
          <a:xfrm>
            <a:off x="12725400" y="254000"/>
            <a:ext cx="1409700" cy="660400"/>
          </a:xfrm>
          <a:prstGeom prst="rect">
            <a:avLst/>
          </a:prstGeom>
        </p:spPr>
      </p:pic>
      <p:sp>
        <p:nvSpPr>
          <p:cNvPr id="22" name="TextBox 21">
            <a:extLst>
              <a:ext uri="{FF2B5EF4-FFF2-40B4-BE49-F238E27FC236}">
                <a16:creationId xmlns:a16="http://schemas.microsoft.com/office/drawing/2014/main" id="{F2AC76C6-A3F7-B94A-AEF1-357F9E4D67D9}"/>
              </a:ext>
            </a:extLst>
          </p:cNvPr>
          <p:cNvSpPr txBox="1"/>
          <p:nvPr/>
        </p:nvSpPr>
        <p:spPr>
          <a:xfrm>
            <a:off x="594360" y="1816100"/>
            <a:ext cx="13441680" cy="431800"/>
          </a:xfrm>
          <a:prstGeom prst="rect">
            <a:avLst/>
          </a:prstGeom>
          <a:noFill/>
        </p:spPr>
        <p:txBody>
          <a:bodyPr vertOverflow="overflow" vert="horz" wrap="square" rtlCol="0" anchor="t">
            <a:spAutoFit/>
          </a:bodyPr>
          <a:lstStyle/>
          <a:p>
            <a:pPr algn="l"/>
            <a:r>
              <a:rPr lang="en-US" sz="2100">
                <a:solidFill>
                  <a:srgbClr val="4F6670"/>
                </a:solidFill>
                <a:latin typeface="Barlow"/>
              </a:rPr>
              <a:t>CMDB = Configuration Management Database: devices, services, owners and dependencies.</a:t>
            </a:r>
            <a:endParaRPr lang="en-JP" sz="2100">
              <a:solidFill>
                <a:srgbClr val="4F6670"/>
              </a:solidFill>
              <a:latin typeface="Barlow"/>
            </a:endParaRPr>
          </a:p>
        </p:txBody>
      </p:sp>
      <p:sp>
        <p:nvSpPr>
          <p:cNvPr id="23" name="TextBox 22">
            <a:extLst>
              <a:ext uri="{FF2B5EF4-FFF2-40B4-BE49-F238E27FC236}">
                <a16:creationId xmlns:a16="http://schemas.microsoft.com/office/drawing/2014/main" id="{5BFF0CB6-2710-D045-8F87-32BA9FDFB597}"/>
              </a:ext>
            </a:extLst>
          </p:cNvPr>
          <p:cNvSpPr txBox="1"/>
          <p:nvPr/>
        </p:nvSpPr>
        <p:spPr>
          <a:xfrm>
            <a:off x="594360" y="7188200"/>
            <a:ext cx="13441680" cy="431800"/>
          </a:xfrm>
          <a:prstGeom prst="rect">
            <a:avLst/>
          </a:prstGeom>
          <a:noFill/>
        </p:spPr>
        <p:txBody>
          <a:bodyPr vertOverflow="overflow" vert="horz" wrap="square" rtlCol="0" anchor="t">
            <a:spAutoFit/>
          </a:bodyPr>
          <a:lstStyle/>
          <a:p>
            <a:pPr algn="l"/>
            <a:r>
              <a:rPr lang="en-US" sz="2100">
                <a:solidFill>
                  <a:srgbClr val="4F6670"/>
                </a:solidFill>
                <a:latin typeface="Barlow"/>
              </a:rPr>
              <a:t>Scope: the stated RT deployment gap—not a claim that RT lacks asset features.</a:t>
            </a:r>
            <a:endParaRPr lang="en-JP" sz="2100">
              <a:solidFill>
                <a:srgbClr val="4F6670"/>
              </a:solidFill>
              <a:latin typeface="Barlow"/>
            </a:endParaRPr>
          </a:p>
        </p:txBody>
      </p:sp>
    </p:spTree>
    <p:extLst>
      <p:ext uri="{BB962C8B-B14F-4D97-AF65-F5344CB8AC3E}">
        <p14:creationId xmlns:p14="http://schemas.microsoft.com/office/powerpoint/2010/main" val="1515203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1244600"/>
            <a:ext cx="1143000" cy="254000"/>
          </a:xfrm>
          <a:prstGeom prst="rect">
            <a:avLst/>
          </a:prstGeom>
          <a:noFill/>
        </p:spPr>
        <p:txBody>
          <a:bodyPr wrap="none" lIns="0" tIns="0" rIns="0" bIns="0">
            <a:spAutoFit/>
          </a:bodyPr>
          <a:lstStyle/>
          <a:p>
            <a:pPr>
              <a:lnSpc>
                <a:spcPts val="1439"/>
              </a:lnSpc>
              <a:spcBef>
                <a:spcPts val="0"/>
              </a:spcBef>
              <a:spcAft>
                <a:spcPts val="0"/>
              </a:spcAft>
              <a:defRPr sz="1200" b="1">
                <a:solidFill>
                  <a:srgbClr val="00708A"/>
                </a:solidFill>
                <a:latin typeface="Barlow"/>
              </a:defRPr>
            </a:pPr>
            <a:r>
              <a:t>SERVICEOPS</a:t>
            </a:r>
          </a:p>
        </p:txBody>
      </p:sp>
      <p:sp>
        <p:nvSpPr>
          <p:cNvPr id="4" name="TextBox 3"/>
          <p:cNvSpPr txBox="1"/>
          <p:nvPr/>
        </p:nvSpPr>
        <p:spPr>
          <a:xfrm>
            <a:off x="1625600" y="1244600"/>
            <a:ext cx="3488134" cy="179536"/>
          </a:xfrm>
          <a:prstGeom prst="rect">
            <a:avLst/>
          </a:prstGeom>
          <a:noFill/>
        </p:spPr>
        <p:txBody>
          <a:bodyPr wrap="none" lIns="0" tIns="0" rIns="0" bIns="0">
            <a:spAutoFit/>
          </a:bodyPr>
          <a:lstStyle/>
          <a:p>
            <a:pPr>
              <a:lnSpc>
                <a:spcPts val="1439"/>
              </a:lnSpc>
              <a:spcBef>
                <a:spcPts val="0"/>
              </a:spcBef>
              <a:spcAft>
                <a:spcPts val="0"/>
              </a:spcAft>
              <a:defRPr sz="1200" b="1">
                <a:solidFill>
                  <a:srgbClr val="4F6670"/>
                </a:solidFill>
                <a:latin typeface="Barlow"/>
              </a:defRPr>
            </a:pPr>
            <a:r>
              <a:rPr lang="en-US"/>
              <a:t>CMDB / CONFIGURATION MANAGEMENT DATABASE</a:t>
            </a:r>
            <a:endParaRPr/>
          </a:p>
        </p:txBody>
      </p:sp>
      <p:sp>
        <p:nvSpPr>
          <p:cNvPr id="5" name="TextBox 4"/>
          <p:cNvSpPr txBox="1"/>
          <p:nvPr/>
        </p:nvSpPr>
        <p:spPr>
          <a:xfrm>
            <a:off x="508000" y="304800"/>
            <a:ext cx="7723268" cy="412934"/>
          </a:xfrm>
          <a:prstGeom prst="rect">
            <a:avLst/>
          </a:prstGeom>
          <a:noFill/>
        </p:spPr>
        <p:txBody>
          <a:bodyPr wrap="none" lIns="0" tIns="0" rIns="0" bIns="0">
            <a:spAutoFit/>
          </a:bodyPr>
          <a:lstStyle/>
          <a:p>
            <a:pPr>
              <a:lnSpc>
                <a:spcPts val="3600"/>
              </a:lnSpc>
              <a:spcBef>
                <a:spcPts val="0"/>
              </a:spcBef>
              <a:spcAft>
                <a:spcPts val="0"/>
              </a:spcAft>
              <a:defRPr sz="2600" b="1">
                <a:solidFill>
                  <a:srgbClr val="0B3C4C"/>
                </a:solidFill>
                <a:latin typeface="Barlow"/>
              </a:defRPr>
            </a:pPr>
            <a:r>
              <a:rPr lang="en-US"/>
              <a:t>CMDB connects ServiceOps through shared context.</a:t>
            </a:r>
            <a:endParaRPr/>
          </a:p>
        </p:txBody>
      </p:sp>
      <p:sp>
        <p:nvSpPr>
          <p:cNvPr id="6" name="Rectangle 5"/>
          <p:cNvSpPr/>
          <p:nvPr/>
        </p:nvSpPr>
        <p:spPr>
          <a:xfrm>
            <a:off x="502920" y="7790688"/>
            <a:ext cx="13624560" cy="10972"/>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7918704"/>
            <a:ext cx="10972800" cy="215900"/>
          </a:xfrm>
          <a:prstGeom prst="rect">
            <a:avLst/>
          </a:prstGeom>
          <a:noFill/>
        </p:spPr>
        <p:txBody>
          <a:bodyPr wrap="none" lIns="0" tIns="0" rIns="0" bIns="0">
            <a:spAutoFit/>
          </a:bodyPr>
          <a:lstStyle/>
          <a:p>
            <a:pPr>
              <a:lnSpc>
                <a:spcPts val="1200"/>
              </a:lnSpc>
              <a:spcBef>
                <a:spcPts val="0"/>
              </a:spcBef>
              <a:spcAft>
                <a:spcPts val="0"/>
              </a:spcAft>
              <a:defRPr sz="1000" b="0">
                <a:solidFill>
                  <a:srgbClr val="4F6670"/>
                </a:solidFill>
                <a:latin typeface="Barlow"/>
              </a:defRPr>
            </a:pPr>
            <a:r>
              <a:t>Anushka Wijesundara / Product overview / October 2026</a:t>
            </a:r>
          </a:p>
        </p:txBody>
      </p:sp>
      <p:sp>
        <p:nvSpPr>
          <p:cNvPr id="8" name="TextBox 7"/>
          <p:cNvSpPr txBox="1"/>
          <p:nvPr/>
        </p:nvSpPr>
        <p:spPr>
          <a:xfrm>
            <a:off x="13556416" y="7918704"/>
            <a:ext cx="578684" cy="153888"/>
          </a:xfrm>
          <a:prstGeom prst="rect">
            <a:avLst/>
          </a:prstGeom>
          <a:noFill/>
        </p:spPr>
        <p:txBody>
          <a:bodyPr wrap="none" lIns="0" tIns="0" rIns="0" bIns="0">
            <a:spAutoFit/>
          </a:bodyPr>
          <a:lstStyle/>
          <a:p>
            <a:pPr algn="r">
              <a:lnSpc>
                <a:spcPts val="1200"/>
              </a:lnSpc>
              <a:spcBef>
                <a:spcPts val="0"/>
              </a:spcBef>
              <a:spcAft>
                <a:spcPts val="0"/>
              </a:spcAft>
              <a:defRPr sz="1000" b="1">
                <a:solidFill>
                  <a:srgbClr val="00708A"/>
                </a:solidFill>
                <a:latin typeface="Barlow"/>
              </a:defRPr>
            </a:pPr>
            <a:r>
              <a:rPr lang="en-US"/>
              <a:t>07 / CMDB</a:t>
            </a:r>
            <a:endParaRPr/>
          </a:p>
        </p:txBody>
      </p:sp>
      <p:sp>
        <p:nvSpPr>
          <p:cNvPr id="901" name="JNX Rule"/>
          <p:cNvSpPr/>
          <p:nvPr/>
        </p:nvSpPr>
        <p:spPr>
          <a:xfrm>
            <a:off x="508000" y="1016000"/>
            <a:ext cx="13627100" cy="19050"/>
          </a:xfrm>
          <a:prstGeom prst="rect">
            <a:avLst/>
          </a:prstGeom>
          <a:solidFill>
            <a:srgbClr val="0B3C4C"/>
          </a:solidFill>
          <a:ln>
            <a:noFill/>
          </a:ln>
        </p:spPr>
        <p:txBody>
          <a:bodyPr/>
          <a:lstStyle/>
          <a:p>
            <a:endParaRPr lang="en-JP"/>
          </a:p>
        </p:txBody>
      </p:sp>
      <p:pic>
        <p:nvPicPr>
          <p:cNvPr id="902" name="Copied Picture 902" descr="Japannext JNX logo">
            <a:extLst>
              <a:ext uri="{FF2B5EF4-FFF2-40B4-BE49-F238E27FC236}">
                <a16:creationId xmlns:a16="http://schemas.microsoft.com/office/drawing/2014/main" id="{429122C2-2B95-92FB-9A5C-2E92C9458AAC}"/>
              </a:ext>
            </a:extLst>
          </p:cNvPr>
          <p:cNvPicPr>
            <a:picLocks noChangeAspect="1"/>
          </p:cNvPicPr>
          <p:nvPr/>
        </p:nvPicPr>
        <p:blipFill>
          <a:blip r:embed="rId3">
            <a:clrChange>
              <a:clrFrom>
                <a:srgbClr val="FFFFFF"/>
              </a:clrFrom>
              <a:clrTo>
                <a:srgbClr val="FFFFFF">
                  <a:alpha val="0"/>
                </a:srgbClr>
              </a:clrTo>
            </a:clrChange>
          </a:blip>
          <a:srcRect l="13500" t="21500" r="13800" b="22500"/>
          <a:stretch>
            <a:fillRect/>
          </a:stretch>
        </p:blipFill>
        <p:spPr>
          <a:xfrm>
            <a:off x="12725400" y="254000"/>
            <a:ext cx="1409700" cy="660400"/>
          </a:xfrm>
          <a:prstGeom prst="rect">
            <a:avLst/>
          </a:prstGeom>
        </p:spPr>
      </p:pic>
      <p:sp>
        <p:nvSpPr>
          <p:cNvPr id="24" name="Rectangle 23">
            <a:extLst>
              <a:ext uri="{FF2B5EF4-FFF2-40B4-BE49-F238E27FC236}">
                <a16:creationId xmlns:a16="http://schemas.microsoft.com/office/drawing/2014/main" id="{C2F81215-E6A2-3741-A1F4-7FD6474CD546}"/>
              </a:ext>
            </a:extLst>
          </p:cNvPr>
          <p:cNvSpPr/>
          <p:nvPr/>
        </p:nvSpPr>
        <p:spPr>
          <a:xfrm rot="16200000">
            <a:off x="7112000" y="3530600"/>
            <a:ext cx="406400" cy="25400"/>
          </a:xfrm>
          <a:prstGeom prst="rect">
            <a:avLst/>
          </a:prstGeom>
          <a:solidFill>
            <a:srgbClr val="007F99"/>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JP"/>
          </a:p>
        </p:txBody>
      </p:sp>
      <p:sp>
        <p:nvSpPr>
          <p:cNvPr id="25" name="Rectangle 24">
            <a:extLst>
              <a:ext uri="{FF2B5EF4-FFF2-40B4-BE49-F238E27FC236}">
                <a16:creationId xmlns:a16="http://schemas.microsoft.com/office/drawing/2014/main" id="{5A3EA091-35E7-FD41-8D0E-0A19DF14AF11}"/>
              </a:ext>
            </a:extLst>
          </p:cNvPr>
          <p:cNvSpPr/>
          <p:nvPr/>
        </p:nvSpPr>
        <p:spPr>
          <a:xfrm rot="20130486">
            <a:off x="8039799" y="3865359"/>
            <a:ext cx="1876151" cy="25400"/>
          </a:xfrm>
          <a:prstGeom prst="rect">
            <a:avLst/>
          </a:prstGeom>
          <a:solidFill>
            <a:srgbClr val="007F99"/>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JP"/>
          </a:p>
        </p:txBody>
      </p:sp>
      <p:sp>
        <p:nvSpPr>
          <p:cNvPr id="26" name="Rectangle 25">
            <a:extLst>
              <a:ext uri="{FF2B5EF4-FFF2-40B4-BE49-F238E27FC236}">
                <a16:creationId xmlns:a16="http://schemas.microsoft.com/office/drawing/2014/main" id="{5E717051-11C0-7148-8D10-6F2E63E5F6B5}"/>
              </a:ext>
            </a:extLst>
          </p:cNvPr>
          <p:cNvSpPr/>
          <p:nvPr/>
        </p:nvSpPr>
        <p:spPr>
          <a:xfrm>
            <a:off x="8204200" y="4622800"/>
            <a:ext cx="2895600" cy="25400"/>
          </a:xfrm>
          <a:prstGeom prst="rect">
            <a:avLst/>
          </a:prstGeom>
          <a:solidFill>
            <a:srgbClr val="007F99"/>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JP"/>
          </a:p>
        </p:txBody>
      </p:sp>
      <p:sp>
        <p:nvSpPr>
          <p:cNvPr id="27" name="Rectangle 26">
            <a:extLst>
              <a:ext uri="{FF2B5EF4-FFF2-40B4-BE49-F238E27FC236}">
                <a16:creationId xmlns:a16="http://schemas.microsoft.com/office/drawing/2014/main" id="{66CA31B9-AD16-CD4C-A464-3663B5CCB56D}"/>
              </a:ext>
            </a:extLst>
          </p:cNvPr>
          <p:cNvSpPr/>
          <p:nvPr/>
        </p:nvSpPr>
        <p:spPr>
          <a:xfrm rot="1469514">
            <a:off x="8039799" y="5380240"/>
            <a:ext cx="1876151" cy="25400"/>
          </a:xfrm>
          <a:prstGeom prst="rect">
            <a:avLst/>
          </a:prstGeom>
          <a:solidFill>
            <a:srgbClr val="007F99"/>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JP"/>
          </a:p>
        </p:txBody>
      </p:sp>
      <p:sp>
        <p:nvSpPr>
          <p:cNvPr id="28" name="Rectangle 27">
            <a:extLst>
              <a:ext uri="{FF2B5EF4-FFF2-40B4-BE49-F238E27FC236}">
                <a16:creationId xmlns:a16="http://schemas.microsoft.com/office/drawing/2014/main" id="{CE38A80E-E4D0-1640-A3DB-F339038756E1}"/>
              </a:ext>
            </a:extLst>
          </p:cNvPr>
          <p:cNvSpPr/>
          <p:nvPr/>
        </p:nvSpPr>
        <p:spPr>
          <a:xfrm rot="5400000">
            <a:off x="7112000" y="5715000"/>
            <a:ext cx="406400" cy="25400"/>
          </a:xfrm>
          <a:prstGeom prst="rect">
            <a:avLst/>
          </a:prstGeom>
          <a:solidFill>
            <a:srgbClr val="007F99"/>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JP"/>
          </a:p>
        </p:txBody>
      </p:sp>
      <p:sp>
        <p:nvSpPr>
          <p:cNvPr id="29" name="Rectangle 28">
            <a:extLst>
              <a:ext uri="{FF2B5EF4-FFF2-40B4-BE49-F238E27FC236}">
                <a16:creationId xmlns:a16="http://schemas.microsoft.com/office/drawing/2014/main" id="{7058A87C-2FE3-4341-918C-98A6788D810A}"/>
              </a:ext>
            </a:extLst>
          </p:cNvPr>
          <p:cNvSpPr/>
          <p:nvPr/>
        </p:nvSpPr>
        <p:spPr>
          <a:xfrm rot="9330486">
            <a:off x="4714449" y="5380240"/>
            <a:ext cx="1876151" cy="25400"/>
          </a:xfrm>
          <a:prstGeom prst="rect">
            <a:avLst/>
          </a:prstGeom>
          <a:solidFill>
            <a:srgbClr val="007F99"/>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JP"/>
          </a:p>
        </p:txBody>
      </p:sp>
      <p:sp>
        <p:nvSpPr>
          <p:cNvPr id="30" name="Rectangle 29">
            <a:extLst>
              <a:ext uri="{FF2B5EF4-FFF2-40B4-BE49-F238E27FC236}">
                <a16:creationId xmlns:a16="http://schemas.microsoft.com/office/drawing/2014/main" id="{F8B72A61-4F9F-2F4D-9997-672B4AC51C82}"/>
              </a:ext>
            </a:extLst>
          </p:cNvPr>
          <p:cNvSpPr/>
          <p:nvPr/>
        </p:nvSpPr>
        <p:spPr>
          <a:xfrm rot="10800000">
            <a:off x="3530600" y="4622800"/>
            <a:ext cx="2895600" cy="25400"/>
          </a:xfrm>
          <a:prstGeom prst="rect">
            <a:avLst/>
          </a:prstGeom>
          <a:solidFill>
            <a:srgbClr val="007F99"/>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JP"/>
          </a:p>
        </p:txBody>
      </p:sp>
      <p:sp>
        <p:nvSpPr>
          <p:cNvPr id="31" name="Rectangle 30">
            <a:extLst>
              <a:ext uri="{FF2B5EF4-FFF2-40B4-BE49-F238E27FC236}">
                <a16:creationId xmlns:a16="http://schemas.microsoft.com/office/drawing/2014/main" id="{7031FB5C-4976-0442-BC5A-3A3EE9FE7084}"/>
              </a:ext>
            </a:extLst>
          </p:cNvPr>
          <p:cNvSpPr/>
          <p:nvPr/>
        </p:nvSpPr>
        <p:spPr>
          <a:xfrm rot="12269514">
            <a:off x="4714449" y="3865359"/>
            <a:ext cx="1876151" cy="25400"/>
          </a:xfrm>
          <a:prstGeom prst="rect">
            <a:avLst/>
          </a:prstGeom>
          <a:solidFill>
            <a:srgbClr val="007F99"/>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JP"/>
          </a:p>
        </p:txBody>
      </p:sp>
      <p:sp>
        <p:nvSpPr>
          <p:cNvPr id="32" name="Oval 31">
            <a:extLst>
              <a:ext uri="{FF2B5EF4-FFF2-40B4-BE49-F238E27FC236}">
                <a16:creationId xmlns:a16="http://schemas.microsoft.com/office/drawing/2014/main" id="{0F79BADC-3E5C-D141-81B2-9CAA5C2C7FB5}"/>
              </a:ext>
            </a:extLst>
          </p:cNvPr>
          <p:cNvSpPr/>
          <p:nvPr/>
        </p:nvSpPr>
        <p:spPr>
          <a:xfrm>
            <a:off x="6565900" y="1803400"/>
            <a:ext cx="1498600" cy="1498600"/>
          </a:xfrm>
          <a:prstGeom prst="ellipse">
            <a:avLst/>
          </a:prstGeom>
          <a:solidFill>
            <a:srgbClr val="EDF3F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rtlCol="0" anchor="ctr" anchorCtr="0">
            <a:noAutofit/>
          </a:bodyPr>
          <a:lstStyle/>
          <a:p>
            <a:pPr algn="l"/>
            <a:r>
              <a:rPr lang="en-US" b="1">
                <a:solidFill>
                  <a:srgbClr val="0B3C4C"/>
                </a:solidFill>
                <a:latin typeface="Barlow"/>
              </a:rPr>
              <a:t>Incident
Management</a:t>
            </a:r>
            <a:endParaRPr lang="en-JP" b="1">
              <a:solidFill>
                <a:srgbClr val="0B3C4C"/>
              </a:solidFill>
              <a:latin typeface="Barlow"/>
            </a:endParaRPr>
          </a:p>
        </p:txBody>
      </p:sp>
      <p:sp>
        <p:nvSpPr>
          <p:cNvPr id="33" name="Oval 32">
            <a:extLst>
              <a:ext uri="{FF2B5EF4-FFF2-40B4-BE49-F238E27FC236}">
                <a16:creationId xmlns:a16="http://schemas.microsoft.com/office/drawing/2014/main" id="{993FB3A2-96FF-BA4F-B519-0A2047F8CECA}"/>
              </a:ext>
            </a:extLst>
          </p:cNvPr>
          <p:cNvSpPr/>
          <p:nvPr/>
        </p:nvSpPr>
        <p:spPr>
          <a:xfrm>
            <a:off x="9798792" y="2413437"/>
            <a:ext cx="1498600" cy="1498600"/>
          </a:xfrm>
          <a:prstGeom prst="ellipse">
            <a:avLst/>
          </a:prstGeom>
          <a:solidFill>
            <a:srgbClr val="EDF3F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rtlCol="0" anchor="ctr" anchorCtr="0">
            <a:noAutofit/>
          </a:bodyPr>
          <a:lstStyle/>
          <a:p>
            <a:pPr algn="l"/>
            <a:r>
              <a:rPr lang="en-US" b="1">
                <a:solidFill>
                  <a:srgbClr val="0B3C4C"/>
                </a:solidFill>
                <a:latin typeface="Barlow"/>
              </a:rPr>
              <a:t>Service Desk</a:t>
            </a:r>
            <a:endParaRPr lang="en-JP" b="1">
              <a:solidFill>
                <a:srgbClr val="0B3C4C"/>
              </a:solidFill>
              <a:latin typeface="Barlow"/>
            </a:endParaRPr>
          </a:p>
        </p:txBody>
      </p:sp>
      <p:sp>
        <p:nvSpPr>
          <p:cNvPr id="34" name="Oval 33">
            <a:extLst>
              <a:ext uri="{FF2B5EF4-FFF2-40B4-BE49-F238E27FC236}">
                <a16:creationId xmlns:a16="http://schemas.microsoft.com/office/drawing/2014/main" id="{D526CD5B-0252-C34B-8882-9B46E71CC15A}"/>
              </a:ext>
            </a:extLst>
          </p:cNvPr>
          <p:cNvSpPr/>
          <p:nvPr/>
        </p:nvSpPr>
        <p:spPr>
          <a:xfrm>
            <a:off x="11137900" y="3886200"/>
            <a:ext cx="1498600" cy="1498600"/>
          </a:xfrm>
          <a:prstGeom prst="ellipse">
            <a:avLst/>
          </a:prstGeom>
          <a:solidFill>
            <a:srgbClr val="EDF3F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rtlCol="0" anchor="ctr" anchorCtr="0">
            <a:noAutofit/>
          </a:bodyPr>
          <a:lstStyle/>
          <a:p>
            <a:pPr algn="l"/>
            <a:r>
              <a:rPr lang="en-US" b="1">
                <a:solidFill>
                  <a:srgbClr val="0B3C4C"/>
                </a:solidFill>
                <a:latin typeface="Barlow"/>
              </a:rPr>
              <a:t>IT Service
Continuity
Management</a:t>
            </a:r>
            <a:endParaRPr lang="en-JP" b="1">
              <a:solidFill>
                <a:srgbClr val="0B3C4C"/>
              </a:solidFill>
              <a:latin typeface="Barlow"/>
            </a:endParaRPr>
          </a:p>
        </p:txBody>
      </p:sp>
      <p:sp>
        <p:nvSpPr>
          <p:cNvPr id="35" name="Oval 34">
            <a:extLst>
              <a:ext uri="{FF2B5EF4-FFF2-40B4-BE49-F238E27FC236}">
                <a16:creationId xmlns:a16="http://schemas.microsoft.com/office/drawing/2014/main" id="{C4D66268-64A3-6D42-A213-AADE79FA3A6D}"/>
              </a:ext>
            </a:extLst>
          </p:cNvPr>
          <p:cNvSpPr/>
          <p:nvPr/>
        </p:nvSpPr>
        <p:spPr>
          <a:xfrm>
            <a:off x="9798792" y="5358962"/>
            <a:ext cx="1498600" cy="1498600"/>
          </a:xfrm>
          <a:prstGeom prst="ellipse">
            <a:avLst/>
          </a:prstGeom>
          <a:solidFill>
            <a:srgbClr val="EDF3F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rtlCol="0" anchor="ctr" anchorCtr="0">
            <a:noAutofit/>
          </a:bodyPr>
          <a:lstStyle/>
          <a:p>
            <a:pPr algn="l"/>
            <a:r>
              <a:rPr lang="en-US" b="1">
                <a:solidFill>
                  <a:srgbClr val="0B3C4C"/>
                </a:solidFill>
                <a:latin typeface="Barlow"/>
              </a:rPr>
              <a:t>Availability
Management</a:t>
            </a:r>
            <a:endParaRPr lang="en-JP" b="1">
              <a:solidFill>
                <a:srgbClr val="0B3C4C"/>
              </a:solidFill>
              <a:latin typeface="Barlow"/>
            </a:endParaRPr>
          </a:p>
        </p:txBody>
      </p:sp>
      <p:sp>
        <p:nvSpPr>
          <p:cNvPr id="36" name="Oval 35">
            <a:extLst>
              <a:ext uri="{FF2B5EF4-FFF2-40B4-BE49-F238E27FC236}">
                <a16:creationId xmlns:a16="http://schemas.microsoft.com/office/drawing/2014/main" id="{C23E10E6-BBFE-8C4E-BC68-B6C51D095905}"/>
              </a:ext>
            </a:extLst>
          </p:cNvPr>
          <p:cNvSpPr/>
          <p:nvPr/>
        </p:nvSpPr>
        <p:spPr>
          <a:xfrm>
            <a:off x="6565900" y="5969000"/>
            <a:ext cx="1498600" cy="1498600"/>
          </a:xfrm>
          <a:prstGeom prst="ellipse">
            <a:avLst/>
          </a:prstGeom>
          <a:solidFill>
            <a:srgbClr val="EDF3F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rtlCol="0" anchor="ctr" anchorCtr="0">
            <a:noAutofit/>
          </a:bodyPr>
          <a:lstStyle/>
          <a:p>
            <a:pPr algn="l"/>
            <a:r>
              <a:rPr lang="en-US" b="1">
                <a:solidFill>
                  <a:srgbClr val="0B3C4C"/>
                </a:solidFill>
                <a:latin typeface="Barlow"/>
              </a:rPr>
              <a:t>Knowledge
Base</a:t>
            </a:r>
            <a:endParaRPr lang="en-JP" b="1">
              <a:solidFill>
                <a:srgbClr val="0B3C4C"/>
              </a:solidFill>
              <a:latin typeface="Barlow"/>
            </a:endParaRPr>
          </a:p>
        </p:txBody>
      </p:sp>
      <p:sp>
        <p:nvSpPr>
          <p:cNvPr id="37" name="Oval 36">
            <a:extLst>
              <a:ext uri="{FF2B5EF4-FFF2-40B4-BE49-F238E27FC236}">
                <a16:creationId xmlns:a16="http://schemas.microsoft.com/office/drawing/2014/main" id="{0A07DFAE-C8DC-7A43-BED4-0C209B01F4D8}"/>
              </a:ext>
            </a:extLst>
          </p:cNvPr>
          <p:cNvSpPr/>
          <p:nvPr/>
        </p:nvSpPr>
        <p:spPr>
          <a:xfrm>
            <a:off x="3333007" y="5358962"/>
            <a:ext cx="1498600" cy="1498600"/>
          </a:xfrm>
          <a:prstGeom prst="ellipse">
            <a:avLst/>
          </a:prstGeom>
          <a:solidFill>
            <a:srgbClr val="EDF3F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rtlCol="0" anchor="ctr" anchorCtr="0">
            <a:noAutofit/>
          </a:bodyPr>
          <a:lstStyle/>
          <a:p>
            <a:pPr algn="l"/>
            <a:r>
              <a:rPr lang="en-US" b="1">
                <a:solidFill>
                  <a:srgbClr val="0B3C4C"/>
                </a:solidFill>
                <a:latin typeface="Barlow"/>
              </a:rPr>
              <a:t>Change
Workflow</a:t>
            </a:r>
            <a:endParaRPr lang="en-JP" b="1">
              <a:solidFill>
                <a:srgbClr val="0B3C4C"/>
              </a:solidFill>
              <a:latin typeface="Barlow"/>
            </a:endParaRPr>
          </a:p>
        </p:txBody>
      </p:sp>
      <p:sp>
        <p:nvSpPr>
          <p:cNvPr id="38" name="Oval 37">
            <a:extLst>
              <a:ext uri="{FF2B5EF4-FFF2-40B4-BE49-F238E27FC236}">
                <a16:creationId xmlns:a16="http://schemas.microsoft.com/office/drawing/2014/main" id="{9B085DA5-1A17-7447-903E-FD19F35F9CC8}"/>
              </a:ext>
            </a:extLst>
          </p:cNvPr>
          <p:cNvSpPr/>
          <p:nvPr/>
        </p:nvSpPr>
        <p:spPr>
          <a:xfrm>
            <a:off x="1993900" y="3886200"/>
            <a:ext cx="1498600" cy="1498600"/>
          </a:xfrm>
          <a:prstGeom prst="ellipse">
            <a:avLst/>
          </a:prstGeom>
          <a:solidFill>
            <a:srgbClr val="EDF3F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rtlCol="0" anchor="ctr" anchorCtr="0">
            <a:noAutofit/>
          </a:bodyPr>
          <a:lstStyle/>
          <a:p>
            <a:pPr algn="l"/>
            <a:r>
              <a:rPr lang="en-US" b="1">
                <a:solidFill>
                  <a:srgbClr val="0B3C4C"/>
                </a:solidFill>
                <a:latin typeface="Barlow"/>
              </a:rPr>
              <a:t>Threshold
Monitoring</a:t>
            </a:r>
            <a:endParaRPr lang="en-JP" b="1">
              <a:solidFill>
                <a:srgbClr val="0B3C4C"/>
              </a:solidFill>
              <a:latin typeface="Barlow"/>
            </a:endParaRPr>
          </a:p>
        </p:txBody>
      </p:sp>
      <p:sp>
        <p:nvSpPr>
          <p:cNvPr id="39" name="Oval 38">
            <a:extLst>
              <a:ext uri="{FF2B5EF4-FFF2-40B4-BE49-F238E27FC236}">
                <a16:creationId xmlns:a16="http://schemas.microsoft.com/office/drawing/2014/main" id="{C51D02D4-93F0-CC47-9B29-DC75C088220A}"/>
              </a:ext>
            </a:extLst>
          </p:cNvPr>
          <p:cNvSpPr/>
          <p:nvPr/>
        </p:nvSpPr>
        <p:spPr>
          <a:xfrm>
            <a:off x="3333007" y="2413437"/>
            <a:ext cx="1498600" cy="1498600"/>
          </a:xfrm>
          <a:prstGeom prst="ellipse">
            <a:avLst/>
          </a:prstGeom>
          <a:solidFill>
            <a:srgbClr val="EDF3F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rtlCol="0" anchor="ctr" anchorCtr="0">
            <a:noAutofit/>
          </a:bodyPr>
          <a:lstStyle/>
          <a:p>
            <a:pPr algn="l"/>
            <a:r>
              <a:rPr lang="en-US" b="1">
                <a:solidFill>
                  <a:srgbClr val="0B3C4C"/>
                </a:solidFill>
                <a:latin typeface="Barlow"/>
              </a:rPr>
              <a:t>Service Level
Agreements</a:t>
            </a:r>
            <a:endParaRPr lang="en-JP" b="1">
              <a:solidFill>
                <a:srgbClr val="0B3C4C"/>
              </a:solidFill>
              <a:latin typeface="Barlow"/>
            </a:endParaRPr>
          </a:p>
        </p:txBody>
      </p:sp>
      <p:sp>
        <p:nvSpPr>
          <p:cNvPr id="40" name="Oval 39">
            <a:extLst>
              <a:ext uri="{FF2B5EF4-FFF2-40B4-BE49-F238E27FC236}">
                <a16:creationId xmlns:a16="http://schemas.microsoft.com/office/drawing/2014/main" id="{7C685A38-2D0D-5A46-BECF-60EB0DF1856A}"/>
              </a:ext>
            </a:extLst>
          </p:cNvPr>
          <p:cNvSpPr/>
          <p:nvPr/>
        </p:nvSpPr>
        <p:spPr>
          <a:xfrm>
            <a:off x="6464300" y="3784600"/>
            <a:ext cx="1701800" cy="1701800"/>
          </a:xfrm>
          <a:prstGeom prst="ellipse">
            <a:avLst/>
          </a:prstGeom>
          <a:solidFill>
            <a:srgbClr val="0B3C4C"/>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rtlCol="0" anchor="ctr" anchorCtr="0">
            <a:noAutofit/>
          </a:bodyPr>
          <a:lstStyle/>
          <a:p>
            <a:pPr algn="l"/>
            <a:r>
              <a:rPr lang="en-US" sz="3000" b="1">
                <a:solidFill>
                  <a:srgbClr val="FFFFFF"/>
                </a:solidFill>
                <a:latin typeface="Barlow"/>
              </a:rPr>
              <a:t>CMDB</a:t>
            </a:r>
            <a:endParaRPr lang="en-JP" sz="3000" b="1">
              <a:solidFill>
                <a:srgbClr val="FFFFFF"/>
              </a:solidFill>
              <a:latin typeface="Barlow"/>
            </a:endParaRPr>
          </a:p>
        </p:txBody>
      </p:sp>
    </p:spTree>
    <p:extLst>
      <p:ext uri="{BB962C8B-B14F-4D97-AF65-F5344CB8AC3E}">
        <p14:creationId xmlns:p14="http://schemas.microsoft.com/office/powerpoint/2010/main" val="1424327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1244600"/>
            <a:ext cx="1143000" cy="254000"/>
          </a:xfrm>
          <a:prstGeom prst="rect">
            <a:avLst/>
          </a:prstGeom>
          <a:noFill/>
        </p:spPr>
        <p:txBody>
          <a:bodyPr wrap="none" lIns="0" tIns="0" rIns="0" bIns="0">
            <a:spAutoFit/>
          </a:bodyPr>
          <a:lstStyle/>
          <a:p>
            <a:pPr>
              <a:lnSpc>
                <a:spcPts val="1439"/>
              </a:lnSpc>
              <a:spcBef>
                <a:spcPts val="0"/>
              </a:spcBef>
              <a:spcAft>
                <a:spcPts val="0"/>
              </a:spcAft>
              <a:defRPr sz="1200" b="1">
                <a:solidFill>
                  <a:srgbClr val="00708A"/>
                </a:solidFill>
                <a:latin typeface="Barlow"/>
              </a:defRPr>
            </a:pPr>
            <a:r>
              <a:t>SERVICEOPS</a:t>
            </a:r>
          </a:p>
        </p:txBody>
      </p:sp>
      <p:sp>
        <p:nvSpPr>
          <p:cNvPr id="4" name="TextBox 3"/>
          <p:cNvSpPr txBox="1"/>
          <p:nvPr/>
        </p:nvSpPr>
        <p:spPr>
          <a:xfrm>
            <a:off x="1625600" y="1244600"/>
            <a:ext cx="2422138" cy="179536"/>
          </a:xfrm>
          <a:prstGeom prst="rect">
            <a:avLst/>
          </a:prstGeom>
          <a:noFill/>
        </p:spPr>
        <p:txBody>
          <a:bodyPr wrap="none" lIns="0" tIns="0" rIns="0" bIns="0">
            <a:spAutoFit/>
          </a:bodyPr>
          <a:lstStyle/>
          <a:p>
            <a:pPr>
              <a:lnSpc>
                <a:spcPts val="1439"/>
              </a:lnSpc>
              <a:spcBef>
                <a:spcPts val="0"/>
              </a:spcBef>
              <a:spcAft>
                <a:spcPts val="0"/>
              </a:spcAft>
              <a:defRPr sz="1200" b="1">
                <a:solidFill>
                  <a:srgbClr val="4F6670"/>
                </a:solidFill>
                <a:latin typeface="Barlow"/>
              </a:defRPr>
            </a:pPr>
            <a:r>
              <a:rPr lang="en-US"/>
              <a:t>DEPENDENCIES BEFORE DECISIONS</a:t>
            </a:r>
            <a:endParaRPr/>
          </a:p>
        </p:txBody>
      </p:sp>
      <p:sp>
        <p:nvSpPr>
          <p:cNvPr id="5" name="TextBox 4"/>
          <p:cNvSpPr txBox="1"/>
          <p:nvPr/>
        </p:nvSpPr>
        <p:spPr>
          <a:xfrm>
            <a:off x="508000" y="304800"/>
            <a:ext cx="7476406" cy="412934"/>
          </a:xfrm>
          <a:prstGeom prst="rect">
            <a:avLst/>
          </a:prstGeom>
          <a:noFill/>
        </p:spPr>
        <p:txBody>
          <a:bodyPr wrap="none" lIns="0" tIns="0" rIns="0" bIns="0">
            <a:spAutoFit/>
          </a:bodyPr>
          <a:lstStyle/>
          <a:p>
            <a:pPr>
              <a:lnSpc>
                <a:spcPts val="3600"/>
              </a:lnSpc>
              <a:spcBef>
                <a:spcPts val="0"/>
              </a:spcBef>
              <a:spcAft>
                <a:spcPts val="0"/>
              </a:spcAft>
              <a:defRPr sz="2600" b="1">
                <a:solidFill>
                  <a:srgbClr val="0B3C4C"/>
                </a:solidFill>
                <a:latin typeface="Barlow"/>
              </a:defRPr>
            </a:pPr>
            <a:r>
              <a:rPr lang="en-US"/>
              <a:t>See what a change could affect—not just its ticket.</a:t>
            </a:r>
            <a:endParaRPr/>
          </a:p>
        </p:txBody>
      </p:sp>
      <p:sp>
        <p:nvSpPr>
          <p:cNvPr id="6" name="Rectangle 5"/>
          <p:cNvSpPr/>
          <p:nvPr/>
        </p:nvSpPr>
        <p:spPr>
          <a:xfrm>
            <a:off x="502920" y="7790688"/>
            <a:ext cx="13624560" cy="10972"/>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7918704"/>
            <a:ext cx="10972800" cy="215900"/>
          </a:xfrm>
          <a:prstGeom prst="rect">
            <a:avLst/>
          </a:prstGeom>
          <a:noFill/>
        </p:spPr>
        <p:txBody>
          <a:bodyPr wrap="none" lIns="0" tIns="0" rIns="0" bIns="0">
            <a:spAutoFit/>
          </a:bodyPr>
          <a:lstStyle/>
          <a:p>
            <a:pPr>
              <a:lnSpc>
                <a:spcPts val="1200"/>
              </a:lnSpc>
              <a:spcBef>
                <a:spcPts val="0"/>
              </a:spcBef>
              <a:spcAft>
                <a:spcPts val="0"/>
              </a:spcAft>
              <a:defRPr sz="1000" b="0">
                <a:solidFill>
                  <a:srgbClr val="4F6670"/>
                </a:solidFill>
                <a:latin typeface="Barlow"/>
              </a:defRPr>
            </a:pPr>
            <a:r>
              <a:t>Anushka Wijesundara / Product overview / October 2026</a:t>
            </a:r>
          </a:p>
        </p:txBody>
      </p:sp>
      <p:sp>
        <p:nvSpPr>
          <p:cNvPr id="8" name="TextBox 7"/>
          <p:cNvSpPr txBox="1"/>
          <p:nvPr/>
        </p:nvSpPr>
        <p:spPr>
          <a:xfrm>
            <a:off x="11976100" y="7918704"/>
            <a:ext cx="2159000" cy="215900"/>
          </a:xfrm>
          <a:prstGeom prst="rect">
            <a:avLst/>
          </a:prstGeom>
          <a:noFill/>
        </p:spPr>
        <p:txBody>
          <a:bodyPr wrap="none" lIns="0" tIns="0" rIns="0" bIns="0">
            <a:spAutoFit/>
          </a:bodyPr>
          <a:lstStyle/>
          <a:p>
            <a:pPr algn="r">
              <a:lnSpc>
                <a:spcPts val="1200"/>
              </a:lnSpc>
              <a:spcBef>
                <a:spcPts val="0"/>
              </a:spcBef>
              <a:spcAft>
                <a:spcPts val="0"/>
              </a:spcAft>
              <a:defRPr sz="1000" b="1">
                <a:solidFill>
                  <a:srgbClr val="00708A"/>
                </a:solidFill>
                <a:latin typeface="Barlow"/>
              </a:defRPr>
            </a:pPr>
            <a:r>
              <a:t>06</a:t>
            </a:r>
          </a:p>
        </p:txBody>
      </p:sp>
      <p:sp>
        <p:nvSpPr>
          <p:cNvPr id="9" name="TextBox 8"/>
          <p:cNvSpPr txBox="1"/>
          <p:nvPr/>
        </p:nvSpPr>
        <p:spPr>
          <a:xfrm>
            <a:off x="530352" y="2176272"/>
            <a:ext cx="2236190" cy="320601"/>
          </a:xfrm>
          <a:prstGeom prst="rect">
            <a:avLst/>
          </a:prstGeom>
          <a:noFill/>
        </p:spPr>
        <p:txBody>
          <a:bodyPr wrap="none" lIns="0" tIns="0" rIns="0" bIns="0">
            <a:spAutoFit/>
          </a:bodyPr>
          <a:lstStyle/>
          <a:p>
            <a:pPr>
              <a:lnSpc>
                <a:spcPts val="2520"/>
              </a:lnSpc>
              <a:spcBef>
                <a:spcPts val="0"/>
              </a:spcBef>
              <a:spcAft>
                <a:spcPts val="0"/>
              </a:spcAft>
              <a:defRPr sz="2100" b="1">
                <a:solidFill>
                  <a:srgbClr val="00708A"/>
                </a:solidFill>
                <a:latin typeface="Barlow"/>
              </a:defRPr>
            </a:pPr>
            <a:r>
              <a:rPr lang="en-US"/>
              <a:t>Identify the device</a:t>
            </a:r>
            <a:endParaRPr/>
          </a:p>
        </p:txBody>
      </p:sp>
      <p:sp>
        <p:nvSpPr>
          <p:cNvPr id="10" name="TextBox 9"/>
          <p:cNvSpPr txBox="1"/>
          <p:nvPr/>
        </p:nvSpPr>
        <p:spPr>
          <a:xfrm>
            <a:off x="530352" y="2569464"/>
            <a:ext cx="2455800" cy="539891"/>
          </a:xfrm>
          <a:prstGeom prst="rect">
            <a:avLst/>
          </a:prstGeom>
          <a:noFill/>
        </p:spPr>
        <p:txBody>
          <a:bodyPr wrap="none" lIns="0" tIns="0" rIns="0" bIns="0">
            <a:spAutoFit/>
          </a:bodyPr>
          <a:lstStyle/>
          <a:p>
            <a:pPr>
              <a:lnSpc>
                <a:spcPts val="2160"/>
              </a:lnSpc>
              <a:spcBef>
                <a:spcPts val="0"/>
              </a:spcBef>
              <a:spcAft>
                <a:spcPts val="0"/>
              </a:spcAft>
              <a:defRPr sz="1800" b="0">
                <a:solidFill>
                  <a:srgbClr val="0B3C4C"/>
                </a:solidFill>
                <a:latin typeface="Barlow"/>
              </a:defRPr>
            </a:pPr>
            <a:r>
              <a:rPr lang="en-US"/>
              <a:t>Find the asset, its owner
and its physical location.</a:t>
            </a:r>
            <a:endParaRPr/>
          </a:p>
        </p:txBody>
      </p:sp>
      <p:sp>
        <p:nvSpPr>
          <p:cNvPr id="11" name="TextBox 10"/>
          <p:cNvSpPr txBox="1"/>
          <p:nvPr/>
        </p:nvSpPr>
        <p:spPr>
          <a:xfrm>
            <a:off x="530352" y="3529584"/>
            <a:ext cx="2494273" cy="320601"/>
          </a:xfrm>
          <a:prstGeom prst="rect">
            <a:avLst/>
          </a:prstGeom>
          <a:noFill/>
        </p:spPr>
        <p:txBody>
          <a:bodyPr wrap="none" lIns="0" tIns="0" rIns="0" bIns="0">
            <a:spAutoFit/>
          </a:bodyPr>
          <a:lstStyle/>
          <a:p>
            <a:pPr>
              <a:lnSpc>
                <a:spcPts val="2520"/>
              </a:lnSpc>
              <a:spcBef>
                <a:spcPts val="0"/>
              </a:spcBef>
              <a:spcAft>
                <a:spcPts val="0"/>
              </a:spcAft>
              <a:defRPr sz="2100" b="1">
                <a:solidFill>
                  <a:srgbClr val="00708A"/>
                </a:solidFill>
                <a:latin typeface="Barlow"/>
              </a:defRPr>
            </a:pPr>
            <a:r>
              <a:rPr lang="en-US"/>
              <a:t>Map the service links</a:t>
            </a:r>
            <a:endParaRPr/>
          </a:p>
        </p:txBody>
      </p:sp>
      <p:sp>
        <p:nvSpPr>
          <p:cNvPr id="12" name="TextBox 11"/>
          <p:cNvSpPr txBox="1"/>
          <p:nvPr/>
        </p:nvSpPr>
        <p:spPr>
          <a:xfrm>
            <a:off x="530352" y="3922776"/>
            <a:ext cx="2693045" cy="539891"/>
          </a:xfrm>
          <a:prstGeom prst="rect">
            <a:avLst/>
          </a:prstGeom>
          <a:noFill/>
        </p:spPr>
        <p:txBody>
          <a:bodyPr wrap="none" lIns="0" tIns="0" rIns="0" bIns="0">
            <a:spAutoFit/>
          </a:bodyPr>
          <a:lstStyle/>
          <a:p>
            <a:pPr>
              <a:lnSpc>
                <a:spcPts val="2160"/>
              </a:lnSpc>
              <a:spcBef>
                <a:spcPts val="0"/>
              </a:spcBef>
              <a:spcAft>
                <a:spcPts val="0"/>
              </a:spcAft>
              <a:defRPr sz="1800" b="0">
                <a:solidFill>
                  <a:srgbClr val="0B3C4C"/>
                </a:solidFill>
                <a:latin typeface="Barlow"/>
              </a:defRPr>
            </a:pPr>
            <a:r>
              <a:rPr lang="en-US"/>
              <a:t>Maintain the dependencies
that change checks need.</a:t>
            </a:r>
            <a:endParaRPr/>
          </a:p>
        </p:txBody>
      </p:sp>
      <p:sp>
        <p:nvSpPr>
          <p:cNvPr id="13" name="TextBox 12"/>
          <p:cNvSpPr txBox="1"/>
          <p:nvPr/>
        </p:nvSpPr>
        <p:spPr>
          <a:xfrm>
            <a:off x="530352" y="4882896"/>
            <a:ext cx="2545569" cy="320601"/>
          </a:xfrm>
          <a:prstGeom prst="rect">
            <a:avLst/>
          </a:prstGeom>
          <a:noFill/>
        </p:spPr>
        <p:txBody>
          <a:bodyPr wrap="none" lIns="0" tIns="0" rIns="0" bIns="0">
            <a:spAutoFit/>
          </a:bodyPr>
          <a:lstStyle/>
          <a:p>
            <a:pPr>
              <a:lnSpc>
                <a:spcPts val="2520"/>
              </a:lnSpc>
              <a:spcBef>
                <a:spcPts val="0"/>
              </a:spcBef>
              <a:spcAft>
                <a:spcPts val="0"/>
              </a:spcAft>
              <a:defRPr sz="2100" b="1">
                <a:solidFill>
                  <a:srgbClr val="00708A"/>
                </a:solidFill>
                <a:latin typeface="Barlow"/>
              </a:defRPr>
            </a:pPr>
            <a:r>
              <a:rPr lang="en-US"/>
              <a:t>Bring teams together</a:t>
            </a:r>
            <a:endParaRPr/>
          </a:p>
        </p:txBody>
      </p:sp>
      <p:sp>
        <p:nvSpPr>
          <p:cNvPr id="14" name="TextBox 13"/>
          <p:cNvSpPr txBox="1"/>
          <p:nvPr/>
        </p:nvSpPr>
        <p:spPr>
          <a:xfrm>
            <a:off x="530352" y="5276088"/>
            <a:ext cx="2861361" cy="539891"/>
          </a:xfrm>
          <a:prstGeom prst="rect">
            <a:avLst/>
          </a:prstGeom>
          <a:noFill/>
        </p:spPr>
        <p:txBody>
          <a:bodyPr wrap="none" lIns="0" tIns="0" rIns="0" bIns="0">
            <a:spAutoFit/>
          </a:bodyPr>
          <a:lstStyle/>
          <a:p>
            <a:pPr>
              <a:lnSpc>
                <a:spcPts val="2160"/>
              </a:lnSpc>
              <a:spcBef>
                <a:spcPts val="0"/>
              </a:spcBef>
              <a:spcAft>
                <a:spcPts val="0"/>
              </a:spcAft>
              <a:defRPr sz="1800" b="0">
                <a:solidFill>
                  <a:srgbClr val="0B3C4C"/>
                </a:solidFill>
                <a:latin typeface="Barlow"/>
              </a:defRPr>
            </a:pPr>
            <a:r>
              <a:rPr lang="en-US"/>
              <a:t>Use shared infrastructure
context when planning work.</a:t>
            </a:r>
            <a:endParaRPr/>
          </a:p>
        </p:txBody>
      </p:sp>
      <p:sp>
        <p:nvSpPr>
          <p:cNvPr id="15" name="Rectangle 14"/>
          <p:cNvSpPr/>
          <p:nvPr/>
        </p:nvSpPr>
        <p:spPr>
          <a:xfrm>
            <a:off x="502920" y="6510528"/>
            <a:ext cx="3291840" cy="868680"/>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7512" y="6656832"/>
            <a:ext cx="2287486" cy="512961"/>
          </a:xfrm>
          <a:prstGeom prst="rect">
            <a:avLst/>
          </a:prstGeom>
          <a:noFill/>
        </p:spPr>
        <p:txBody>
          <a:bodyPr wrap="none" lIns="0" tIns="0" rIns="0" bIns="0">
            <a:spAutoFit/>
          </a:bodyPr>
          <a:lstStyle/>
          <a:p>
            <a:pPr>
              <a:lnSpc>
                <a:spcPts val="2039"/>
              </a:lnSpc>
              <a:spcBef>
                <a:spcPts val="0"/>
              </a:spcBef>
              <a:spcAft>
                <a:spcPts val="0"/>
              </a:spcAft>
              <a:defRPr sz="1700" b="1">
                <a:solidFill>
                  <a:srgbClr val="B35F00"/>
                </a:solidFill>
                <a:latin typeface="Barlow"/>
              </a:defRPr>
            </a:pPr>
            <a:r>
              <a:rPr lang="en-US"/>
              <a:t>No maintained links,
no reliable impact view.</a:t>
            </a:r>
            <a:endParaRPr/>
          </a:p>
        </p:txBody>
      </p:sp>
      <p:pic>
        <p:nvPicPr>
          <p:cNvPr id="18" name="Screenshot: cmdb-245-60-1600-1000" descr="cmdb-245-60-1600-1000.png"/>
          <p:cNvPicPr>
            <a:picLocks noChangeAspect="1"/>
          </p:cNvPicPr>
          <p:nvPr/>
        </p:nvPicPr>
        <p:blipFill>
          <a:blip r:embed="rId3"/>
          <a:stretch>
            <a:fillRect/>
          </a:stretch>
        </p:blipFill>
        <p:spPr>
          <a:xfrm>
            <a:off x="5144756" y="1199382"/>
            <a:ext cx="8977644" cy="6228034"/>
          </a:xfrm>
          <a:prstGeom prst="rect">
            <a:avLst/>
          </a:prstGeom>
        </p:spPr>
      </p:pic>
      <p:sp>
        <p:nvSpPr>
          <p:cNvPr id="19" name="TextBox 18"/>
          <p:cNvSpPr txBox="1"/>
          <p:nvPr/>
        </p:nvSpPr>
        <p:spPr>
          <a:xfrm>
            <a:off x="4169663" y="7543800"/>
            <a:ext cx="4966103" cy="153888"/>
          </a:xfrm>
          <a:prstGeom prst="rect">
            <a:avLst/>
          </a:prstGeom>
          <a:noFill/>
        </p:spPr>
        <p:txBody>
          <a:bodyPr wrap="none" lIns="0" tIns="0" rIns="0" bIns="0">
            <a:spAutoFit/>
          </a:bodyPr>
          <a:lstStyle/>
          <a:p>
            <a:pPr>
              <a:lnSpc>
                <a:spcPts val="1200"/>
              </a:lnSpc>
              <a:spcBef>
                <a:spcPts val="0"/>
              </a:spcBef>
              <a:spcAft>
                <a:spcPts val="0"/>
              </a:spcAft>
              <a:defRPr sz="1000" b="0">
                <a:solidFill>
                  <a:srgbClr val="4F6670"/>
                </a:solidFill>
                <a:latin typeface="Barlow"/>
              </a:defRPr>
            </a:pPr>
            <a:r>
              <a:rPr lang="en-US"/>
              <a:t>Illustrative inventory / No mapped links in demo / Map relationships before conflict testing</a:t>
            </a:r>
            <a:endParaRPr/>
          </a:p>
        </p:txBody>
      </p:sp>
      <p:sp>
        <p:nvSpPr>
          <p:cNvPr id="901" name="JNX Rule"/>
          <p:cNvSpPr/>
          <p:nvPr/>
        </p:nvSpPr>
        <p:spPr>
          <a:xfrm>
            <a:off x="508000" y="1016000"/>
            <a:ext cx="13627100" cy="19050"/>
          </a:xfrm>
          <a:prstGeom prst="rect">
            <a:avLst/>
          </a:prstGeom>
          <a:solidFill>
            <a:srgbClr val="0B3C4C"/>
          </a:solidFill>
          <a:ln>
            <a:noFill/>
          </a:ln>
        </p:spPr>
        <p:txBody>
          <a:bodyPr/>
          <a:lstStyle/>
          <a:p>
            <a:endParaRPr lang="en-JP"/>
          </a:p>
        </p:txBody>
      </p:sp>
      <p:pic>
        <p:nvPicPr>
          <p:cNvPr id="902" name="Copied Picture 902" descr="Japannext JNX logo">
            <a:extLst>
              <a:ext uri="{FF2B5EF4-FFF2-40B4-BE49-F238E27FC236}">
                <a16:creationId xmlns:a16="http://schemas.microsoft.com/office/drawing/2014/main" id="{429122C2-2B95-92FB-9A5C-2E92C9458AAC}"/>
              </a:ext>
            </a:extLst>
          </p:cNvPr>
          <p:cNvPicPr>
            <a:picLocks noChangeAspect="1"/>
          </p:cNvPicPr>
          <p:nvPr/>
        </p:nvPicPr>
        <p:blipFill>
          <a:blip r:embed="rId4">
            <a:clrChange>
              <a:clrFrom>
                <a:srgbClr val="FFFFFF"/>
              </a:clrFrom>
              <a:clrTo>
                <a:srgbClr val="FFFFFF">
                  <a:alpha val="0"/>
                </a:srgbClr>
              </a:clrTo>
            </a:clrChange>
          </a:blip>
          <a:srcRect l="13500" t="21500" r="13800" b="22500"/>
          <a:stretch>
            <a:fillRect/>
          </a:stretch>
        </p:blipFill>
        <p:spPr>
          <a:xfrm>
            <a:off x="12725400" y="254000"/>
            <a:ext cx="1409700" cy="660400"/>
          </a:xfrm>
          <a:prstGeom prst="rect">
            <a:avLst/>
          </a:prstGeom>
        </p:spPr>
      </p:pic>
    </p:spTree>
    <p:extLst>
      <p:ext uri="{BB962C8B-B14F-4D97-AF65-F5344CB8AC3E}">
        <p14:creationId xmlns:p14="http://schemas.microsoft.com/office/powerpoint/2010/main" val="29852728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0096"/>
            <a:ext cx="146304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1244600"/>
            <a:ext cx="1143000" cy="254000"/>
          </a:xfrm>
          <a:prstGeom prst="rect">
            <a:avLst/>
          </a:prstGeom>
          <a:noFill/>
        </p:spPr>
        <p:txBody>
          <a:bodyPr wrap="none" lIns="0" tIns="0" rIns="0" bIns="0">
            <a:spAutoFit/>
          </a:bodyPr>
          <a:lstStyle/>
          <a:p>
            <a:pPr>
              <a:lnSpc>
                <a:spcPts val="1439"/>
              </a:lnSpc>
              <a:spcBef>
                <a:spcPts val="0"/>
              </a:spcBef>
              <a:spcAft>
                <a:spcPts val="0"/>
              </a:spcAft>
              <a:defRPr sz="1200" b="1">
                <a:solidFill>
                  <a:srgbClr val="00708A"/>
                </a:solidFill>
                <a:latin typeface="Barlow"/>
              </a:defRPr>
            </a:pPr>
            <a:r>
              <a:t>SERVICEOPS</a:t>
            </a:r>
          </a:p>
        </p:txBody>
      </p:sp>
      <p:sp>
        <p:nvSpPr>
          <p:cNvPr id="4" name="TextBox 3"/>
          <p:cNvSpPr txBox="1"/>
          <p:nvPr/>
        </p:nvSpPr>
        <p:spPr>
          <a:xfrm>
            <a:off x="1625600" y="1244600"/>
            <a:ext cx="2500685" cy="179536"/>
          </a:xfrm>
          <a:prstGeom prst="rect">
            <a:avLst/>
          </a:prstGeom>
          <a:noFill/>
        </p:spPr>
        <p:txBody>
          <a:bodyPr wrap="none" lIns="0" tIns="0" rIns="0" bIns="0">
            <a:spAutoFit/>
          </a:bodyPr>
          <a:lstStyle/>
          <a:p>
            <a:pPr>
              <a:lnSpc>
                <a:spcPts val="1439"/>
              </a:lnSpc>
              <a:spcBef>
                <a:spcPts val="0"/>
              </a:spcBef>
              <a:spcAft>
                <a:spcPts val="0"/>
              </a:spcAft>
              <a:defRPr sz="1200" b="1">
                <a:solidFill>
                  <a:srgbClr val="4F6670"/>
                </a:solidFill>
                <a:latin typeface="Barlow"/>
              </a:defRPr>
            </a:pPr>
            <a:r>
              <a:rPr lang="en-US"/>
              <a:t>PREVENT CONFLICTS BEFORE WORK</a:t>
            </a:r>
            <a:endParaRPr/>
          </a:p>
        </p:txBody>
      </p:sp>
      <p:sp>
        <p:nvSpPr>
          <p:cNvPr id="5" name="TextBox 4"/>
          <p:cNvSpPr txBox="1"/>
          <p:nvPr/>
        </p:nvSpPr>
        <p:spPr>
          <a:xfrm>
            <a:off x="508000" y="304800"/>
            <a:ext cx="7336945" cy="412934"/>
          </a:xfrm>
          <a:prstGeom prst="rect">
            <a:avLst/>
          </a:prstGeom>
          <a:noFill/>
        </p:spPr>
        <p:txBody>
          <a:bodyPr wrap="none" lIns="0" tIns="0" rIns="0" bIns="0">
            <a:spAutoFit/>
          </a:bodyPr>
          <a:lstStyle/>
          <a:p>
            <a:pPr>
              <a:lnSpc>
                <a:spcPts val="3600"/>
              </a:lnSpc>
              <a:spcBef>
                <a:spcPts val="0"/>
              </a:spcBef>
              <a:spcAft>
                <a:spcPts val="0"/>
              </a:spcAft>
              <a:defRPr sz="2600" b="1">
                <a:solidFill>
                  <a:srgbClr val="0B3C4C"/>
                </a:solidFill>
                <a:latin typeface="Barlow"/>
              </a:defRPr>
            </a:pPr>
            <a:r>
              <a:rPr lang="en-US"/>
              <a:t>Check for collisions before approving the change.</a:t>
            </a:r>
            <a:endParaRPr/>
          </a:p>
        </p:txBody>
      </p:sp>
      <p:sp>
        <p:nvSpPr>
          <p:cNvPr id="6" name="Rectangle 5"/>
          <p:cNvSpPr/>
          <p:nvPr/>
        </p:nvSpPr>
        <p:spPr>
          <a:xfrm>
            <a:off x="502920" y="7790688"/>
            <a:ext cx="13624560" cy="10972"/>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7918704"/>
            <a:ext cx="10972800" cy="215900"/>
          </a:xfrm>
          <a:prstGeom prst="rect">
            <a:avLst/>
          </a:prstGeom>
          <a:noFill/>
        </p:spPr>
        <p:txBody>
          <a:bodyPr wrap="none" lIns="0" tIns="0" rIns="0" bIns="0">
            <a:spAutoFit/>
          </a:bodyPr>
          <a:lstStyle/>
          <a:p>
            <a:pPr>
              <a:lnSpc>
                <a:spcPts val="1200"/>
              </a:lnSpc>
              <a:spcBef>
                <a:spcPts val="0"/>
              </a:spcBef>
              <a:spcAft>
                <a:spcPts val="0"/>
              </a:spcAft>
              <a:defRPr sz="1000" b="0">
                <a:solidFill>
                  <a:srgbClr val="4F6670"/>
                </a:solidFill>
                <a:latin typeface="Barlow"/>
              </a:defRPr>
            </a:pPr>
            <a:r>
              <a:t>Anushka Wijesundara / Product overview / October 2026</a:t>
            </a:r>
          </a:p>
        </p:txBody>
      </p:sp>
      <p:sp>
        <p:nvSpPr>
          <p:cNvPr id="8" name="TextBox 7"/>
          <p:cNvSpPr txBox="1"/>
          <p:nvPr/>
        </p:nvSpPr>
        <p:spPr>
          <a:xfrm>
            <a:off x="11976100" y="7918704"/>
            <a:ext cx="2159000" cy="215900"/>
          </a:xfrm>
          <a:prstGeom prst="rect">
            <a:avLst/>
          </a:prstGeom>
          <a:noFill/>
        </p:spPr>
        <p:txBody>
          <a:bodyPr wrap="none" lIns="0" tIns="0" rIns="0" bIns="0">
            <a:spAutoFit/>
          </a:bodyPr>
          <a:lstStyle/>
          <a:p>
            <a:pPr algn="r">
              <a:lnSpc>
                <a:spcPts val="1200"/>
              </a:lnSpc>
              <a:spcBef>
                <a:spcPts val="0"/>
              </a:spcBef>
              <a:spcAft>
                <a:spcPts val="0"/>
              </a:spcAft>
              <a:defRPr sz="1000" b="1">
                <a:solidFill>
                  <a:srgbClr val="00708A"/>
                </a:solidFill>
                <a:latin typeface="Barlow"/>
              </a:defRPr>
            </a:pPr>
            <a:r>
              <a:t>07</a:t>
            </a:r>
          </a:p>
        </p:txBody>
      </p:sp>
      <p:sp>
        <p:nvSpPr>
          <p:cNvPr id="9" name="TextBox 8"/>
          <p:cNvSpPr txBox="1"/>
          <p:nvPr/>
        </p:nvSpPr>
        <p:spPr>
          <a:xfrm>
            <a:off x="530352" y="2176272"/>
            <a:ext cx="1930016" cy="320601"/>
          </a:xfrm>
          <a:prstGeom prst="rect">
            <a:avLst/>
          </a:prstGeom>
          <a:noFill/>
        </p:spPr>
        <p:txBody>
          <a:bodyPr wrap="none" lIns="0" tIns="0" rIns="0" bIns="0">
            <a:spAutoFit/>
          </a:bodyPr>
          <a:lstStyle/>
          <a:p>
            <a:pPr>
              <a:lnSpc>
                <a:spcPts val="2520"/>
              </a:lnSpc>
              <a:spcBef>
                <a:spcPts val="0"/>
              </a:spcBef>
              <a:spcAft>
                <a:spcPts val="0"/>
              </a:spcAft>
              <a:defRPr sz="2100" b="1">
                <a:solidFill>
                  <a:srgbClr val="00708A"/>
                </a:solidFill>
                <a:latin typeface="Barlow"/>
              </a:defRPr>
            </a:pPr>
            <a:r>
              <a:rPr lang="en-US"/>
              <a:t>Name the scope</a:t>
            </a:r>
            <a:endParaRPr/>
          </a:p>
        </p:txBody>
      </p:sp>
      <p:sp>
        <p:nvSpPr>
          <p:cNvPr id="10" name="TextBox 9"/>
          <p:cNvSpPr txBox="1"/>
          <p:nvPr/>
        </p:nvSpPr>
        <p:spPr>
          <a:xfrm>
            <a:off x="530352" y="2569464"/>
            <a:ext cx="2571217" cy="539891"/>
          </a:xfrm>
          <a:prstGeom prst="rect">
            <a:avLst/>
          </a:prstGeom>
          <a:noFill/>
        </p:spPr>
        <p:txBody>
          <a:bodyPr wrap="none" lIns="0" tIns="0" rIns="0" bIns="0">
            <a:spAutoFit/>
          </a:bodyPr>
          <a:lstStyle/>
          <a:p>
            <a:pPr>
              <a:lnSpc>
                <a:spcPts val="2160"/>
              </a:lnSpc>
              <a:spcBef>
                <a:spcPts val="0"/>
              </a:spcBef>
              <a:spcAft>
                <a:spcPts val="0"/>
              </a:spcAft>
              <a:defRPr sz="1800" b="0">
                <a:solidFill>
                  <a:srgbClr val="0B3C4C"/>
                </a:solidFill>
                <a:latin typeface="Barlow"/>
              </a:defRPr>
            </a:pPr>
            <a:r>
              <a:rPr lang="en-US"/>
              <a:t>Identify the device and
the maintenance window.</a:t>
            </a:r>
            <a:endParaRPr/>
          </a:p>
        </p:txBody>
      </p:sp>
      <p:sp>
        <p:nvSpPr>
          <p:cNvPr id="11" name="TextBox 10"/>
          <p:cNvSpPr txBox="1"/>
          <p:nvPr/>
        </p:nvSpPr>
        <p:spPr>
          <a:xfrm>
            <a:off x="530352" y="3529584"/>
            <a:ext cx="2276264" cy="320601"/>
          </a:xfrm>
          <a:prstGeom prst="rect">
            <a:avLst/>
          </a:prstGeom>
          <a:noFill/>
        </p:spPr>
        <p:txBody>
          <a:bodyPr wrap="none" lIns="0" tIns="0" rIns="0" bIns="0">
            <a:spAutoFit/>
          </a:bodyPr>
          <a:lstStyle/>
          <a:p>
            <a:pPr>
              <a:lnSpc>
                <a:spcPts val="2520"/>
              </a:lnSpc>
              <a:spcBef>
                <a:spcPts val="0"/>
              </a:spcBef>
              <a:spcAft>
                <a:spcPts val="0"/>
              </a:spcAft>
              <a:defRPr sz="2100" b="1">
                <a:solidFill>
                  <a:srgbClr val="00708A"/>
                </a:solidFill>
                <a:latin typeface="Barlow"/>
              </a:defRPr>
            </a:pPr>
            <a:r>
              <a:rPr lang="en-US"/>
              <a:t>Check for conflicts</a:t>
            </a:r>
            <a:endParaRPr/>
          </a:p>
        </p:txBody>
      </p:sp>
      <p:sp>
        <p:nvSpPr>
          <p:cNvPr id="12" name="TextBox 11"/>
          <p:cNvSpPr txBox="1"/>
          <p:nvPr/>
        </p:nvSpPr>
        <p:spPr>
          <a:xfrm>
            <a:off x="530352" y="3922776"/>
            <a:ext cx="2380460" cy="539891"/>
          </a:xfrm>
          <a:prstGeom prst="rect">
            <a:avLst/>
          </a:prstGeom>
          <a:noFill/>
        </p:spPr>
        <p:txBody>
          <a:bodyPr wrap="none" lIns="0" tIns="0" rIns="0" bIns="0">
            <a:spAutoFit/>
          </a:bodyPr>
          <a:lstStyle/>
          <a:p>
            <a:pPr>
              <a:lnSpc>
                <a:spcPts val="2160"/>
              </a:lnSpc>
              <a:spcBef>
                <a:spcPts val="0"/>
              </a:spcBef>
              <a:spcAft>
                <a:spcPts val="0"/>
              </a:spcAft>
              <a:defRPr sz="1800" b="0">
                <a:solidFill>
                  <a:srgbClr val="0B3C4C"/>
                </a:solidFill>
                <a:latin typeface="Barlow"/>
              </a:defRPr>
            </a:pPr>
            <a:r>
              <a:rPr lang="en-US"/>
              <a:t>Review linked work and
configured freeze rules.</a:t>
            </a:r>
            <a:endParaRPr/>
          </a:p>
        </p:txBody>
      </p:sp>
      <p:sp>
        <p:nvSpPr>
          <p:cNvPr id="13" name="TextBox 12"/>
          <p:cNvSpPr txBox="1"/>
          <p:nvPr/>
        </p:nvSpPr>
        <p:spPr>
          <a:xfrm>
            <a:off x="530352" y="4882896"/>
            <a:ext cx="2133597" cy="320601"/>
          </a:xfrm>
          <a:prstGeom prst="rect">
            <a:avLst/>
          </a:prstGeom>
          <a:noFill/>
        </p:spPr>
        <p:txBody>
          <a:bodyPr wrap="none" lIns="0" tIns="0" rIns="0" bIns="0">
            <a:spAutoFit/>
          </a:bodyPr>
          <a:lstStyle/>
          <a:p>
            <a:pPr>
              <a:lnSpc>
                <a:spcPts val="2520"/>
              </a:lnSpc>
              <a:spcBef>
                <a:spcPts val="0"/>
              </a:spcBef>
              <a:spcAft>
                <a:spcPts val="0"/>
              </a:spcAft>
              <a:defRPr sz="2100" b="1">
                <a:solidFill>
                  <a:srgbClr val="00708A"/>
                </a:solidFill>
                <a:latin typeface="Barlow"/>
              </a:defRPr>
            </a:pPr>
            <a:r>
              <a:rPr lang="en-US"/>
              <a:t>Align the decision</a:t>
            </a:r>
            <a:endParaRPr/>
          </a:p>
        </p:txBody>
      </p:sp>
      <p:sp>
        <p:nvSpPr>
          <p:cNvPr id="14" name="TextBox 13"/>
          <p:cNvSpPr txBox="1"/>
          <p:nvPr/>
        </p:nvSpPr>
        <p:spPr>
          <a:xfrm>
            <a:off x="530352" y="5276088"/>
            <a:ext cx="2790829" cy="539891"/>
          </a:xfrm>
          <a:prstGeom prst="rect">
            <a:avLst/>
          </a:prstGeom>
          <a:noFill/>
        </p:spPr>
        <p:txBody>
          <a:bodyPr wrap="none" lIns="0" tIns="0" rIns="0" bIns="0">
            <a:spAutoFit/>
          </a:bodyPr>
          <a:lstStyle/>
          <a:p>
            <a:pPr>
              <a:lnSpc>
                <a:spcPts val="2160"/>
              </a:lnSpc>
              <a:spcBef>
                <a:spcPts val="0"/>
              </a:spcBef>
              <a:spcAft>
                <a:spcPts val="0"/>
              </a:spcAft>
              <a:defRPr sz="1800" b="0">
                <a:solidFill>
                  <a:srgbClr val="0B3C4C"/>
                </a:solidFill>
                <a:latin typeface="Barlow"/>
              </a:defRPr>
            </a:pPr>
            <a:r>
              <a:rPr lang="en-US"/>
              <a:t>Keep approval, delivery
and backout plans together.</a:t>
            </a:r>
            <a:endParaRPr/>
          </a:p>
        </p:txBody>
      </p:sp>
      <p:sp>
        <p:nvSpPr>
          <p:cNvPr id="15" name="Rectangle 14"/>
          <p:cNvSpPr/>
          <p:nvPr/>
        </p:nvSpPr>
        <p:spPr>
          <a:xfrm>
            <a:off x="502920" y="6510528"/>
            <a:ext cx="3291840" cy="868680"/>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7512" y="6656832"/>
            <a:ext cx="2176878" cy="512961"/>
          </a:xfrm>
          <a:prstGeom prst="rect">
            <a:avLst/>
          </a:prstGeom>
          <a:noFill/>
        </p:spPr>
        <p:txBody>
          <a:bodyPr wrap="none" lIns="0" tIns="0" rIns="0" bIns="0">
            <a:spAutoFit/>
          </a:bodyPr>
          <a:lstStyle/>
          <a:p>
            <a:pPr>
              <a:lnSpc>
                <a:spcPts val="2039"/>
              </a:lnSpc>
              <a:spcBef>
                <a:spcPts val="0"/>
              </a:spcBef>
              <a:spcAft>
                <a:spcPts val="0"/>
              </a:spcAft>
              <a:defRPr sz="1700" b="1">
                <a:solidFill>
                  <a:srgbClr val="B35F00"/>
                </a:solidFill>
                <a:latin typeface="Barlow"/>
              </a:defRPr>
            </a:pPr>
            <a:r>
              <a:rPr lang="en-US"/>
              <a:t>Plan together.
Check before delivery.</a:t>
            </a:r>
            <a:endParaRPr/>
          </a:p>
        </p:txBody>
      </p:sp>
      <p:pic>
        <p:nvPicPr>
          <p:cNvPr id="18" name="Screenshot: change-detail-245-60-1600-1000" descr="change-detail-245-60-1600-1000.png"/>
          <p:cNvPicPr>
            <a:picLocks noChangeAspect="1"/>
          </p:cNvPicPr>
          <p:nvPr/>
        </p:nvPicPr>
        <p:blipFill>
          <a:blip r:embed="rId3"/>
          <a:srcRect l="2867" r="2670"/>
          <a:stretch>
            <a:fillRect/>
          </a:stretch>
        </p:blipFill>
        <p:spPr>
          <a:xfrm>
            <a:off x="5556069" y="1286342"/>
            <a:ext cx="8255725" cy="6062933"/>
          </a:xfrm>
          <a:prstGeom prst="rect">
            <a:avLst/>
          </a:prstGeom>
        </p:spPr>
      </p:pic>
      <p:sp>
        <p:nvSpPr>
          <p:cNvPr id="19" name="TextBox 18"/>
          <p:cNvSpPr txBox="1"/>
          <p:nvPr/>
        </p:nvSpPr>
        <p:spPr>
          <a:xfrm>
            <a:off x="4169663" y="7543800"/>
            <a:ext cx="9875520" cy="215900"/>
          </a:xfrm>
          <a:prstGeom prst="rect">
            <a:avLst/>
          </a:prstGeom>
          <a:noFill/>
        </p:spPr>
        <p:txBody>
          <a:bodyPr wrap="none" lIns="0" tIns="0" rIns="0" bIns="0">
            <a:spAutoFit/>
          </a:bodyPr>
          <a:lstStyle/>
          <a:p>
            <a:pPr>
              <a:lnSpc>
                <a:spcPts val="1200"/>
              </a:lnSpc>
              <a:spcBef>
                <a:spcPts val="0"/>
              </a:spcBef>
              <a:spcAft>
                <a:spcPts val="0"/>
              </a:spcAft>
              <a:defRPr sz="1000" b="0">
                <a:solidFill>
                  <a:srgbClr val="4F6670"/>
                </a:solidFill>
                <a:latin typeface="Barlow"/>
              </a:defRPr>
            </a:pPr>
            <a:r>
              <a:t>Current app v1.113.65 / Isolated demo / Sample records</a:t>
            </a:r>
          </a:p>
        </p:txBody>
      </p:sp>
      <p:sp>
        <p:nvSpPr>
          <p:cNvPr id="901" name="JNX Rule"/>
          <p:cNvSpPr/>
          <p:nvPr/>
        </p:nvSpPr>
        <p:spPr>
          <a:xfrm>
            <a:off x="508000" y="1016000"/>
            <a:ext cx="13627100" cy="19050"/>
          </a:xfrm>
          <a:prstGeom prst="rect">
            <a:avLst/>
          </a:prstGeom>
          <a:solidFill>
            <a:srgbClr val="0B3C4C"/>
          </a:solidFill>
          <a:ln>
            <a:noFill/>
          </a:ln>
        </p:spPr>
        <p:txBody>
          <a:bodyPr/>
          <a:lstStyle/>
          <a:p>
            <a:endParaRPr lang="en-JP"/>
          </a:p>
        </p:txBody>
      </p:sp>
      <p:pic>
        <p:nvPicPr>
          <p:cNvPr id="902" name="Copied Picture 902" descr="Japannext JNX logo">
            <a:extLst>
              <a:ext uri="{FF2B5EF4-FFF2-40B4-BE49-F238E27FC236}">
                <a16:creationId xmlns:a16="http://schemas.microsoft.com/office/drawing/2014/main" id="{429122C2-2B95-92FB-9A5C-2E92C9458AAC}"/>
              </a:ext>
            </a:extLst>
          </p:cNvPr>
          <p:cNvPicPr>
            <a:picLocks noChangeAspect="1"/>
          </p:cNvPicPr>
          <p:nvPr/>
        </p:nvPicPr>
        <p:blipFill>
          <a:blip r:embed="rId4">
            <a:clrChange>
              <a:clrFrom>
                <a:srgbClr val="FFFFFF"/>
              </a:clrFrom>
              <a:clrTo>
                <a:srgbClr val="FFFFFF">
                  <a:alpha val="0"/>
                </a:srgbClr>
              </a:clrTo>
            </a:clrChange>
          </a:blip>
          <a:srcRect l="13500" t="21500" r="13800" b="22500"/>
          <a:stretch>
            <a:fillRect/>
          </a:stretch>
        </p:blipFill>
        <p:spPr>
          <a:xfrm>
            <a:off x="12725400" y="254000"/>
            <a:ext cx="1409700" cy="660400"/>
          </a:xfrm>
          <a:prstGeom prst="rect">
            <a:avLst/>
          </a:prstGeom>
        </p:spPr>
      </p:pic>
    </p:spTree>
    <p:extLst>
      <p:ext uri="{BB962C8B-B14F-4D97-AF65-F5344CB8AC3E}">
        <p14:creationId xmlns:p14="http://schemas.microsoft.com/office/powerpoint/2010/main" val="33446732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1244600"/>
            <a:ext cx="1143000" cy="254000"/>
          </a:xfrm>
          <a:prstGeom prst="rect">
            <a:avLst/>
          </a:prstGeom>
          <a:noFill/>
        </p:spPr>
        <p:txBody>
          <a:bodyPr wrap="none" lIns="0" tIns="0" rIns="0" bIns="0">
            <a:spAutoFit/>
          </a:bodyPr>
          <a:lstStyle/>
          <a:p>
            <a:pPr>
              <a:lnSpc>
                <a:spcPts val="1439"/>
              </a:lnSpc>
              <a:spcBef>
                <a:spcPts val="0"/>
              </a:spcBef>
              <a:spcAft>
                <a:spcPts val="0"/>
              </a:spcAft>
              <a:defRPr sz="1200" b="1">
                <a:solidFill>
                  <a:srgbClr val="00708A"/>
                </a:solidFill>
                <a:latin typeface="Barlow"/>
              </a:defRPr>
            </a:pPr>
            <a:r>
              <a:t>SERVICEOPS</a:t>
            </a:r>
          </a:p>
        </p:txBody>
      </p:sp>
      <p:sp>
        <p:nvSpPr>
          <p:cNvPr id="4" name="TextBox 3"/>
          <p:cNvSpPr txBox="1"/>
          <p:nvPr/>
        </p:nvSpPr>
        <p:spPr>
          <a:xfrm>
            <a:off x="1625600" y="1244600"/>
            <a:ext cx="1792157" cy="179536"/>
          </a:xfrm>
          <a:prstGeom prst="rect">
            <a:avLst/>
          </a:prstGeom>
          <a:noFill/>
        </p:spPr>
        <p:txBody>
          <a:bodyPr wrap="none" lIns="0" tIns="0" rIns="0" bIns="0">
            <a:spAutoFit/>
          </a:bodyPr>
          <a:lstStyle/>
          <a:p>
            <a:pPr>
              <a:lnSpc>
                <a:spcPts val="1439"/>
              </a:lnSpc>
              <a:spcBef>
                <a:spcPts val="0"/>
              </a:spcBef>
              <a:spcAft>
                <a:spcPts val="0"/>
              </a:spcAft>
              <a:defRPr sz="1200" b="1">
                <a:solidFill>
                  <a:srgbClr val="4F6670"/>
                </a:solidFill>
                <a:latin typeface="Barlow"/>
              </a:defRPr>
            </a:pPr>
            <a:r>
              <a:rPr lang="en-US"/>
              <a:t>CLEAR FIELD HANDOVERS</a:t>
            </a:r>
            <a:endParaRPr/>
          </a:p>
        </p:txBody>
      </p:sp>
      <p:sp>
        <p:nvSpPr>
          <p:cNvPr id="5" name="TextBox 4"/>
          <p:cNvSpPr txBox="1"/>
          <p:nvPr/>
        </p:nvSpPr>
        <p:spPr>
          <a:xfrm>
            <a:off x="508000" y="304800"/>
            <a:ext cx="7939674" cy="412934"/>
          </a:xfrm>
          <a:prstGeom prst="rect">
            <a:avLst/>
          </a:prstGeom>
          <a:noFill/>
        </p:spPr>
        <p:txBody>
          <a:bodyPr wrap="none" lIns="0" tIns="0" rIns="0" bIns="0">
            <a:spAutoFit/>
          </a:bodyPr>
          <a:lstStyle/>
          <a:p>
            <a:pPr>
              <a:lnSpc>
                <a:spcPts val="3600"/>
              </a:lnSpc>
              <a:spcBef>
                <a:spcPts val="0"/>
              </a:spcBef>
              <a:spcAft>
                <a:spcPts val="0"/>
              </a:spcAft>
              <a:defRPr sz="2600" b="1">
                <a:solidFill>
                  <a:srgbClr val="0B3C4C"/>
                </a:solidFill>
                <a:latin typeface="Barlow"/>
              </a:defRPr>
            </a:pPr>
            <a:r>
              <a:rPr lang="en-US"/>
              <a:t>Give field engineers context—not another email chain.</a:t>
            </a:r>
            <a:endParaRPr/>
          </a:p>
        </p:txBody>
      </p:sp>
      <p:sp>
        <p:nvSpPr>
          <p:cNvPr id="6" name="Rectangle 5"/>
          <p:cNvSpPr/>
          <p:nvPr/>
        </p:nvSpPr>
        <p:spPr>
          <a:xfrm>
            <a:off x="502920" y="7790688"/>
            <a:ext cx="13624560" cy="10972"/>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7918704"/>
            <a:ext cx="10972800" cy="215900"/>
          </a:xfrm>
          <a:prstGeom prst="rect">
            <a:avLst/>
          </a:prstGeom>
          <a:noFill/>
        </p:spPr>
        <p:txBody>
          <a:bodyPr wrap="none" lIns="0" tIns="0" rIns="0" bIns="0">
            <a:spAutoFit/>
          </a:bodyPr>
          <a:lstStyle/>
          <a:p>
            <a:pPr>
              <a:lnSpc>
                <a:spcPts val="1200"/>
              </a:lnSpc>
              <a:spcBef>
                <a:spcPts val="0"/>
              </a:spcBef>
              <a:spcAft>
                <a:spcPts val="0"/>
              </a:spcAft>
              <a:defRPr sz="1000" b="0">
                <a:solidFill>
                  <a:srgbClr val="4F6670"/>
                </a:solidFill>
                <a:latin typeface="Barlow"/>
              </a:defRPr>
            </a:pPr>
            <a:r>
              <a:t>Anushka Wijesundara / Product overview / October 2026</a:t>
            </a:r>
          </a:p>
        </p:txBody>
      </p:sp>
      <p:sp>
        <p:nvSpPr>
          <p:cNvPr id="8" name="TextBox 7"/>
          <p:cNvSpPr txBox="1"/>
          <p:nvPr/>
        </p:nvSpPr>
        <p:spPr>
          <a:xfrm>
            <a:off x="11976100" y="7918704"/>
            <a:ext cx="2159000" cy="215900"/>
          </a:xfrm>
          <a:prstGeom prst="rect">
            <a:avLst/>
          </a:prstGeom>
          <a:noFill/>
        </p:spPr>
        <p:txBody>
          <a:bodyPr wrap="none" lIns="0" tIns="0" rIns="0" bIns="0">
            <a:spAutoFit/>
          </a:bodyPr>
          <a:lstStyle/>
          <a:p>
            <a:pPr algn="r">
              <a:lnSpc>
                <a:spcPts val="1200"/>
              </a:lnSpc>
              <a:spcBef>
                <a:spcPts val="0"/>
              </a:spcBef>
              <a:spcAft>
                <a:spcPts val="0"/>
              </a:spcAft>
              <a:defRPr sz="1000" b="1">
                <a:solidFill>
                  <a:srgbClr val="00708A"/>
                </a:solidFill>
                <a:latin typeface="Barlow"/>
              </a:defRPr>
            </a:pPr>
            <a:r>
              <a:t>08</a:t>
            </a:r>
          </a:p>
        </p:txBody>
      </p:sp>
      <p:sp>
        <p:nvSpPr>
          <p:cNvPr id="9" name="TextBox 8"/>
          <p:cNvSpPr txBox="1"/>
          <p:nvPr/>
        </p:nvSpPr>
        <p:spPr>
          <a:xfrm>
            <a:off x="530352" y="2176272"/>
            <a:ext cx="2148024" cy="320601"/>
          </a:xfrm>
          <a:prstGeom prst="rect">
            <a:avLst/>
          </a:prstGeom>
          <a:noFill/>
        </p:spPr>
        <p:txBody>
          <a:bodyPr wrap="none" lIns="0" tIns="0" rIns="0" bIns="0">
            <a:spAutoFit/>
          </a:bodyPr>
          <a:lstStyle/>
          <a:p>
            <a:pPr>
              <a:lnSpc>
                <a:spcPts val="2520"/>
              </a:lnSpc>
              <a:spcBef>
                <a:spcPts val="0"/>
              </a:spcBef>
              <a:spcAft>
                <a:spcPts val="0"/>
              </a:spcAft>
              <a:defRPr sz="2100" b="1">
                <a:solidFill>
                  <a:srgbClr val="00708A"/>
                </a:solidFill>
                <a:latin typeface="Barlow"/>
              </a:defRPr>
            </a:pPr>
            <a:r>
              <a:rPr lang="en-US"/>
              <a:t>Locate the device</a:t>
            </a:r>
            <a:endParaRPr/>
          </a:p>
        </p:txBody>
      </p:sp>
      <p:sp>
        <p:nvSpPr>
          <p:cNvPr id="10" name="TextBox 9"/>
          <p:cNvSpPr txBox="1"/>
          <p:nvPr/>
        </p:nvSpPr>
        <p:spPr>
          <a:xfrm>
            <a:off x="530352" y="2569464"/>
            <a:ext cx="2662588" cy="539891"/>
          </a:xfrm>
          <a:prstGeom prst="rect">
            <a:avLst/>
          </a:prstGeom>
          <a:noFill/>
        </p:spPr>
        <p:txBody>
          <a:bodyPr wrap="none" lIns="0" tIns="0" rIns="0" bIns="0">
            <a:spAutoFit/>
          </a:bodyPr>
          <a:lstStyle/>
          <a:p>
            <a:pPr>
              <a:lnSpc>
                <a:spcPts val="2160"/>
              </a:lnSpc>
              <a:spcBef>
                <a:spcPts val="0"/>
              </a:spcBef>
              <a:spcAft>
                <a:spcPts val="0"/>
              </a:spcAft>
              <a:defRPr sz="1800" b="0">
                <a:solidFill>
                  <a:srgbClr val="0B3C4C"/>
                </a:solidFill>
                <a:latin typeface="Barlow"/>
              </a:defRPr>
            </a:pPr>
            <a:r>
              <a:rPr lang="en-US"/>
              <a:t>See the rack and mounting
position before the visit.</a:t>
            </a:r>
            <a:endParaRPr/>
          </a:p>
        </p:txBody>
      </p:sp>
      <p:sp>
        <p:nvSpPr>
          <p:cNvPr id="11" name="TextBox 10"/>
          <p:cNvSpPr txBox="1"/>
          <p:nvPr/>
        </p:nvSpPr>
        <p:spPr>
          <a:xfrm>
            <a:off x="530352" y="3529584"/>
            <a:ext cx="2742739" cy="320601"/>
          </a:xfrm>
          <a:prstGeom prst="rect">
            <a:avLst/>
          </a:prstGeom>
          <a:noFill/>
        </p:spPr>
        <p:txBody>
          <a:bodyPr wrap="none" lIns="0" tIns="0" rIns="0" bIns="0">
            <a:spAutoFit/>
          </a:bodyPr>
          <a:lstStyle/>
          <a:p>
            <a:pPr>
              <a:lnSpc>
                <a:spcPts val="2520"/>
              </a:lnSpc>
              <a:spcBef>
                <a:spcPts val="0"/>
              </a:spcBef>
              <a:spcAft>
                <a:spcPts val="0"/>
              </a:spcAft>
              <a:defRPr sz="2100" b="1">
                <a:solidFill>
                  <a:srgbClr val="00708A"/>
                </a:solidFill>
                <a:latin typeface="Barlow"/>
              </a:defRPr>
            </a:pPr>
            <a:r>
              <a:rPr lang="en-US"/>
              <a:t>Confirm the placement</a:t>
            </a:r>
            <a:endParaRPr/>
          </a:p>
        </p:txBody>
      </p:sp>
      <p:sp>
        <p:nvSpPr>
          <p:cNvPr id="12" name="TextBox 11"/>
          <p:cNvSpPr txBox="1"/>
          <p:nvPr/>
        </p:nvSpPr>
        <p:spPr>
          <a:xfrm>
            <a:off x="530352" y="3922776"/>
            <a:ext cx="2760371" cy="257763"/>
          </a:xfrm>
          <a:prstGeom prst="rect">
            <a:avLst/>
          </a:prstGeom>
          <a:noFill/>
        </p:spPr>
        <p:txBody>
          <a:bodyPr wrap="none" lIns="0" tIns="0" rIns="0" bIns="0">
            <a:spAutoFit/>
          </a:bodyPr>
          <a:lstStyle/>
          <a:p>
            <a:pPr>
              <a:lnSpc>
                <a:spcPts val="2160"/>
              </a:lnSpc>
              <a:spcBef>
                <a:spcPts val="0"/>
              </a:spcBef>
              <a:spcAft>
                <a:spcPts val="0"/>
              </a:spcAft>
              <a:defRPr sz="1800" b="0">
                <a:solidFill>
                  <a:srgbClr val="0B3C4C"/>
                </a:solidFill>
                <a:latin typeface="Barlow"/>
              </a:defRPr>
            </a:pPr>
            <a:r>
              <a:rPr lang="en-US"/>
              <a:t>Check front or rear context.</a:t>
            </a:r>
            <a:endParaRPr/>
          </a:p>
        </p:txBody>
      </p:sp>
      <p:sp>
        <p:nvSpPr>
          <p:cNvPr id="13" name="TextBox 12"/>
          <p:cNvSpPr txBox="1"/>
          <p:nvPr/>
        </p:nvSpPr>
        <p:spPr>
          <a:xfrm>
            <a:off x="530352" y="4882896"/>
            <a:ext cx="2511906" cy="320601"/>
          </a:xfrm>
          <a:prstGeom prst="rect">
            <a:avLst/>
          </a:prstGeom>
          <a:noFill/>
        </p:spPr>
        <p:txBody>
          <a:bodyPr wrap="none" lIns="0" tIns="0" rIns="0" bIns="0">
            <a:spAutoFit/>
          </a:bodyPr>
          <a:lstStyle/>
          <a:p>
            <a:pPr>
              <a:lnSpc>
                <a:spcPts val="2520"/>
              </a:lnSpc>
              <a:spcBef>
                <a:spcPts val="0"/>
              </a:spcBef>
              <a:spcAft>
                <a:spcPts val="0"/>
              </a:spcAft>
              <a:defRPr sz="2100" b="1">
                <a:solidFill>
                  <a:srgbClr val="00708A"/>
                </a:solidFill>
                <a:latin typeface="Barlow"/>
              </a:defRPr>
            </a:pPr>
            <a:r>
              <a:rPr lang="en-US"/>
              <a:t>Keep the work linked</a:t>
            </a:r>
            <a:endParaRPr/>
          </a:p>
        </p:txBody>
      </p:sp>
      <p:sp>
        <p:nvSpPr>
          <p:cNvPr id="14" name="TextBox 13"/>
          <p:cNvSpPr txBox="1"/>
          <p:nvPr/>
        </p:nvSpPr>
        <p:spPr>
          <a:xfrm>
            <a:off x="530352" y="5276088"/>
            <a:ext cx="2718693" cy="539891"/>
          </a:xfrm>
          <a:prstGeom prst="rect">
            <a:avLst/>
          </a:prstGeom>
          <a:noFill/>
        </p:spPr>
        <p:txBody>
          <a:bodyPr wrap="none" lIns="0" tIns="0" rIns="0" bIns="0">
            <a:spAutoFit/>
          </a:bodyPr>
          <a:lstStyle/>
          <a:p>
            <a:pPr>
              <a:lnSpc>
                <a:spcPts val="2160"/>
              </a:lnSpc>
              <a:spcBef>
                <a:spcPts val="0"/>
              </a:spcBef>
              <a:spcAft>
                <a:spcPts val="0"/>
              </a:spcAft>
              <a:defRPr sz="1800" b="0">
                <a:solidFill>
                  <a:srgbClr val="0B3C4C"/>
                </a:solidFill>
                <a:latin typeface="Barlow"/>
              </a:defRPr>
            </a:pPr>
            <a:r>
              <a:rPr lang="en-US"/>
              <a:t>Connect physical details
to the maintenance record.</a:t>
            </a:r>
            <a:endParaRPr/>
          </a:p>
        </p:txBody>
      </p:sp>
      <p:sp>
        <p:nvSpPr>
          <p:cNvPr id="15" name="Rectangle 14"/>
          <p:cNvSpPr/>
          <p:nvPr/>
        </p:nvSpPr>
        <p:spPr>
          <a:xfrm>
            <a:off x="502920" y="6510528"/>
            <a:ext cx="3291840" cy="868680"/>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7512" y="6656832"/>
            <a:ext cx="1795363" cy="512961"/>
          </a:xfrm>
          <a:prstGeom prst="rect">
            <a:avLst/>
          </a:prstGeom>
          <a:noFill/>
        </p:spPr>
        <p:txBody>
          <a:bodyPr wrap="none" lIns="0" tIns="0" rIns="0" bIns="0">
            <a:spAutoFit/>
          </a:bodyPr>
          <a:lstStyle/>
          <a:p>
            <a:pPr>
              <a:lnSpc>
                <a:spcPts val="2039"/>
              </a:lnSpc>
              <a:spcBef>
                <a:spcPts val="0"/>
              </a:spcBef>
              <a:spcAft>
                <a:spcPts val="0"/>
              </a:spcAft>
              <a:defRPr sz="1700" b="1">
                <a:solidFill>
                  <a:srgbClr val="B35F00"/>
                </a:solidFill>
                <a:latin typeface="Barlow"/>
              </a:defRPr>
            </a:pPr>
            <a:r>
              <a:rPr lang="en-US"/>
              <a:t>The same context,
from plan to rack.</a:t>
            </a:r>
            <a:endParaRPr/>
          </a:p>
        </p:txBody>
      </p:sp>
      <p:sp>
        <p:nvSpPr>
          <p:cNvPr id="17" name="Rectangle 16"/>
          <p:cNvSpPr/>
          <p:nvPr/>
        </p:nvSpPr>
        <p:spPr>
          <a:xfrm>
            <a:off x="4114800" y="1956816"/>
            <a:ext cx="10012680" cy="5532120"/>
          </a:xfrm>
          <a:prstGeom prst="rect">
            <a:avLst/>
          </a:prstGeom>
          <a:solidFill>
            <a:srgbClr val="EFF4F6"/>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Screenshot: rack-0-0-1600-830" descr="rack-0-0-1600-830.png"/>
          <p:cNvPicPr>
            <a:picLocks noChangeAspect="1"/>
          </p:cNvPicPr>
          <p:nvPr/>
        </p:nvPicPr>
        <p:blipFill>
          <a:blip r:embed="rId3"/>
          <a:stretch>
            <a:fillRect/>
          </a:stretch>
        </p:blipFill>
        <p:spPr>
          <a:xfrm>
            <a:off x="4169663" y="2154297"/>
            <a:ext cx="9902952" cy="5137156"/>
          </a:xfrm>
          <a:prstGeom prst="rect">
            <a:avLst/>
          </a:prstGeom>
        </p:spPr>
      </p:pic>
      <p:sp>
        <p:nvSpPr>
          <p:cNvPr id="19" name="TextBox 18"/>
          <p:cNvSpPr txBox="1"/>
          <p:nvPr/>
        </p:nvSpPr>
        <p:spPr>
          <a:xfrm>
            <a:off x="4169663" y="7543800"/>
            <a:ext cx="9875520" cy="215900"/>
          </a:xfrm>
          <a:prstGeom prst="rect">
            <a:avLst/>
          </a:prstGeom>
          <a:noFill/>
        </p:spPr>
        <p:txBody>
          <a:bodyPr wrap="none" lIns="0" tIns="0" rIns="0" bIns="0">
            <a:spAutoFit/>
          </a:bodyPr>
          <a:lstStyle/>
          <a:p>
            <a:pPr>
              <a:lnSpc>
                <a:spcPts val="1200"/>
              </a:lnSpc>
              <a:spcBef>
                <a:spcPts val="0"/>
              </a:spcBef>
              <a:spcAft>
                <a:spcPts val="0"/>
              </a:spcAft>
              <a:defRPr sz="1000" b="0">
                <a:solidFill>
                  <a:srgbClr val="4F6670"/>
                </a:solidFill>
                <a:latin typeface="Barlow"/>
              </a:defRPr>
            </a:pPr>
            <a:r>
              <a:t>Current app v1.113.65 / Isolated demo / Sample records</a:t>
            </a:r>
          </a:p>
        </p:txBody>
      </p:sp>
      <p:sp>
        <p:nvSpPr>
          <p:cNvPr id="901" name="JNX Rule"/>
          <p:cNvSpPr/>
          <p:nvPr/>
        </p:nvSpPr>
        <p:spPr>
          <a:xfrm>
            <a:off x="508000" y="1016000"/>
            <a:ext cx="13627100" cy="19050"/>
          </a:xfrm>
          <a:prstGeom prst="rect">
            <a:avLst/>
          </a:prstGeom>
          <a:solidFill>
            <a:srgbClr val="0B3C4C"/>
          </a:solidFill>
          <a:ln>
            <a:noFill/>
          </a:ln>
        </p:spPr>
        <p:txBody>
          <a:bodyPr/>
          <a:lstStyle/>
          <a:p>
            <a:endParaRPr lang="en-JP"/>
          </a:p>
        </p:txBody>
      </p:sp>
      <p:pic>
        <p:nvPicPr>
          <p:cNvPr id="902" name="Copied Picture 902" descr="Japannext JNX logo">
            <a:extLst>
              <a:ext uri="{FF2B5EF4-FFF2-40B4-BE49-F238E27FC236}">
                <a16:creationId xmlns:a16="http://schemas.microsoft.com/office/drawing/2014/main" id="{429122C2-2B95-92FB-9A5C-2E92C9458AAC}"/>
              </a:ext>
            </a:extLst>
          </p:cNvPr>
          <p:cNvPicPr>
            <a:picLocks noChangeAspect="1"/>
          </p:cNvPicPr>
          <p:nvPr/>
        </p:nvPicPr>
        <p:blipFill>
          <a:blip r:embed="rId4">
            <a:clrChange>
              <a:clrFrom>
                <a:srgbClr val="FFFFFF"/>
              </a:clrFrom>
              <a:clrTo>
                <a:srgbClr val="FFFFFF">
                  <a:alpha val="0"/>
                </a:srgbClr>
              </a:clrTo>
            </a:clrChange>
          </a:blip>
          <a:srcRect l="13500" t="21500" r="13800" b="22500"/>
          <a:stretch>
            <a:fillRect/>
          </a:stretch>
        </p:blipFill>
        <p:spPr>
          <a:xfrm>
            <a:off x="12725400" y="254000"/>
            <a:ext cx="1409700" cy="660400"/>
          </a:xfrm>
          <a:prstGeom prst="rect">
            <a:avLst/>
          </a:prstGeom>
        </p:spPr>
      </p:pic>
    </p:spTree>
    <p:extLst>
      <p:ext uri="{BB962C8B-B14F-4D97-AF65-F5344CB8AC3E}">
        <p14:creationId xmlns:p14="http://schemas.microsoft.com/office/powerpoint/2010/main" val="41721581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6900" y="1270000"/>
            <a:ext cx="965200" cy="274320"/>
          </a:xfrm>
          <a:prstGeom prst="rect">
            <a:avLst/>
          </a:prstGeom>
          <a:noFill/>
        </p:spPr>
        <p:txBody>
          <a:bodyPr wrap="square" lIns="0" tIns="0" rIns="0" bIns="0">
            <a:noAutofit/>
          </a:bodyPr>
          <a:lstStyle/>
          <a:p>
            <a:pPr>
              <a:spcAft>
                <a:spcPts val="700"/>
              </a:spcAft>
              <a:defRPr sz="1100" b="1">
                <a:solidFill>
                  <a:srgbClr val="00708A"/>
                </a:solidFill>
                <a:latin typeface="Barlow"/>
              </a:defRPr>
            </a:pPr>
            <a:r>
              <a:t>SERVICEOPS</a:t>
            </a:r>
          </a:p>
        </p:txBody>
      </p:sp>
      <p:sp>
        <p:nvSpPr>
          <p:cNvPr id="4" name="TextBox 3"/>
          <p:cNvSpPr txBox="1"/>
          <p:nvPr/>
        </p:nvSpPr>
        <p:spPr>
          <a:xfrm>
            <a:off x="1714500" y="1270000"/>
            <a:ext cx="11430000" cy="184666"/>
          </a:xfrm>
          <a:prstGeom prst="rect">
            <a:avLst/>
          </a:prstGeom>
          <a:noFill/>
        </p:spPr>
        <p:txBody>
          <a:bodyPr wrap="square" lIns="0" tIns="0" rIns="0" bIns="0">
            <a:spAutoFit/>
          </a:bodyPr>
          <a:lstStyle/>
          <a:p>
            <a:pPr>
              <a:spcAft>
                <a:spcPts val="700"/>
              </a:spcAft>
              <a:defRPr sz="1200" b="1">
                <a:solidFill>
                  <a:srgbClr val="4F6670"/>
                </a:solidFill>
                <a:latin typeface="Barlow"/>
              </a:defRPr>
            </a:pPr>
            <a:r>
              <a:rPr lang="en-US"/>
              <a:t>FROM PLAN TO THE RIGHT DEVICE</a:t>
            </a:r>
            <a:endParaRPr/>
          </a:p>
        </p:txBody>
      </p:sp>
      <p:sp>
        <p:nvSpPr>
          <p:cNvPr id="5" name="TextBox 4"/>
          <p:cNvSpPr txBox="1"/>
          <p:nvPr/>
        </p:nvSpPr>
        <p:spPr>
          <a:xfrm>
            <a:off x="596900" y="304800"/>
            <a:ext cx="11430000" cy="400110"/>
          </a:xfrm>
          <a:prstGeom prst="rect">
            <a:avLst/>
          </a:prstGeom>
          <a:noFill/>
        </p:spPr>
        <p:txBody>
          <a:bodyPr wrap="square" lIns="0" tIns="0" rIns="0" bIns="0">
            <a:spAutoFit/>
          </a:bodyPr>
          <a:lstStyle/>
          <a:p>
            <a:pPr>
              <a:spcAft>
                <a:spcPts val="700"/>
              </a:spcAft>
              <a:defRPr sz="2600" b="1">
                <a:solidFill>
                  <a:srgbClr val="0B3C4C"/>
                </a:solidFill>
                <a:latin typeface="Barlow"/>
              </a:defRPr>
            </a:pPr>
            <a:r>
              <a:rPr lang="en-US" sz="2600"/>
              <a:t>Turn a maintenance handover into actionable context.</a:t>
            </a:r>
            <a:endParaRPr sz="2600"/>
          </a:p>
        </p:txBody>
      </p:sp>
      <p:sp>
        <p:nvSpPr>
          <p:cNvPr id="6" name="TextBox 5"/>
          <p:cNvSpPr txBox="1"/>
          <p:nvPr/>
        </p:nvSpPr>
        <p:spPr>
          <a:xfrm>
            <a:off x="596900" y="1625600"/>
            <a:ext cx="13436600" cy="307777"/>
          </a:xfrm>
          <a:prstGeom prst="rect">
            <a:avLst/>
          </a:prstGeom>
          <a:noFill/>
        </p:spPr>
        <p:txBody>
          <a:bodyPr wrap="square" lIns="0" tIns="0" rIns="0" bIns="0">
            <a:spAutoFit/>
          </a:bodyPr>
          <a:lstStyle/>
          <a:p>
            <a:pPr>
              <a:spcAft>
                <a:spcPts val="700"/>
              </a:spcAft>
              <a:defRPr sz="2000" b="0">
                <a:solidFill>
                  <a:srgbClr val="4F6670"/>
                </a:solidFill>
                <a:latin typeface="Barlow"/>
              </a:defRPr>
            </a:pPr>
            <a:r>
              <a:rPr lang="en-US"/>
              <a:t>Illustrative example: coreapps-01, rack A12, Tokyo DC1; inventory synchronized from NetBox.</a:t>
            </a:r>
            <a:endParaRPr/>
          </a:p>
        </p:txBody>
      </p:sp>
      <p:sp>
        <p:nvSpPr>
          <p:cNvPr id="7" name="Rectangle 6"/>
          <p:cNvSpPr/>
          <p:nvPr/>
        </p:nvSpPr>
        <p:spPr>
          <a:xfrm>
            <a:off x="594360" y="7754112"/>
            <a:ext cx="13441680" cy="10972"/>
          </a:xfrm>
          <a:prstGeom prst="rect">
            <a:avLst/>
          </a:prstGeom>
          <a:solidFill>
            <a:srgbClr val="D5D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7909560"/>
            <a:ext cx="10058400" cy="182880"/>
          </a:xfrm>
          <a:prstGeom prst="rect">
            <a:avLst/>
          </a:prstGeom>
          <a:noFill/>
        </p:spPr>
        <p:txBody>
          <a:bodyPr wrap="square" lIns="0" tIns="0" rIns="0" bIns="0">
            <a:spAutoFit/>
          </a:bodyPr>
          <a:lstStyle/>
          <a:p>
            <a:pPr>
              <a:spcAft>
                <a:spcPts val="700"/>
              </a:spcAft>
              <a:defRPr sz="900" b="0">
                <a:solidFill>
                  <a:srgbClr val="4F6670"/>
                </a:solidFill>
                <a:latin typeface="Barlow"/>
              </a:defRPr>
            </a:pPr>
            <a:r>
              <a:t>Anushka Wijesundara  /  Product overview</a:t>
            </a:r>
          </a:p>
        </p:txBody>
      </p:sp>
      <p:sp>
        <p:nvSpPr>
          <p:cNvPr id="9" name="TextBox 8"/>
          <p:cNvSpPr txBox="1"/>
          <p:nvPr/>
        </p:nvSpPr>
        <p:spPr>
          <a:xfrm>
            <a:off x="13487400" y="7854696"/>
            <a:ext cx="548640" cy="184666"/>
          </a:xfrm>
          <a:prstGeom prst="rect">
            <a:avLst/>
          </a:prstGeom>
          <a:noFill/>
        </p:spPr>
        <p:txBody>
          <a:bodyPr wrap="square" lIns="0" tIns="0" rIns="0" bIns="0">
            <a:spAutoFit/>
          </a:bodyPr>
          <a:lstStyle/>
          <a:p>
            <a:pPr>
              <a:spcAft>
                <a:spcPts val="700"/>
              </a:spcAft>
              <a:defRPr sz="1200" b="1">
                <a:solidFill>
                  <a:srgbClr val="00708A"/>
                </a:solidFill>
                <a:latin typeface="Barlow"/>
              </a:defRPr>
            </a:pPr>
            <a:r>
              <a:rPr lang="en-JP"/>
              <a:t>10</a:t>
            </a:r>
            <a:endParaRPr/>
          </a:p>
        </p:txBody>
      </p:sp>
      <p:sp>
        <p:nvSpPr>
          <p:cNvPr id="901" name="JNX Rule"/>
          <p:cNvSpPr/>
          <p:nvPr/>
        </p:nvSpPr>
        <p:spPr>
          <a:xfrm>
            <a:off x="596900" y="1016000"/>
            <a:ext cx="13436600" cy="19050"/>
          </a:xfrm>
          <a:prstGeom prst="rect">
            <a:avLst/>
          </a:prstGeom>
          <a:solidFill>
            <a:srgbClr val="0B3C4C"/>
          </a:solidFill>
          <a:ln>
            <a:noFill/>
          </a:ln>
        </p:spPr>
        <p:txBody>
          <a:bodyPr/>
          <a:lstStyle/>
          <a:p>
            <a:endParaRPr lang="en-JP"/>
          </a:p>
        </p:txBody>
      </p:sp>
      <p:pic>
        <p:nvPicPr>
          <p:cNvPr id="903" name="Copied Picture 903" descr="Japannext JNX logo">
            <a:extLst>
              <a:ext uri="{FF2B5EF4-FFF2-40B4-BE49-F238E27FC236}">
                <a16:creationId xmlns:a16="http://schemas.microsoft.com/office/drawing/2014/main" id="{429122C2-2B95-92FB-9A5C-2E92C9458AAC}"/>
              </a:ext>
            </a:extLst>
          </p:cNvPr>
          <p:cNvPicPr>
            <a:picLocks noChangeAspect="1"/>
          </p:cNvPicPr>
          <p:nvPr/>
        </p:nvPicPr>
        <p:blipFill>
          <a:blip r:embed="rId3">
            <a:clrChange>
              <a:clrFrom>
                <a:srgbClr val="FFFFFF"/>
              </a:clrFrom>
              <a:clrTo>
                <a:srgbClr val="FFFFFF">
                  <a:alpha val="0"/>
                </a:srgbClr>
              </a:clrTo>
            </a:clrChange>
          </a:blip>
          <a:srcRect l="13500" t="21500" r="13800" b="22500"/>
          <a:stretch>
            <a:fillRect/>
          </a:stretch>
        </p:blipFill>
        <p:spPr>
          <a:xfrm>
            <a:off x="12623800" y="254000"/>
            <a:ext cx="1409700" cy="660400"/>
          </a:xfrm>
          <a:prstGeom prst="rect">
            <a:avLst/>
          </a:prstGeom>
        </p:spPr>
      </p:pic>
      <p:pic>
        <p:nvPicPr>
          <p:cNvPr id="11" name="Screenshot 1">
            <a:extLst>
              <a:ext uri="{FF2B5EF4-FFF2-40B4-BE49-F238E27FC236}">
                <a16:creationId xmlns:a16="http://schemas.microsoft.com/office/drawing/2014/main" id="{85DA99FE-2F44-ACD9-C12C-E1E9DD59A4E3}"/>
              </a:ext>
            </a:extLst>
          </p:cNvPr>
          <p:cNvPicPr>
            <a:picLocks noChangeAspect="1"/>
          </p:cNvPicPr>
          <p:nvPr/>
        </p:nvPicPr>
        <p:blipFill>
          <a:blip r:embed="rId4"/>
          <a:srcRect l="15000" t="45276" r="52396" b="32790"/>
          <a:stretch>
            <a:fillRect/>
          </a:stretch>
        </p:blipFill>
        <p:spPr>
          <a:xfrm>
            <a:off x="8935002" y="2184400"/>
            <a:ext cx="5098498" cy="4821509"/>
          </a:xfrm>
          <a:prstGeom prst="rect">
            <a:avLst/>
          </a:prstGeom>
          <a:ln w="9525">
            <a:solidFill>
              <a:srgbClr val="C5D0D5"/>
            </a:solidFill>
          </a:ln>
        </p:spPr>
      </p:pic>
      <p:sp>
        <p:nvSpPr>
          <p:cNvPr id="950" name="Body 950"/>
          <p:cNvSpPr txBox="1"/>
          <p:nvPr/>
        </p:nvSpPr>
        <p:spPr>
          <a:xfrm>
            <a:off x="596900" y="2489200"/>
            <a:ext cx="7620000" cy="2286000"/>
          </a:xfrm>
          <a:prstGeom prst="rect">
            <a:avLst/>
          </a:prstGeom>
          <a:noFill/>
        </p:spPr>
        <p:txBody>
          <a:bodyPr wrap="square" lIns="0" tIns="0" rIns="0" bIns="0" anchor="t">
            <a:noAutofit/>
          </a:bodyPr>
          <a:lstStyle/>
          <a:p>
            <a:pPr>
              <a:spcBef>
                <a:spcPts val="0"/>
              </a:spcBef>
              <a:buNone/>
            </a:pPr>
            <a:r>
              <a:rPr lang="en-US" sz="1600" b="1" dirty="0">
                <a:solidFill>
                  <a:srgbClr val="0B3C4C"/>
                </a:solidFill>
                <a:latin typeface="Barlow"/>
              </a:rPr>
              <a:t>Know where to go</a:t>
            </a:r>
          </a:p>
          <a:p>
            <a:pPr>
              <a:spcBef>
                <a:spcPts val="300"/>
              </a:spcBef>
              <a:buNone/>
            </a:pPr>
            <a:r>
              <a:rPr lang="en-US" sz="1500" b="0" dirty="0">
                <a:solidFill>
                  <a:srgbClr val="4F6670"/>
                </a:solidFill>
                <a:latin typeface="Barlow"/>
              </a:rPr>
              <a:t>Give engineers the rack and slot before the visit.</a:t>
            </a:r>
          </a:p>
          <a:p>
            <a:pPr>
              <a:spcBef>
                <a:spcPts val="2000"/>
              </a:spcBef>
              <a:buNone/>
            </a:pPr>
            <a:r>
              <a:rPr lang="en-US" sz="1600" b="1" dirty="0">
                <a:solidFill>
                  <a:srgbClr val="0B3C4C"/>
                </a:solidFill>
                <a:latin typeface="Barlow"/>
              </a:rPr>
              <a:t>Confirm the right device</a:t>
            </a:r>
          </a:p>
          <a:p>
            <a:pPr>
              <a:spcBef>
                <a:spcPts val="300"/>
              </a:spcBef>
              <a:buNone/>
            </a:pPr>
            <a:r>
              <a:rPr lang="en-US" sz="1500" b="0" dirty="0">
                <a:solidFill>
                  <a:srgbClr val="4F6670"/>
                </a:solidFill>
                <a:latin typeface="Barlow"/>
              </a:rPr>
              <a:t>Use the chassis serial number to open its record.</a:t>
            </a:r>
          </a:p>
          <a:p>
            <a:pPr>
              <a:spcBef>
                <a:spcPts val="2000"/>
              </a:spcBef>
              <a:buNone/>
            </a:pPr>
            <a:r>
              <a:rPr lang="en-US" sz="1600" b="1" dirty="0">
                <a:solidFill>
                  <a:srgbClr val="0B3C4C"/>
                </a:solidFill>
                <a:latin typeface="Barlow"/>
              </a:rPr>
              <a:t>Keep support context close</a:t>
            </a:r>
          </a:p>
          <a:p>
            <a:pPr>
              <a:spcBef>
                <a:spcPts val="300"/>
              </a:spcBef>
              <a:buNone/>
            </a:pPr>
            <a:r>
              <a:rPr lang="en-US" sz="1500" b="0" dirty="0">
                <a:solidFill>
                  <a:srgbClr val="4F6670"/>
                </a:solidFill>
                <a:latin typeface="Barlow"/>
              </a:rPr>
              <a:t>Review warranty, support and cabling on the same page.</a:t>
            </a:r>
          </a:p>
        </p:txBody>
      </p:sp>
      <p:pic>
        <p:nvPicPr>
          <p:cNvPr id="10" name="Screenshot search">
            <a:extLst>
              <a:ext uri="{FF2B5EF4-FFF2-40B4-BE49-F238E27FC236}">
                <a16:creationId xmlns:a16="http://schemas.microsoft.com/office/drawing/2014/main" id="{8ACDB154-CF6A-8E2A-9A22-05E45DB756EC}"/>
              </a:ext>
            </a:extLst>
          </p:cNvPr>
          <p:cNvPicPr>
            <a:picLocks noChangeAspect="1"/>
          </p:cNvPicPr>
          <p:nvPr/>
        </p:nvPicPr>
        <p:blipFill>
          <a:blip r:embed="rId5"/>
          <a:srcRect l="14948" t="18435" r="47917" b="64928"/>
          <a:stretch>
            <a:fillRect/>
          </a:stretch>
        </p:blipFill>
        <p:spPr>
          <a:xfrm>
            <a:off x="596900" y="4978400"/>
            <a:ext cx="7112000" cy="1845330"/>
          </a:xfrm>
          <a:prstGeom prst="rect">
            <a:avLst/>
          </a:prstGeom>
          <a:ln w="9525">
            <a:solidFill>
              <a:srgbClr val="D5DDE0"/>
            </a:solidFill>
          </a:ln>
        </p:spPr>
      </p:pic>
    </p:spTree>
    <p:extLst>
      <p:ext uri="{BB962C8B-B14F-4D97-AF65-F5344CB8AC3E}">
        <p14:creationId xmlns:p14="http://schemas.microsoft.com/office/powerpoint/2010/main" val="32779282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04800"/>
            <a:ext cx="146304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1244600"/>
            <a:ext cx="1143000" cy="254000"/>
          </a:xfrm>
          <a:prstGeom prst="rect">
            <a:avLst/>
          </a:prstGeom>
          <a:noFill/>
        </p:spPr>
        <p:txBody>
          <a:bodyPr wrap="none" lIns="0" tIns="0" rIns="0" bIns="0">
            <a:spAutoFit/>
          </a:bodyPr>
          <a:lstStyle/>
          <a:p>
            <a:pPr>
              <a:lnSpc>
                <a:spcPts val="1439"/>
              </a:lnSpc>
              <a:spcBef>
                <a:spcPts val="0"/>
              </a:spcBef>
              <a:spcAft>
                <a:spcPts val="0"/>
              </a:spcAft>
              <a:defRPr sz="1200" b="1">
                <a:solidFill>
                  <a:srgbClr val="00708A"/>
                </a:solidFill>
                <a:latin typeface="Barlow"/>
              </a:defRPr>
            </a:pPr>
            <a:r>
              <a:t>SERVICEOPS</a:t>
            </a:r>
          </a:p>
        </p:txBody>
      </p:sp>
      <p:sp>
        <p:nvSpPr>
          <p:cNvPr id="4" name="TextBox 3"/>
          <p:cNvSpPr txBox="1"/>
          <p:nvPr/>
        </p:nvSpPr>
        <p:spPr>
          <a:xfrm>
            <a:off x="1625600" y="1244600"/>
            <a:ext cx="2487861" cy="179536"/>
          </a:xfrm>
          <a:prstGeom prst="rect">
            <a:avLst/>
          </a:prstGeom>
          <a:noFill/>
        </p:spPr>
        <p:txBody>
          <a:bodyPr wrap="none" lIns="0" tIns="0" rIns="0" bIns="0">
            <a:spAutoFit/>
          </a:bodyPr>
          <a:lstStyle/>
          <a:p>
            <a:pPr>
              <a:lnSpc>
                <a:spcPts val="1439"/>
              </a:lnSpc>
              <a:spcBef>
                <a:spcPts val="0"/>
              </a:spcBef>
              <a:spcAft>
                <a:spcPts val="0"/>
              </a:spcAft>
              <a:defRPr sz="1200" b="1">
                <a:solidFill>
                  <a:srgbClr val="4F6670"/>
                </a:solidFill>
                <a:latin typeface="Barlow"/>
              </a:defRPr>
            </a:pPr>
            <a:r>
              <a:rPr lang="en-US"/>
              <a:t>COORDINATION BEYOND THE TICKET</a:t>
            </a:r>
            <a:endParaRPr/>
          </a:p>
        </p:txBody>
      </p:sp>
      <p:sp>
        <p:nvSpPr>
          <p:cNvPr id="5" name="TextBox 4"/>
          <p:cNvSpPr txBox="1"/>
          <p:nvPr/>
        </p:nvSpPr>
        <p:spPr>
          <a:xfrm>
            <a:off x="508000" y="304800"/>
            <a:ext cx="7561365" cy="412934"/>
          </a:xfrm>
          <a:prstGeom prst="rect">
            <a:avLst/>
          </a:prstGeom>
          <a:noFill/>
        </p:spPr>
        <p:txBody>
          <a:bodyPr wrap="none" lIns="0" tIns="0" rIns="0" bIns="0">
            <a:spAutoFit/>
          </a:bodyPr>
          <a:lstStyle/>
          <a:p>
            <a:pPr>
              <a:lnSpc>
                <a:spcPts val="3600"/>
              </a:lnSpc>
              <a:spcBef>
                <a:spcPts val="0"/>
              </a:spcBef>
              <a:spcAft>
                <a:spcPts val="0"/>
              </a:spcAft>
              <a:defRPr sz="2600" b="1">
                <a:solidFill>
                  <a:srgbClr val="0B3C4C"/>
                </a:solidFill>
                <a:latin typeface="Barlow"/>
              </a:defRPr>
            </a:pPr>
            <a:r>
              <a:rPr lang="en-US"/>
              <a:t>Keep delivery tasks visible across team handovers.</a:t>
            </a:r>
            <a:endParaRPr/>
          </a:p>
        </p:txBody>
      </p:sp>
      <p:sp>
        <p:nvSpPr>
          <p:cNvPr id="6" name="Rectangle 5"/>
          <p:cNvSpPr/>
          <p:nvPr/>
        </p:nvSpPr>
        <p:spPr>
          <a:xfrm>
            <a:off x="502920" y="7790688"/>
            <a:ext cx="13624560" cy="10972"/>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7918704"/>
            <a:ext cx="10972800" cy="215900"/>
          </a:xfrm>
          <a:prstGeom prst="rect">
            <a:avLst/>
          </a:prstGeom>
          <a:noFill/>
        </p:spPr>
        <p:txBody>
          <a:bodyPr wrap="none" lIns="0" tIns="0" rIns="0" bIns="0">
            <a:spAutoFit/>
          </a:bodyPr>
          <a:lstStyle/>
          <a:p>
            <a:pPr>
              <a:lnSpc>
                <a:spcPts val="1200"/>
              </a:lnSpc>
              <a:spcBef>
                <a:spcPts val="0"/>
              </a:spcBef>
              <a:spcAft>
                <a:spcPts val="0"/>
              </a:spcAft>
              <a:defRPr sz="1000" b="0">
                <a:solidFill>
                  <a:srgbClr val="4F6670"/>
                </a:solidFill>
                <a:latin typeface="Barlow"/>
              </a:defRPr>
            </a:pPr>
            <a:r>
              <a:t>Anushka Wijesundara / Product overview / October 2026</a:t>
            </a:r>
          </a:p>
        </p:txBody>
      </p:sp>
      <p:sp>
        <p:nvSpPr>
          <p:cNvPr id="8" name="TextBox 7"/>
          <p:cNvSpPr txBox="1"/>
          <p:nvPr/>
        </p:nvSpPr>
        <p:spPr>
          <a:xfrm>
            <a:off x="11976100" y="7918704"/>
            <a:ext cx="2159000" cy="215900"/>
          </a:xfrm>
          <a:prstGeom prst="rect">
            <a:avLst/>
          </a:prstGeom>
          <a:noFill/>
        </p:spPr>
        <p:txBody>
          <a:bodyPr wrap="none" lIns="0" tIns="0" rIns="0" bIns="0">
            <a:spAutoFit/>
          </a:bodyPr>
          <a:lstStyle/>
          <a:p>
            <a:pPr algn="r">
              <a:lnSpc>
                <a:spcPts val="1200"/>
              </a:lnSpc>
              <a:spcBef>
                <a:spcPts val="0"/>
              </a:spcBef>
              <a:spcAft>
                <a:spcPts val="0"/>
              </a:spcAft>
              <a:defRPr sz="1000" b="1">
                <a:solidFill>
                  <a:srgbClr val="00708A"/>
                </a:solidFill>
                <a:latin typeface="Barlow"/>
              </a:defRPr>
            </a:pPr>
            <a:r>
              <a:t>09</a:t>
            </a:r>
          </a:p>
        </p:txBody>
      </p:sp>
      <p:sp>
        <p:nvSpPr>
          <p:cNvPr id="9" name="TextBox 8"/>
          <p:cNvSpPr txBox="1"/>
          <p:nvPr/>
        </p:nvSpPr>
        <p:spPr>
          <a:xfrm>
            <a:off x="530352" y="2176272"/>
            <a:ext cx="2002151" cy="320601"/>
          </a:xfrm>
          <a:prstGeom prst="rect">
            <a:avLst/>
          </a:prstGeom>
          <a:noFill/>
        </p:spPr>
        <p:txBody>
          <a:bodyPr wrap="none" lIns="0" tIns="0" rIns="0" bIns="0">
            <a:spAutoFit/>
          </a:bodyPr>
          <a:lstStyle/>
          <a:p>
            <a:pPr>
              <a:lnSpc>
                <a:spcPts val="2520"/>
              </a:lnSpc>
              <a:spcBef>
                <a:spcPts val="0"/>
              </a:spcBef>
              <a:spcAft>
                <a:spcPts val="0"/>
              </a:spcAft>
              <a:defRPr sz="2100" b="1">
                <a:solidFill>
                  <a:srgbClr val="00708A"/>
                </a:solidFill>
                <a:latin typeface="Barlow"/>
              </a:defRPr>
            </a:pPr>
            <a:r>
              <a:rPr lang="en-US"/>
              <a:t>Expose the work</a:t>
            </a:r>
            <a:endParaRPr/>
          </a:p>
        </p:txBody>
      </p:sp>
      <p:sp>
        <p:nvSpPr>
          <p:cNvPr id="10" name="TextBox 9"/>
          <p:cNvSpPr txBox="1"/>
          <p:nvPr/>
        </p:nvSpPr>
        <p:spPr>
          <a:xfrm>
            <a:off x="530352" y="2569464"/>
            <a:ext cx="2657779" cy="539891"/>
          </a:xfrm>
          <a:prstGeom prst="rect">
            <a:avLst/>
          </a:prstGeom>
          <a:noFill/>
        </p:spPr>
        <p:txBody>
          <a:bodyPr wrap="none" lIns="0" tIns="0" rIns="0" bIns="0">
            <a:spAutoFit/>
          </a:bodyPr>
          <a:lstStyle/>
          <a:p>
            <a:pPr>
              <a:lnSpc>
                <a:spcPts val="2160"/>
              </a:lnSpc>
              <a:spcBef>
                <a:spcPts val="0"/>
              </a:spcBef>
              <a:spcAft>
                <a:spcPts val="0"/>
              </a:spcAft>
              <a:defRPr sz="1800" b="0">
                <a:solidFill>
                  <a:srgbClr val="0B3C4C"/>
                </a:solidFill>
                <a:latin typeface="Barlow"/>
              </a:defRPr>
            </a:pPr>
            <a:r>
              <a:rPr lang="en-US"/>
              <a:t>Show task status so teams
can coordinate delivery.</a:t>
            </a:r>
            <a:endParaRPr/>
          </a:p>
        </p:txBody>
      </p:sp>
      <p:sp>
        <p:nvSpPr>
          <p:cNvPr id="11" name="TextBox 10"/>
          <p:cNvSpPr txBox="1"/>
          <p:nvPr/>
        </p:nvSpPr>
        <p:spPr>
          <a:xfrm>
            <a:off x="530352" y="3529584"/>
            <a:ext cx="2434962" cy="320601"/>
          </a:xfrm>
          <a:prstGeom prst="rect">
            <a:avLst/>
          </a:prstGeom>
          <a:noFill/>
        </p:spPr>
        <p:txBody>
          <a:bodyPr wrap="none" lIns="0" tIns="0" rIns="0" bIns="0">
            <a:spAutoFit/>
          </a:bodyPr>
          <a:lstStyle/>
          <a:p>
            <a:pPr>
              <a:lnSpc>
                <a:spcPts val="2520"/>
              </a:lnSpc>
              <a:spcBef>
                <a:spcPts val="0"/>
              </a:spcBef>
              <a:spcAft>
                <a:spcPts val="0"/>
              </a:spcAft>
              <a:defRPr sz="2100" b="1">
                <a:solidFill>
                  <a:srgbClr val="00708A"/>
                </a:solidFill>
                <a:latin typeface="Barlow"/>
              </a:defRPr>
            </a:pPr>
            <a:r>
              <a:rPr lang="en-US"/>
              <a:t>Break down delivery</a:t>
            </a:r>
            <a:endParaRPr/>
          </a:p>
        </p:txBody>
      </p:sp>
      <p:sp>
        <p:nvSpPr>
          <p:cNvPr id="12" name="TextBox 11"/>
          <p:cNvSpPr txBox="1"/>
          <p:nvPr/>
        </p:nvSpPr>
        <p:spPr>
          <a:xfrm>
            <a:off x="530352" y="3922776"/>
            <a:ext cx="3101811" cy="257763"/>
          </a:xfrm>
          <a:prstGeom prst="rect">
            <a:avLst/>
          </a:prstGeom>
          <a:noFill/>
        </p:spPr>
        <p:txBody>
          <a:bodyPr wrap="none" lIns="0" tIns="0" rIns="0" bIns="0">
            <a:spAutoFit/>
          </a:bodyPr>
          <a:lstStyle/>
          <a:p>
            <a:pPr>
              <a:lnSpc>
                <a:spcPts val="2160"/>
              </a:lnSpc>
              <a:spcBef>
                <a:spcPts val="0"/>
              </a:spcBef>
              <a:spcAft>
                <a:spcPts val="0"/>
              </a:spcAft>
              <a:defRPr sz="1800" b="0">
                <a:solidFill>
                  <a:srgbClr val="0B3C4C"/>
                </a:solidFill>
                <a:latin typeface="Barlow"/>
              </a:defRPr>
            </a:pPr>
            <a:r>
              <a:rPr lang="en-US"/>
              <a:t>Link parent work and subtasks.</a:t>
            </a:r>
            <a:endParaRPr/>
          </a:p>
        </p:txBody>
      </p:sp>
      <p:sp>
        <p:nvSpPr>
          <p:cNvPr id="13" name="TextBox 12"/>
          <p:cNvSpPr txBox="1"/>
          <p:nvPr/>
        </p:nvSpPr>
        <p:spPr>
          <a:xfrm>
            <a:off x="530352" y="4882896"/>
            <a:ext cx="2497479" cy="320601"/>
          </a:xfrm>
          <a:prstGeom prst="rect">
            <a:avLst/>
          </a:prstGeom>
          <a:noFill/>
        </p:spPr>
        <p:txBody>
          <a:bodyPr wrap="none" lIns="0" tIns="0" rIns="0" bIns="0">
            <a:spAutoFit/>
          </a:bodyPr>
          <a:lstStyle/>
          <a:p>
            <a:pPr>
              <a:lnSpc>
                <a:spcPts val="2520"/>
              </a:lnSpc>
              <a:spcBef>
                <a:spcPts val="0"/>
              </a:spcBef>
              <a:spcAft>
                <a:spcPts val="0"/>
              </a:spcAft>
              <a:defRPr sz="2100" b="1">
                <a:solidFill>
                  <a:srgbClr val="00708A"/>
                </a:solidFill>
                <a:latin typeface="Barlow"/>
              </a:defRPr>
            </a:pPr>
            <a:r>
              <a:rPr lang="en-US"/>
              <a:t>Surface the blockers</a:t>
            </a:r>
            <a:endParaRPr/>
          </a:p>
        </p:txBody>
      </p:sp>
      <p:sp>
        <p:nvSpPr>
          <p:cNvPr id="14" name="TextBox 13"/>
          <p:cNvSpPr txBox="1"/>
          <p:nvPr/>
        </p:nvSpPr>
        <p:spPr>
          <a:xfrm>
            <a:off x="530352" y="5276088"/>
            <a:ext cx="2622513" cy="539891"/>
          </a:xfrm>
          <a:prstGeom prst="rect">
            <a:avLst/>
          </a:prstGeom>
          <a:noFill/>
        </p:spPr>
        <p:txBody>
          <a:bodyPr wrap="none" lIns="0" tIns="0" rIns="0" bIns="0">
            <a:spAutoFit/>
          </a:bodyPr>
          <a:lstStyle/>
          <a:p>
            <a:pPr>
              <a:lnSpc>
                <a:spcPts val="2160"/>
              </a:lnSpc>
              <a:spcBef>
                <a:spcPts val="0"/>
              </a:spcBef>
              <a:spcAft>
                <a:spcPts val="0"/>
              </a:spcAft>
              <a:defRPr sz="1800" b="0">
                <a:solidFill>
                  <a:srgbClr val="0B3C4C"/>
                </a:solidFill>
                <a:latin typeface="Barlow"/>
              </a:defRPr>
            </a:pPr>
            <a:r>
              <a:rPr lang="en-US"/>
              <a:t>Track responsibility and
what is holding work back.</a:t>
            </a:r>
            <a:endParaRPr/>
          </a:p>
        </p:txBody>
      </p:sp>
      <p:sp>
        <p:nvSpPr>
          <p:cNvPr id="15" name="Rectangle 14"/>
          <p:cNvSpPr/>
          <p:nvPr/>
        </p:nvSpPr>
        <p:spPr>
          <a:xfrm>
            <a:off x="502920" y="6510528"/>
            <a:ext cx="3291840" cy="868680"/>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7512" y="6656832"/>
            <a:ext cx="2231380" cy="512961"/>
          </a:xfrm>
          <a:prstGeom prst="rect">
            <a:avLst/>
          </a:prstGeom>
          <a:noFill/>
        </p:spPr>
        <p:txBody>
          <a:bodyPr wrap="none" lIns="0" tIns="0" rIns="0" bIns="0">
            <a:spAutoFit/>
          </a:bodyPr>
          <a:lstStyle/>
          <a:p>
            <a:pPr>
              <a:lnSpc>
                <a:spcPts val="2039"/>
              </a:lnSpc>
              <a:spcBef>
                <a:spcPts val="0"/>
              </a:spcBef>
              <a:spcAft>
                <a:spcPts val="0"/>
              </a:spcAft>
              <a:defRPr sz="1700" b="1">
                <a:solidFill>
                  <a:srgbClr val="B35F00"/>
                </a:solidFill>
                <a:latin typeface="Barlow"/>
              </a:defRPr>
            </a:pPr>
            <a:r>
              <a:rPr lang="en-US"/>
              <a:t>Shared delivery status.
Fewer assumptions.</a:t>
            </a:r>
            <a:endParaRPr/>
          </a:p>
        </p:txBody>
      </p:sp>
      <p:pic>
        <p:nvPicPr>
          <p:cNvPr id="18" name="Screenshot: project-board-245-60-1600-1000" descr="project-board-245-60-1600-1000.png"/>
          <p:cNvPicPr>
            <a:picLocks noChangeAspect="1"/>
          </p:cNvPicPr>
          <p:nvPr/>
        </p:nvPicPr>
        <p:blipFill>
          <a:blip r:embed="rId3"/>
          <a:stretch>
            <a:fillRect/>
          </a:stretch>
        </p:blipFill>
        <p:spPr>
          <a:xfrm>
            <a:off x="5224912" y="1170178"/>
            <a:ext cx="8820271" cy="6118860"/>
          </a:xfrm>
          <a:prstGeom prst="rect">
            <a:avLst/>
          </a:prstGeom>
        </p:spPr>
      </p:pic>
      <p:sp>
        <p:nvSpPr>
          <p:cNvPr id="19" name="TextBox 18"/>
          <p:cNvSpPr txBox="1"/>
          <p:nvPr/>
        </p:nvSpPr>
        <p:spPr>
          <a:xfrm>
            <a:off x="4169663" y="7543800"/>
            <a:ext cx="9875520" cy="215900"/>
          </a:xfrm>
          <a:prstGeom prst="rect">
            <a:avLst/>
          </a:prstGeom>
          <a:noFill/>
        </p:spPr>
        <p:txBody>
          <a:bodyPr wrap="none" lIns="0" tIns="0" rIns="0" bIns="0">
            <a:spAutoFit/>
          </a:bodyPr>
          <a:lstStyle/>
          <a:p>
            <a:pPr>
              <a:lnSpc>
                <a:spcPts val="1200"/>
              </a:lnSpc>
              <a:spcBef>
                <a:spcPts val="0"/>
              </a:spcBef>
              <a:spcAft>
                <a:spcPts val="0"/>
              </a:spcAft>
              <a:defRPr sz="1000" b="0">
                <a:solidFill>
                  <a:srgbClr val="4F6670"/>
                </a:solidFill>
                <a:latin typeface="Barlow"/>
              </a:defRPr>
            </a:pPr>
            <a:r>
              <a:t>Current app v1.113.65 / Isolated demo / Sample records</a:t>
            </a:r>
          </a:p>
        </p:txBody>
      </p:sp>
      <p:sp>
        <p:nvSpPr>
          <p:cNvPr id="901" name="JNX Rule"/>
          <p:cNvSpPr/>
          <p:nvPr/>
        </p:nvSpPr>
        <p:spPr>
          <a:xfrm>
            <a:off x="508000" y="1016000"/>
            <a:ext cx="13627100" cy="19050"/>
          </a:xfrm>
          <a:prstGeom prst="rect">
            <a:avLst/>
          </a:prstGeom>
          <a:solidFill>
            <a:srgbClr val="0B3C4C"/>
          </a:solidFill>
          <a:ln>
            <a:noFill/>
          </a:ln>
        </p:spPr>
        <p:txBody>
          <a:bodyPr/>
          <a:lstStyle/>
          <a:p>
            <a:endParaRPr lang="en-JP"/>
          </a:p>
        </p:txBody>
      </p:sp>
      <p:pic>
        <p:nvPicPr>
          <p:cNvPr id="902" name="Copied Picture 902" descr="Japannext JNX logo">
            <a:extLst>
              <a:ext uri="{FF2B5EF4-FFF2-40B4-BE49-F238E27FC236}">
                <a16:creationId xmlns:a16="http://schemas.microsoft.com/office/drawing/2014/main" id="{429122C2-2B95-92FB-9A5C-2E92C9458AAC}"/>
              </a:ext>
            </a:extLst>
          </p:cNvPr>
          <p:cNvPicPr>
            <a:picLocks noChangeAspect="1"/>
          </p:cNvPicPr>
          <p:nvPr/>
        </p:nvPicPr>
        <p:blipFill>
          <a:blip r:embed="rId4">
            <a:clrChange>
              <a:clrFrom>
                <a:srgbClr val="FFFFFF"/>
              </a:clrFrom>
              <a:clrTo>
                <a:srgbClr val="FFFFFF">
                  <a:alpha val="0"/>
                </a:srgbClr>
              </a:clrTo>
            </a:clrChange>
          </a:blip>
          <a:srcRect l="13500" t="21500" r="13800" b="22500"/>
          <a:stretch>
            <a:fillRect/>
          </a:stretch>
        </p:blipFill>
        <p:spPr>
          <a:xfrm>
            <a:off x="12725400" y="254000"/>
            <a:ext cx="1409700" cy="660400"/>
          </a:xfrm>
          <a:prstGeom prst="rect">
            <a:avLst/>
          </a:prstGeom>
        </p:spPr>
      </p:pic>
    </p:spTree>
    <p:extLst>
      <p:ext uri="{BB962C8B-B14F-4D97-AF65-F5344CB8AC3E}">
        <p14:creationId xmlns:p14="http://schemas.microsoft.com/office/powerpoint/2010/main" val="3632766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1244600"/>
            <a:ext cx="1143000" cy="254000"/>
          </a:xfrm>
          <a:prstGeom prst="rect">
            <a:avLst/>
          </a:prstGeom>
          <a:noFill/>
        </p:spPr>
        <p:txBody>
          <a:bodyPr wrap="none" lIns="0" tIns="0" rIns="0" bIns="0">
            <a:spAutoFit/>
          </a:bodyPr>
          <a:lstStyle/>
          <a:p>
            <a:pPr>
              <a:lnSpc>
                <a:spcPts val="1439"/>
              </a:lnSpc>
              <a:spcBef>
                <a:spcPts val="0"/>
              </a:spcBef>
              <a:spcAft>
                <a:spcPts val="0"/>
              </a:spcAft>
              <a:defRPr sz="1200" b="1">
                <a:solidFill>
                  <a:srgbClr val="00708A"/>
                </a:solidFill>
                <a:latin typeface="Barlow"/>
              </a:defRPr>
            </a:pPr>
            <a:r>
              <a:t>SERVICEOPS</a:t>
            </a:r>
          </a:p>
        </p:txBody>
      </p:sp>
      <p:sp>
        <p:nvSpPr>
          <p:cNvPr id="4" name="TextBox 3"/>
          <p:cNvSpPr txBox="1"/>
          <p:nvPr/>
        </p:nvSpPr>
        <p:spPr>
          <a:xfrm>
            <a:off x="1625600" y="1244600"/>
            <a:ext cx="2061462" cy="179536"/>
          </a:xfrm>
          <a:prstGeom prst="rect">
            <a:avLst/>
          </a:prstGeom>
          <a:noFill/>
        </p:spPr>
        <p:txBody>
          <a:bodyPr wrap="none" lIns="0" tIns="0" rIns="0" bIns="0">
            <a:spAutoFit/>
          </a:bodyPr>
          <a:lstStyle/>
          <a:p>
            <a:pPr>
              <a:lnSpc>
                <a:spcPts val="1439"/>
              </a:lnSpc>
              <a:spcBef>
                <a:spcPts val="0"/>
              </a:spcBef>
              <a:spcAft>
                <a:spcPts val="0"/>
              </a:spcAft>
              <a:defRPr sz="1200" b="1">
                <a:solidFill>
                  <a:srgbClr val="4F6670"/>
                </a:solidFill>
                <a:latin typeface="Barlow"/>
              </a:defRPr>
            </a:pPr>
            <a:r>
              <a:rPr lang="en-US"/>
              <a:t>SHARED DELIVERY SEQUENCE</a:t>
            </a:r>
            <a:endParaRPr/>
          </a:p>
        </p:txBody>
      </p:sp>
      <p:sp>
        <p:nvSpPr>
          <p:cNvPr id="5" name="TextBox 4"/>
          <p:cNvSpPr txBox="1"/>
          <p:nvPr/>
        </p:nvSpPr>
        <p:spPr>
          <a:xfrm>
            <a:off x="508000" y="304800"/>
            <a:ext cx="7478009" cy="412934"/>
          </a:xfrm>
          <a:prstGeom prst="rect">
            <a:avLst/>
          </a:prstGeom>
          <a:noFill/>
        </p:spPr>
        <p:txBody>
          <a:bodyPr wrap="none" lIns="0" tIns="0" rIns="0" bIns="0">
            <a:spAutoFit/>
          </a:bodyPr>
          <a:lstStyle/>
          <a:p>
            <a:pPr>
              <a:lnSpc>
                <a:spcPts val="3600"/>
              </a:lnSpc>
              <a:spcBef>
                <a:spcPts val="0"/>
              </a:spcBef>
              <a:spcAft>
                <a:spcPts val="0"/>
              </a:spcAft>
              <a:defRPr sz="2600" b="1">
                <a:solidFill>
                  <a:srgbClr val="0B3C4C"/>
                </a:solidFill>
                <a:latin typeface="Barlow"/>
              </a:defRPr>
            </a:pPr>
            <a:r>
              <a:rPr lang="en-US"/>
              <a:t>Align the sequence before teams commit to dates.</a:t>
            </a:r>
            <a:endParaRPr/>
          </a:p>
        </p:txBody>
      </p:sp>
      <p:sp>
        <p:nvSpPr>
          <p:cNvPr id="6" name="Rectangle 5"/>
          <p:cNvSpPr/>
          <p:nvPr/>
        </p:nvSpPr>
        <p:spPr>
          <a:xfrm>
            <a:off x="502920" y="7790688"/>
            <a:ext cx="13624560" cy="10972"/>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7918704"/>
            <a:ext cx="10972800" cy="215900"/>
          </a:xfrm>
          <a:prstGeom prst="rect">
            <a:avLst/>
          </a:prstGeom>
          <a:noFill/>
        </p:spPr>
        <p:txBody>
          <a:bodyPr wrap="none" lIns="0" tIns="0" rIns="0" bIns="0">
            <a:spAutoFit/>
          </a:bodyPr>
          <a:lstStyle/>
          <a:p>
            <a:pPr>
              <a:lnSpc>
                <a:spcPts val="1200"/>
              </a:lnSpc>
              <a:spcBef>
                <a:spcPts val="0"/>
              </a:spcBef>
              <a:spcAft>
                <a:spcPts val="0"/>
              </a:spcAft>
              <a:defRPr sz="1000" b="0">
                <a:solidFill>
                  <a:srgbClr val="4F6670"/>
                </a:solidFill>
                <a:latin typeface="Barlow"/>
              </a:defRPr>
            </a:pPr>
            <a:r>
              <a:t>Anushka Wijesundara / Product overview / October 2026</a:t>
            </a:r>
          </a:p>
        </p:txBody>
      </p:sp>
      <p:sp>
        <p:nvSpPr>
          <p:cNvPr id="8" name="TextBox 7"/>
          <p:cNvSpPr txBox="1"/>
          <p:nvPr/>
        </p:nvSpPr>
        <p:spPr>
          <a:xfrm>
            <a:off x="11976100" y="7918704"/>
            <a:ext cx="2159000" cy="215900"/>
          </a:xfrm>
          <a:prstGeom prst="rect">
            <a:avLst/>
          </a:prstGeom>
          <a:noFill/>
        </p:spPr>
        <p:txBody>
          <a:bodyPr wrap="none" lIns="0" tIns="0" rIns="0" bIns="0">
            <a:spAutoFit/>
          </a:bodyPr>
          <a:lstStyle/>
          <a:p>
            <a:pPr algn="r">
              <a:lnSpc>
                <a:spcPts val="1200"/>
              </a:lnSpc>
              <a:spcBef>
                <a:spcPts val="0"/>
              </a:spcBef>
              <a:spcAft>
                <a:spcPts val="0"/>
              </a:spcAft>
              <a:defRPr sz="1000" b="1">
                <a:solidFill>
                  <a:srgbClr val="00708A"/>
                </a:solidFill>
                <a:latin typeface="Barlow"/>
              </a:defRPr>
            </a:pPr>
            <a:r>
              <a:t>10</a:t>
            </a:r>
          </a:p>
        </p:txBody>
      </p:sp>
      <p:sp>
        <p:nvSpPr>
          <p:cNvPr id="9" name="TextBox 8"/>
          <p:cNvSpPr txBox="1"/>
          <p:nvPr/>
        </p:nvSpPr>
        <p:spPr>
          <a:xfrm>
            <a:off x="530352" y="2176272"/>
            <a:ext cx="2269852" cy="320601"/>
          </a:xfrm>
          <a:prstGeom prst="rect">
            <a:avLst/>
          </a:prstGeom>
          <a:noFill/>
        </p:spPr>
        <p:txBody>
          <a:bodyPr wrap="none" lIns="0" tIns="0" rIns="0" bIns="0">
            <a:spAutoFit/>
          </a:bodyPr>
          <a:lstStyle/>
          <a:p>
            <a:pPr>
              <a:lnSpc>
                <a:spcPts val="2520"/>
              </a:lnSpc>
              <a:spcBef>
                <a:spcPts val="0"/>
              </a:spcBef>
              <a:spcAft>
                <a:spcPts val="0"/>
              </a:spcAft>
              <a:defRPr sz="2100" b="1">
                <a:solidFill>
                  <a:srgbClr val="00708A"/>
                </a:solidFill>
                <a:latin typeface="Barlow"/>
              </a:defRPr>
            </a:pPr>
            <a:r>
              <a:rPr lang="en-US"/>
              <a:t>Compare the dates</a:t>
            </a:r>
            <a:endParaRPr/>
          </a:p>
        </p:txBody>
      </p:sp>
      <p:sp>
        <p:nvSpPr>
          <p:cNvPr id="10" name="TextBox 9"/>
          <p:cNvSpPr txBox="1"/>
          <p:nvPr/>
        </p:nvSpPr>
        <p:spPr>
          <a:xfrm>
            <a:off x="530352" y="2569464"/>
            <a:ext cx="2364430" cy="539891"/>
          </a:xfrm>
          <a:prstGeom prst="rect">
            <a:avLst/>
          </a:prstGeom>
          <a:noFill/>
        </p:spPr>
        <p:txBody>
          <a:bodyPr wrap="none" lIns="0" tIns="0" rIns="0" bIns="0">
            <a:spAutoFit/>
          </a:bodyPr>
          <a:lstStyle/>
          <a:p>
            <a:pPr>
              <a:lnSpc>
                <a:spcPts val="2160"/>
              </a:lnSpc>
              <a:spcBef>
                <a:spcPts val="0"/>
              </a:spcBef>
              <a:spcAft>
                <a:spcPts val="0"/>
              </a:spcAft>
              <a:defRPr sz="1800" b="0">
                <a:solidFill>
                  <a:srgbClr val="0B3C4C"/>
                </a:solidFill>
                <a:latin typeface="Barlow"/>
              </a:defRPr>
            </a:pPr>
            <a:r>
              <a:rPr lang="en-US"/>
              <a:t>Review work and timing
in the shared plan.</a:t>
            </a:r>
            <a:endParaRPr/>
          </a:p>
        </p:txBody>
      </p:sp>
      <p:sp>
        <p:nvSpPr>
          <p:cNvPr id="11" name="TextBox 10"/>
          <p:cNvSpPr txBox="1"/>
          <p:nvPr/>
        </p:nvSpPr>
        <p:spPr>
          <a:xfrm>
            <a:off x="530352" y="3529584"/>
            <a:ext cx="2630528" cy="320601"/>
          </a:xfrm>
          <a:prstGeom prst="rect">
            <a:avLst/>
          </a:prstGeom>
          <a:noFill/>
        </p:spPr>
        <p:txBody>
          <a:bodyPr wrap="none" lIns="0" tIns="0" rIns="0" bIns="0">
            <a:spAutoFit/>
          </a:bodyPr>
          <a:lstStyle/>
          <a:p>
            <a:pPr>
              <a:lnSpc>
                <a:spcPts val="2520"/>
              </a:lnSpc>
              <a:spcBef>
                <a:spcPts val="0"/>
              </a:spcBef>
              <a:spcAft>
                <a:spcPts val="0"/>
              </a:spcAft>
              <a:defRPr sz="2100" b="1">
                <a:solidFill>
                  <a:srgbClr val="00708A"/>
                </a:solidFill>
                <a:latin typeface="Barlow"/>
              </a:defRPr>
            </a:pPr>
            <a:r>
              <a:rPr lang="en-US"/>
              <a:t>Expose dependencies</a:t>
            </a:r>
            <a:endParaRPr/>
          </a:p>
        </p:txBody>
      </p:sp>
      <p:sp>
        <p:nvSpPr>
          <p:cNvPr id="12" name="TextBox 11"/>
          <p:cNvSpPr txBox="1"/>
          <p:nvPr/>
        </p:nvSpPr>
        <p:spPr>
          <a:xfrm>
            <a:off x="530352" y="3922776"/>
            <a:ext cx="2705869" cy="539891"/>
          </a:xfrm>
          <a:prstGeom prst="rect">
            <a:avLst/>
          </a:prstGeom>
          <a:noFill/>
        </p:spPr>
        <p:txBody>
          <a:bodyPr wrap="none" lIns="0" tIns="0" rIns="0" bIns="0">
            <a:spAutoFit/>
          </a:bodyPr>
          <a:lstStyle/>
          <a:p>
            <a:pPr>
              <a:lnSpc>
                <a:spcPts val="2160"/>
              </a:lnSpc>
              <a:spcBef>
                <a:spcPts val="0"/>
              </a:spcBef>
              <a:spcAft>
                <a:spcPts val="0"/>
              </a:spcAft>
              <a:defRPr sz="1800" b="0">
                <a:solidFill>
                  <a:srgbClr val="0B3C4C"/>
                </a:solidFill>
                <a:latin typeface="Barlow"/>
              </a:defRPr>
            </a:pPr>
            <a:r>
              <a:rPr lang="en-US"/>
              <a:t>See what needs to finish
before the next task starts.</a:t>
            </a:r>
            <a:endParaRPr/>
          </a:p>
        </p:txBody>
      </p:sp>
      <p:sp>
        <p:nvSpPr>
          <p:cNvPr id="13" name="TextBox 12"/>
          <p:cNvSpPr txBox="1"/>
          <p:nvPr/>
        </p:nvSpPr>
        <p:spPr>
          <a:xfrm>
            <a:off x="530352" y="4882896"/>
            <a:ext cx="2515112" cy="320601"/>
          </a:xfrm>
          <a:prstGeom prst="rect">
            <a:avLst/>
          </a:prstGeom>
          <a:noFill/>
        </p:spPr>
        <p:txBody>
          <a:bodyPr wrap="none" lIns="0" tIns="0" rIns="0" bIns="0">
            <a:spAutoFit/>
          </a:bodyPr>
          <a:lstStyle/>
          <a:p>
            <a:pPr>
              <a:lnSpc>
                <a:spcPts val="2520"/>
              </a:lnSpc>
              <a:spcBef>
                <a:spcPts val="0"/>
              </a:spcBef>
              <a:spcAft>
                <a:spcPts val="0"/>
              </a:spcAft>
              <a:defRPr sz="2100" b="1">
                <a:solidFill>
                  <a:srgbClr val="00708A"/>
                </a:solidFill>
                <a:latin typeface="Barlow"/>
              </a:defRPr>
            </a:pPr>
            <a:r>
              <a:rPr lang="en-US"/>
              <a:t>Review changes first</a:t>
            </a:r>
            <a:endParaRPr/>
          </a:p>
        </p:txBody>
      </p:sp>
      <p:sp>
        <p:nvSpPr>
          <p:cNvPr id="14" name="TextBox 13"/>
          <p:cNvSpPr txBox="1"/>
          <p:nvPr/>
        </p:nvSpPr>
        <p:spPr>
          <a:xfrm>
            <a:off x="530352" y="5276088"/>
            <a:ext cx="2471831" cy="539891"/>
          </a:xfrm>
          <a:prstGeom prst="rect">
            <a:avLst/>
          </a:prstGeom>
          <a:noFill/>
        </p:spPr>
        <p:txBody>
          <a:bodyPr wrap="none" lIns="0" tIns="0" rIns="0" bIns="0">
            <a:spAutoFit/>
          </a:bodyPr>
          <a:lstStyle/>
          <a:p>
            <a:pPr>
              <a:lnSpc>
                <a:spcPts val="2160"/>
              </a:lnSpc>
              <a:spcBef>
                <a:spcPts val="0"/>
              </a:spcBef>
              <a:spcAft>
                <a:spcPts val="0"/>
              </a:spcAft>
              <a:defRPr sz="1800" b="0">
                <a:solidFill>
                  <a:srgbClr val="0B3C4C"/>
                </a:solidFill>
                <a:latin typeface="Barlow"/>
              </a:defRPr>
            </a:pPr>
            <a:r>
              <a:rPr lang="en-US"/>
              <a:t>Check proposed dates
before applying updates.</a:t>
            </a:r>
            <a:endParaRPr/>
          </a:p>
        </p:txBody>
      </p:sp>
      <p:sp>
        <p:nvSpPr>
          <p:cNvPr id="15" name="Rectangle 14"/>
          <p:cNvSpPr/>
          <p:nvPr/>
        </p:nvSpPr>
        <p:spPr>
          <a:xfrm>
            <a:off x="502920" y="6510528"/>
            <a:ext cx="3291840" cy="868680"/>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7512" y="6656832"/>
            <a:ext cx="1997342" cy="512961"/>
          </a:xfrm>
          <a:prstGeom prst="rect">
            <a:avLst/>
          </a:prstGeom>
          <a:noFill/>
        </p:spPr>
        <p:txBody>
          <a:bodyPr wrap="none" lIns="0" tIns="0" rIns="0" bIns="0">
            <a:spAutoFit/>
          </a:bodyPr>
          <a:lstStyle/>
          <a:p>
            <a:pPr>
              <a:lnSpc>
                <a:spcPts val="2039"/>
              </a:lnSpc>
              <a:spcBef>
                <a:spcPts val="0"/>
              </a:spcBef>
              <a:spcAft>
                <a:spcPts val="0"/>
              </a:spcAft>
              <a:defRPr sz="1700" b="1">
                <a:solidFill>
                  <a:srgbClr val="B35F00"/>
                </a:solidFill>
                <a:latin typeface="Barlow"/>
              </a:defRPr>
            </a:pPr>
            <a:r>
              <a:rPr lang="en-US"/>
              <a:t>Agree the sequence.
Then commit.</a:t>
            </a:r>
            <a:endParaRPr/>
          </a:p>
        </p:txBody>
      </p:sp>
      <p:pic>
        <p:nvPicPr>
          <p:cNvPr id="18" name="Screenshot: project-timeline-245-60-1600-1000" descr="project-timeline-245-60-1600-1000.png"/>
          <p:cNvPicPr>
            <a:picLocks noChangeAspect="1"/>
          </p:cNvPicPr>
          <p:nvPr/>
        </p:nvPicPr>
        <p:blipFill>
          <a:blip r:embed="rId3"/>
          <a:stretch>
            <a:fillRect/>
          </a:stretch>
        </p:blipFill>
        <p:spPr>
          <a:xfrm>
            <a:off x="5374990" y="1170178"/>
            <a:ext cx="8747410" cy="6068314"/>
          </a:xfrm>
          <a:prstGeom prst="rect">
            <a:avLst/>
          </a:prstGeom>
        </p:spPr>
      </p:pic>
      <p:sp>
        <p:nvSpPr>
          <p:cNvPr id="19" name="TextBox 18"/>
          <p:cNvSpPr txBox="1"/>
          <p:nvPr/>
        </p:nvSpPr>
        <p:spPr>
          <a:xfrm>
            <a:off x="4169663" y="7543800"/>
            <a:ext cx="9875520" cy="215900"/>
          </a:xfrm>
          <a:prstGeom prst="rect">
            <a:avLst/>
          </a:prstGeom>
          <a:noFill/>
        </p:spPr>
        <p:txBody>
          <a:bodyPr wrap="none" lIns="0" tIns="0" rIns="0" bIns="0">
            <a:spAutoFit/>
          </a:bodyPr>
          <a:lstStyle/>
          <a:p>
            <a:pPr>
              <a:lnSpc>
                <a:spcPts val="1200"/>
              </a:lnSpc>
              <a:spcBef>
                <a:spcPts val="0"/>
              </a:spcBef>
              <a:spcAft>
                <a:spcPts val="0"/>
              </a:spcAft>
              <a:defRPr sz="1000" b="0">
                <a:solidFill>
                  <a:srgbClr val="4F6670"/>
                </a:solidFill>
                <a:latin typeface="Barlow"/>
              </a:defRPr>
            </a:pPr>
            <a:r>
              <a:t>Current app v1.113.65 / Isolated demo / Sample records</a:t>
            </a:r>
          </a:p>
        </p:txBody>
      </p:sp>
      <p:sp>
        <p:nvSpPr>
          <p:cNvPr id="901" name="JNX Rule"/>
          <p:cNvSpPr/>
          <p:nvPr/>
        </p:nvSpPr>
        <p:spPr>
          <a:xfrm>
            <a:off x="508000" y="1016000"/>
            <a:ext cx="13627100" cy="19050"/>
          </a:xfrm>
          <a:prstGeom prst="rect">
            <a:avLst/>
          </a:prstGeom>
          <a:solidFill>
            <a:srgbClr val="0B3C4C"/>
          </a:solidFill>
          <a:ln>
            <a:noFill/>
          </a:ln>
        </p:spPr>
        <p:txBody>
          <a:bodyPr/>
          <a:lstStyle/>
          <a:p>
            <a:endParaRPr lang="en-JP"/>
          </a:p>
        </p:txBody>
      </p:sp>
      <p:pic>
        <p:nvPicPr>
          <p:cNvPr id="902" name="Copied Picture 902" descr="Japannext JNX logo">
            <a:extLst>
              <a:ext uri="{FF2B5EF4-FFF2-40B4-BE49-F238E27FC236}">
                <a16:creationId xmlns:a16="http://schemas.microsoft.com/office/drawing/2014/main" id="{429122C2-2B95-92FB-9A5C-2E92C9458AAC}"/>
              </a:ext>
            </a:extLst>
          </p:cNvPr>
          <p:cNvPicPr>
            <a:picLocks noChangeAspect="1"/>
          </p:cNvPicPr>
          <p:nvPr/>
        </p:nvPicPr>
        <p:blipFill>
          <a:blip r:embed="rId4">
            <a:clrChange>
              <a:clrFrom>
                <a:srgbClr val="FFFFFF"/>
              </a:clrFrom>
              <a:clrTo>
                <a:srgbClr val="FFFFFF">
                  <a:alpha val="0"/>
                </a:srgbClr>
              </a:clrTo>
            </a:clrChange>
          </a:blip>
          <a:srcRect l="13500" t="21500" r="13800" b="22500"/>
          <a:stretch>
            <a:fillRect/>
          </a:stretch>
        </p:blipFill>
        <p:spPr>
          <a:xfrm>
            <a:off x="12725400" y="254000"/>
            <a:ext cx="1409700" cy="660400"/>
          </a:xfrm>
          <a:prstGeom prst="rect">
            <a:avLst/>
          </a:prstGeom>
        </p:spPr>
      </p:pic>
    </p:spTree>
    <p:extLst>
      <p:ext uri="{BB962C8B-B14F-4D97-AF65-F5344CB8AC3E}">
        <p14:creationId xmlns:p14="http://schemas.microsoft.com/office/powerpoint/2010/main" val="20161270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1244600"/>
            <a:ext cx="1143000" cy="254000"/>
          </a:xfrm>
          <a:prstGeom prst="rect">
            <a:avLst/>
          </a:prstGeom>
          <a:noFill/>
        </p:spPr>
        <p:txBody>
          <a:bodyPr wrap="none" lIns="0" tIns="0" rIns="0" bIns="0">
            <a:spAutoFit/>
          </a:bodyPr>
          <a:lstStyle/>
          <a:p>
            <a:pPr>
              <a:lnSpc>
                <a:spcPts val="1439"/>
              </a:lnSpc>
              <a:spcBef>
                <a:spcPts val="0"/>
              </a:spcBef>
              <a:spcAft>
                <a:spcPts val="0"/>
              </a:spcAft>
              <a:defRPr sz="1200" b="1">
                <a:solidFill>
                  <a:srgbClr val="00708A"/>
                </a:solidFill>
                <a:latin typeface="Barlow"/>
              </a:defRPr>
            </a:pPr>
            <a:r>
              <a:t>SERVICEOPS</a:t>
            </a:r>
          </a:p>
        </p:txBody>
      </p:sp>
      <p:sp>
        <p:nvSpPr>
          <p:cNvPr id="4" name="TextBox 3"/>
          <p:cNvSpPr txBox="1"/>
          <p:nvPr/>
        </p:nvSpPr>
        <p:spPr>
          <a:xfrm>
            <a:off x="1625600" y="1244600"/>
            <a:ext cx="2354812" cy="179536"/>
          </a:xfrm>
          <a:prstGeom prst="rect">
            <a:avLst/>
          </a:prstGeom>
          <a:noFill/>
        </p:spPr>
        <p:txBody>
          <a:bodyPr wrap="none" lIns="0" tIns="0" rIns="0" bIns="0">
            <a:spAutoFit/>
          </a:bodyPr>
          <a:lstStyle/>
          <a:p>
            <a:pPr>
              <a:lnSpc>
                <a:spcPts val="1439"/>
              </a:lnSpc>
              <a:spcBef>
                <a:spcPts val="0"/>
              </a:spcBef>
              <a:spcAft>
                <a:spcPts val="0"/>
              </a:spcAft>
              <a:defRPr sz="1200" b="1">
                <a:solidFill>
                  <a:srgbClr val="4F6670"/>
                </a:solidFill>
                <a:latin typeface="Barlow"/>
              </a:defRPr>
            </a:pPr>
            <a:r>
              <a:rPr lang="en-US"/>
              <a:t>OPTIONAL AI / CLEARER CONTEXT</a:t>
            </a:r>
            <a:endParaRPr/>
          </a:p>
        </p:txBody>
      </p:sp>
      <p:sp>
        <p:nvSpPr>
          <p:cNvPr id="5" name="TextBox 4"/>
          <p:cNvSpPr txBox="1"/>
          <p:nvPr/>
        </p:nvSpPr>
        <p:spPr>
          <a:xfrm>
            <a:off x="508000" y="304800"/>
            <a:ext cx="7897996" cy="412934"/>
          </a:xfrm>
          <a:prstGeom prst="rect">
            <a:avLst/>
          </a:prstGeom>
          <a:noFill/>
        </p:spPr>
        <p:txBody>
          <a:bodyPr wrap="none" lIns="0" tIns="0" rIns="0" bIns="0">
            <a:spAutoFit/>
          </a:bodyPr>
          <a:lstStyle/>
          <a:p>
            <a:pPr>
              <a:lnSpc>
                <a:spcPts val="3600"/>
              </a:lnSpc>
              <a:spcBef>
                <a:spcPts val="0"/>
              </a:spcBef>
              <a:spcAft>
                <a:spcPts val="0"/>
              </a:spcAft>
              <a:defRPr sz="2600" b="1">
                <a:solidFill>
                  <a:srgbClr val="0B3C4C"/>
                </a:solidFill>
                <a:latin typeface="Barlow"/>
              </a:defRPr>
            </a:pPr>
            <a:r>
              <a:rPr lang="en-US"/>
              <a:t>Use AI to clarify the work—not replace accountability.</a:t>
            </a:r>
            <a:endParaRPr/>
          </a:p>
        </p:txBody>
      </p:sp>
      <p:sp>
        <p:nvSpPr>
          <p:cNvPr id="6" name="Rectangle 5"/>
          <p:cNvSpPr/>
          <p:nvPr/>
        </p:nvSpPr>
        <p:spPr>
          <a:xfrm>
            <a:off x="502920" y="7790688"/>
            <a:ext cx="13624560" cy="10972"/>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7918704"/>
            <a:ext cx="10972800" cy="215900"/>
          </a:xfrm>
          <a:prstGeom prst="rect">
            <a:avLst/>
          </a:prstGeom>
          <a:noFill/>
        </p:spPr>
        <p:txBody>
          <a:bodyPr wrap="none" lIns="0" tIns="0" rIns="0" bIns="0">
            <a:spAutoFit/>
          </a:bodyPr>
          <a:lstStyle/>
          <a:p>
            <a:pPr>
              <a:lnSpc>
                <a:spcPts val="1200"/>
              </a:lnSpc>
              <a:spcBef>
                <a:spcPts val="0"/>
              </a:spcBef>
              <a:spcAft>
                <a:spcPts val="0"/>
              </a:spcAft>
              <a:defRPr sz="1000" b="0">
                <a:solidFill>
                  <a:srgbClr val="4F6670"/>
                </a:solidFill>
                <a:latin typeface="Barlow"/>
              </a:defRPr>
            </a:pPr>
            <a:r>
              <a:t>Anushka Wijesundara / Product overview / October 2026</a:t>
            </a:r>
          </a:p>
        </p:txBody>
      </p:sp>
      <p:sp>
        <p:nvSpPr>
          <p:cNvPr id="8" name="TextBox 7"/>
          <p:cNvSpPr txBox="1"/>
          <p:nvPr/>
        </p:nvSpPr>
        <p:spPr>
          <a:xfrm>
            <a:off x="11976100" y="7918704"/>
            <a:ext cx="2159000" cy="215900"/>
          </a:xfrm>
          <a:prstGeom prst="rect">
            <a:avLst/>
          </a:prstGeom>
          <a:noFill/>
        </p:spPr>
        <p:txBody>
          <a:bodyPr wrap="none" lIns="0" tIns="0" rIns="0" bIns="0">
            <a:spAutoFit/>
          </a:bodyPr>
          <a:lstStyle/>
          <a:p>
            <a:pPr algn="r">
              <a:lnSpc>
                <a:spcPts val="1200"/>
              </a:lnSpc>
              <a:spcBef>
                <a:spcPts val="0"/>
              </a:spcBef>
              <a:spcAft>
                <a:spcPts val="0"/>
              </a:spcAft>
              <a:defRPr sz="1000" b="1">
                <a:solidFill>
                  <a:srgbClr val="00708A"/>
                </a:solidFill>
                <a:latin typeface="Barlow"/>
              </a:defRPr>
            </a:pPr>
            <a:r>
              <a:t>11</a:t>
            </a:r>
          </a:p>
        </p:txBody>
      </p:sp>
      <p:sp>
        <p:nvSpPr>
          <p:cNvPr id="9" name="TextBox 8"/>
          <p:cNvSpPr txBox="1"/>
          <p:nvPr/>
        </p:nvSpPr>
        <p:spPr>
          <a:xfrm>
            <a:off x="530352" y="2176272"/>
            <a:ext cx="2401298" cy="320601"/>
          </a:xfrm>
          <a:prstGeom prst="rect">
            <a:avLst/>
          </a:prstGeom>
          <a:noFill/>
        </p:spPr>
        <p:txBody>
          <a:bodyPr wrap="none" lIns="0" tIns="0" rIns="0" bIns="0">
            <a:spAutoFit/>
          </a:bodyPr>
          <a:lstStyle/>
          <a:p>
            <a:pPr>
              <a:lnSpc>
                <a:spcPts val="2520"/>
              </a:lnSpc>
              <a:spcBef>
                <a:spcPts val="0"/>
              </a:spcBef>
              <a:spcAft>
                <a:spcPts val="0"/>
              </a:spcAft>
              <a:defRPr sz="2100" b="1">
                <a:solidFill>
                  <a:srgbClr val="00708A"/>
                </a:solidFill>
                <a:latin typeface="Barlow"/>
              </a:defRPr>
            </a:pPr>
            <a:r>
              <a:rPr lang="en-US"/>
              <a:t>Prepare the context</a:t>
            </a:r>
            <a:endParaRPr/>
          </a:p>
        </p:txBody>
      </p:sp>
      <p:sp>
        <p:nvSpPr>
          <p:cNvPr id="10" name="TextBox 9"/>
          <p:cNvSpPr txBox="1"/>
          <p:nvPr/>
        </p:nvSpPr>
        <p:spPr>
          <a:xfrm>
            <a:off x="530352" y="2569464"/>
            <a:ext cx="2571217" cy="539891"/>
          </a:xfrm>
          <a:prstGeom prst="rect">
            <a:avLst/>
          </a:prstGeom>
          <a:noFill/>
        </p:spPr>
        <p:txBody>
          <a:bodyPr wrap="none" lIns="0" tIns="0" rIns="0" bIns="0">
            <a:spAutoFit/>
          </a:bodyPr>
          <a:lstStyle/>
          <a:p>
            <a:pPr>
              <a:lnSpc>
                <a:spcPts val="2160"/>
              </a:lnSpc>
              <a:spcBef>
                <a:spcPts val="0"/>
              </a:spcBef>
              <a:spcAft>
                <a:spcPts val="0"/>
              </a:spcAft>
              <a:defRPr sz="1800" b="0">
                <a:solidFill>
                  <a:srgbClr val="0B3C4C"/>
                </a:solidFill>
                <a:latin typeface="Barlow"/>
              </a:defRPr>
            </a:pPr>
            <a:r>
              <a:rPr lang="en-US"/>
              <a:t>Support investigation and
structured change drafts.</a:t>
            </a:r>
            <a:endParaRPr/>
          </a:p>
        </p:txBody>
      </p:sp>
      <p:sp>
        <p:nvSpPr>
          <p:cNvPr id="11" name="TextBox 10"/>
          <p:cNvSpPr txBox="1"/>
          <p:nvPr/>
        </p:nvSpPr>
        <p:spPr>
          <a:xfrm>
            <a:off x="530352" y="3529584"/>
            <a:ext cx="2406108" cy="320601"/>
          </a:xfrm>
          <a:prstGeom prst="rect">
            <a:avLst/>
          </a:prstGeom>
          <a:noFill/>
        </p:spPr>
        <p:txBody>
          <a:bodyPr wrap="none" lIns="0" tIns="0" rIns="0" bIns="0">
            <a:spAutoFit/>
          </a:bodyPr>
          <a:lstStyle/>
          <a:p>
            <a:pPr>
              <a:lnSpc>
                <a:spcPts val="2520"/>
              </a:lnSpc>
              <a:spcBef>
                <a:spcPts val="0"/>
              </a:spcBef>
              <a:spcAft>
                <a:spcPts val="0"/>
              </a:spcAft>
              <a:defRPr sz="2100" b="1">
                <a:solidFill>
                  <a:srgbClr val="00708A"/>
                </a:solidFill>
                <a:latin typeface="Barlow"/>
              </a:defRPr>
            </a:pPr>
            <a:r>
              <a:rPr lang="en-US"/>
              <a:t>Control the provider</a:t>
            </a:r>
            <a:endParaRPr/>
          </a:p>
        </p:txBody>
      </p:sp>
      <p:sp>
        <p:nvSpPr>
          <p:cNvPr id="12" name="TextBox 11"/>
          <p:cNvSpPr txBox="1"/>
          <p:nvPr/>
        </p:nvSpPr>
        <p:spPr>
          <a:xfrm>
            <a:off x="530352" y="3922776"/>
            <a:ext cx="2287486" cy="539891"/>
          </a:xfrm>
          <a:prstGeom prst="rect">
            <a:avLst/>
          </a:prstGeom>
          <a:noFill/>
        </p:spPr>
        <p:txBody>
          <a:bodyPr wrap="none" lIns="0" tIns="0" rIns="0" bIns="0">
            <a:spAutoFit/>
          </a:bodyPr>
          <a:lstStyle/>
          <a:p>
            <a:pPr>
              <a:lnSpc>
                <a:spcPts val="2160"/>
              </a:lnSpc>
              <a:spcBef>
                <a:spcPts val="0"/>
              </a:spcBef>
              <a:spcAft>
                <a:spcPts val="0"/>
              </a:spcAft>
              <a:defRPr sz="1800" b="0">
                <a:solidFill>
                  <a:srgbClr val="0B3C4C"/>
                </a:solidFill>
                <a:latin typeface="Barlow"/>
              </a:defRPr>
            </a:pPr>
            <a:r>
              <a:rPr lang="en-US"/>
              <a:t>Administrators choose
configured AI services.</a:t>
            </a:r>
            <a:endParaRPr/>
          </a:p>
        </p:txBody>
      </p:sp>
      <p:sp>
        <p:nvSpPr>
          <p:cNvPr id="13" name="TextBox 12"/>
          <p:cNvSpPr txBox="1"/>
          <p:nvPr/>
        </p:nvSpPr>
        <p:spPr>
          <a:xfrm>
            <a:off x="530352" y="4882896"/>
            <a:ext cx="2351606" cy="320601"/>
          </a:xfrm>
          <a:prstGeom prst="rect">
            <a:avLst/>
          </a:prstGeom>
          <a:noFill/>
        </p:spPr>
        <p:txBody>
          <a:bodyPr wrap="none" lIns="0" tIns="0" rIns="0" bIns="0">
            <a:spAutoFit/>
          </a:bodyPr>
          <a:lstStyle/>
          <a:p>
            <a:pPr>
              <a:lnSpc>
                <a:spcPts val="2520"/>
              </a:lnSpc>
              <a:spcBef>
                <a:spcPts val="0"/>
              </a:spcBef>
              <a:spcAft>
                <a:spcPts val="0"/>
              </a:spcAft>
              <a:defRPr sz="2100" b="1">
                <a:solidFill>
                  <a:srgbClr val="00708A"/>
                </a:solidFill>
                <a:latin typeface="Barlow"/>
              </a:defRPr>
            </a:pPr>
            <a:r>
              <a:rPr lang="en-US"/>
              <a:t>Keep human review</a:t>
            </a:r>
            <a:endParaRPr/>
          </a:p>
        </p:txBody>
      </p:sp>
      <p:sp>
        <p:nvSpPr>
          <p:cNvPr id="14" name="TextBox 13"/>
          <p:cNvSpPr txBox="1"/>
          <p:nvPr/>
        </p:nvSpPr>
        <p:spPr>
          <a:xfrm>
            <a:off x="530352" y="5276088"/>
            <a:ext cx="2298706" cy="539891"/>
          </a:xfrm>
          <a:prstGeom prst="rect">
            <a:avLst/>
          </a:prstGeom>
          <a:noFill/>
        </p:spPr>
        <p:txBody>
          <a:bodyPr wrap="none" lIns="0" tIns="0" rIns="0" bIns="0">
            <a:spAutoFit/>
          </a:bodyPr>
          <a:lstStyle/>
          <a:p>
            <a:pPr>
              <a:lnSpc>
                <a:spcPts val="2160"/>
              </a:lnSpc>
              <a:spcBef>
                <a:spcPts val="0"/>
              </a:spcBef>
              <a:spcAft>
                <a:spcPts val="0"/>
              </a:spcAft>
              <a:defRPr sz="1800" b="0">
                <a:solidFill>
                  <a:srgbClr val="0B3C4C"/>
                </a:solidFill>
                <a:latin typeface="Barlow"/>
              </a:defRPr>
            </a:pPr>
            <a:r>
              <a:rPr lang="en-US"/>
              <a:t>People verify the result
and submit the work.</a:t>
            </a:r>
            <a:endParaRPr/>
          </a:p>
        </p:txBody>
      </p:sp>
      <p:sp>
        <p:nvSpPr>
          <p:cNvPr id="15" name="Rectangle 14"/>
          <p:cNvSpPr/>
          <p:nvPr/>
        </p:nvSpPr>
        <p:spPr>
          <a:xfrm>
            <a:off x="502920" y="6510528"/>
            <a:ext cx="3291840" cy="868680"/>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7512" y="6656832"/>
            <a:ext cx="1425070" cy="512961"/>
          </a:xfrm>
          <a:prstGeom prst="rect">
            <a:avLst/>
          </a:prstGeom>
          <a:noFill/>
        </p:spPr>
        <p:txBody>
          <a:bodyPr wrap="none" lIns="0" tIns="0" rIns="0" bIns="0">
            <a:spAutoFit/>
          </a:bodyPr>
          <a:lstStyle/>
          <a:p>
            <a:pPr>
              <a:lnSpc>
                <a:spcPts val="2039"/>
              </a:lnSpc>
              <a:spcBef>
                <a:spcPts val="0"/>
              </a:spcBef>
              <a:spcAft>
                <a:spcPts val="0"/>
              </a:spcAft>
              <a:defRPr sz="1700" b="1">
                <a:solidFill>
                  <a:srgbClr val="B35F00"/>
                </a:solidFill>
                <a:latin typeface="Barlow"/>
              </a:defRPr>
            </a:pPr>
            <a:r>
              <a:rPr lang="en-US"/>
              <a:t>AI assists.
People decide.</a:t>
            </a:r>
            <a:endParaRPr/>
          </a:p>
        </p:txBody>
      </p:sp>
      <p:pic>
        <p:nvPicPr>
          <p:cNvPr id="18" name="Screenshot: ai-controls-245-60-1600-1000" descr="ai-controls-245-60-1600-1000.png"/>
          <p:cNvPicPr>
            <a:picLocks noChangeAspect="1"/>
          </p:cNvPicPr>
          <p:nvPr/>
        </p:nvPicPr>
        <p:blipFill>
          <a:blip r:embed="rId3"/>
          <a:stretch>
            <a:fillRect/>
          </a:stretch>
        </p:blipFill>
        <p:spPr>
          <a:xfrm>
            <a:off x="5416062" y="1211579"/>
            <a:ext cx="8683986" cy="6024315"/>
          </a:xfrm>
          <a:prstGeom prst="rect">
            <a:avLst/>
          </a:prstGeom>
        </p:spPr>
      </p:pic>
      <p:sp>
        <p:nvSpPr>
          <p:cNvPr id="19" name="TextBox 18"/>
          <p:cNvSpPr txBox="1"/>
          <p:nvPr/>
        </p:nvSpPr>
        <p:spPr>
          <a:xfrm>
            <a:off x="4169663" y="7543800"/>
            <a:ext cx="9875520" cy="215900"/>
          </a:xfrm>
          <a:prstGeom prst="rect">
            <a:avLst/>
          </a:prstGeom>
          <a:noFill/>
        </p:spPr>
        <p:txBody>
          <a:bodyPr wrap="none" lIns="0" tIns="0" rIns="0" bIns="0">
            <a:spAutoFit/>
          </a:bodyPr>
          <a:lstStyle/>
          <a:p>
            <a:pPr>
              <a:lnSpc>
                <a:spcPts val="1200"/>
              </a:lnSpc>
              <a:spcBef>
                <a:spcPts val="0"/>
              </a:spcBef>
              <a:spcAft>
                <a:spcPts val="0"/>
              </a:spcAft>
              <a:defRPr sz="1000" b="0">
                <a:solidFill>
                  <a:srgbClr val="4F6670"/>
                </a:solidFill>
                <a:latin typeface="Barlow"/>
              </a:defRPr>
            </a:pPr>
            <a:r>
              <a:t>Current app v1.113.65 / Isolated demo / Sample records</a:t>
            </a:r>
          </a:p>
        </p:txBody>
      </p:sp>
      <p:sp>
        <p:nvSpPr>
          <p:cNvPr id="901" name="JNX Rule"/>
          <p:cNvSpPr/>
          <p:nvPr/>
        </p:nvSpPr>
        <p:spPr>
          <a:xfrm>
            <a:off x="508000" y="1016000"/>
            <a:ext cx="13627100" cy="19050"/>
          </a:xfrm>
          <a:prstGeom prst="rect">
            <a:avLst/>
          </a:prstGeom>
          <a:solidFill>
            <a:srgbClr val="0B3C4C"/>
          </a:solidFill>
          <a:ln>
            <a:noFill/>
          </a:ln>
        </p:spPr>
        <p:txBody>
          <a:bodyPr/>
          <a:lstStyle/>
          <a:p>
            <a:endParaRPr lang="en-JP"/>
          </a:p>
        </p:txBody>
      </p:sp>
      <p:pic>
        <p:nvPicPr>
          <p:cNvPr id="902" name="Copied Picture 902" descr="Japannext JNX logo">
            <a:extLst>
              <a:ext uri="{FF2B5EF4-FFF2-40B4-BE49-F238E27FC236}">
                <a16:creationId xmlns:a16="http://schemas.microsoft.com/office/drawing/2014/main" id="{429122C2-2B95-92FB-9A5C-2E92C9458AAC}"/>
              </a:ext>
            </a:extLst>
          </p:cNvPr>
          <p:cNvPicPr>
            <a:picLocks noChangeAspect="1"/>
          </p:cNvPicPr>
          <p:nvPr/>
        </p:nvPicPr>
        <p:blipFill>
          <a:blip r:embed="rId4">
            <a:clrChange>
              <a:clrFrom>
                <a:srgbClr val="FFFFFF"/>
              </a:clrFrom>
              <a:clrTo>
                <a:srgbClr val="FFFFFF">
                  <a:alpha val="0"/>
                </a:srgbClr>
              </a:clrTo>
            </a:clrChange>
          </a:blip>
          <a:srcRect l="13500" t="21500" r="13800" b="22500"/>
          <a:stretch>
            <a:fillRect/>
          </a:stretch>
        </p:blipFill>
        <p:spPr>
          <a:xfrm>
            <a:off x="12725400" y="254000"/>
            <a:ext cx="1409700" cy="660400"/>
          </a:xfrm>
          <a:prstGeom prst="rect">
            <a:avLst/>
          </a:prstGeom>
        </p:spPr>
      </p:pic>
    </p:spTree>
    <p:extLst>
      <p:ext uri="{BB962C8B-B14F-4D97-AF65-F5344CB8AC3E}">
        <p14:creationId xmlns:p14="http://schemas.microsoft.com/office/powerpoint/2010/main" val="10690856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6900" y="1270000"/>
            <a:ext cx="965200" cy="274320"/>
          </a:xfrm>
          <a:prstGeom prst="rect">
            <a:avLst/>
          </a:prstGeom>
          <a:noFill/>
        </p:spPr>
        <p:txBody>
          <a:bodyPr wrap="square" lIns="0" tIns="0" rIns="0" bIns="0">
            <a:noAutofit/>
          </a:bodyPr>
          <a:lstStyle/>
          <a:p>
            <a:pPr>
              <a:spcAft>
                <a:spcPts val="700"/>
              </a:spcAft>
              <a:defRPr sz="1100" b="1">
                <a:solidFill>
                  <a:srgbClr val="00708A"/>
                </a:solidFill>
                <a:latin typeface="Barlow"/>
              </a:defRPr>
            </a:pPr>
            <a:r>
              <a:t>SERVICEOPS</a:t>
            </a:r>
          </a:p>
        </p:txBody>
      </p:sp>
      <p:sp>
        <p:nvSpPr>
          <p:cNvPr id="4" name="TextBox 3"/>
          <p:cNvSpPr txBox="1"/>
          <p:nvPr/>
        </p:nvSpPr>
        <p:spPr>
          <a:xfrm>
            <a:off x="1714500" y="1270000"/>
            <a:ext cx="11430000" cy="184666"/>
          </a:xfrm>
          <a:prstGeom prst="rect">
            <a:avLst/>
          </a:prstGeom>
          <a:noFill/>
        </p:spPr>
        <p:txBody>
          <a:bodyPr wrap="square" lIns="0" tIns="0" rIns="0" bIns="0">
            <a:spAutoFit/>
          </a:bodyPr>
          <a:lstStyle/>
          <a:p>
            <a:pPr>
              <a:spcAft>
                <a:spcPts val="700"/>
              </a:spcAft>
              <a:defRPr sz="1200" b="1">
                <a:solidFill>
                  <a:srgbClr val="4F6670"/>
                </a:solidFill>
                <a:latin typeface="Barlow"/>
              </a:defRPr>
            </a:pPr>
            <a:r>
              <a:rPr lang="en-US"/>
              <a:t>ANSWERS TEAMS CAN VERIFY</a:t>
            </a:r>
            <a:endParaRPr/>
          </a:p>
        </p:txBody>
      </p:sp>
      <p:sp>
        <p:nvSpPr>
          <p:cNvPr id="5" name="TextBox 4"/>
          <p:cNvSpPr txBox="1"/>
          <p:nvPr/>
        </p:nvSpPr>
        <p:spPr>
          <a:xfrm>
            <a:off x="596900" y="304800"/>
            <a:ext cx="11430000" cy="400110"/>
          </a:xfrm>
          <a:prstGeom prst="rect">
            <a:avLst/>
          </a:prstGeom>
          <a:noFill/>
        </p:spPr>
        <p:txBody>
          <a:bodyPr wrap="square" lIns="0" tIns="0" rIns="0" bIns="0">
            <a:spAutoFit/>
          </a:bodyPr>
          <a:lstStyle/>
          <a:p>
            <a:pPr>
              <a:spcAft>
                <a:spcPts val="700"/>
              </a:spcAft>
              <a:defRPr sz="2600" b="1">
                <a:solidFill>
                  <a:srgbClr val="0B3C4C"/>
                </a:solidFill>
                <a:latin typeface="Barlow"/>
              </a:defRPr>
            </a:pPr>
            <a:r>
              <a:rPr lang="en-US" sz="2600"/>
              <a:t>Ask about a change—and trace it to the record.</a:t>
            </a:r>
            <a:endParaRPr sz="2600"/>
          </a:p>
        </p:txBody>
      </p:sp>
      <p:sp>
        <p:nvSpPr>
          <p:cNvPr id="6" name="TextBox 5"/>
          <p:cNvSpPr txBox="1"/>
          <p:nvPr/>
        </p:nvSpPr>
        <p:spPr>
          <a:xfrm>
            <a:off x="596900" y="1625600"/>
            <a:ext cx="13436600" cy="307777"/>
          </a:xfrm>
          <a:prstGeom prst="rect">
            <a:avLst/>
          </a:prstGeom>
          <a:noFill/>
        </p:spPr>
        <p:txBody>
          <a:bodyPr wrap="square" lIns="0" tIns="0" rIns="0" bIns="0">
            <a:spAutoFit/>
          </a:bodyPr>
          <a:lstStyle/>
          <a:p>
            <a:pPr>
              <a:spcAft>
                <a:spcPts val="700"/>
              </a:spcAft>
              <a:defRPr sz="2000" b="0">
                <a:solidFill>
                  <a:srgbClr val="4F6670"/>
                </a:solidFill>
                <a:latin typeface="Barlow"/>
              </a:defRPr>
            </a:pPr>
            <a:r>
              <a:rPr lang="en-US"/>
              <a:t>Illustrative question: which changes affect this switch? Review the linked records before acting.</a:t>
            </a:r>
            <a:endParaRPr/>
          </a:p>
        </p:txBody>
      </p:sp>
      <p:sp>
        <p:nvSpPr>
          <p:cNvPr id="7" name="Rectangle 6"/>
          <p:cNvSpPr/>
          <p:nvPr/>
        </p:nvSpPr>
        <p:spPr>
          <a:xfrm>
            <a:off x="594360" y="7754112"/>
            <a:ext cx="13441680" cy="10972"/>
          </a:xfrm>
          <a:prstGeom prst="rect">
            <a:avLst/>
          </a:prstGeom>
          <a:solidFill>
            <a:srgbClr val="D5D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7909560"/>
            <a:ext cx="10058400" cy="182880"/>
          </a:xfrm>
          <a:prstGeom prst="rect">
            <a:avLst/>
          </a:prstGeom>
          <a:noFill/>
        </p:spPr>
        <p:txBody>
          <a:bodyPr wrap="square" lIns="0" tIns="0" rIns="0" bIns="0">
            <a:spAutoFit/>
          </a:bodyPr>
          <a:lstStyle/>
          <a:p>
            <a:pPr>
              <a:spcAft>
                <a:spcPts val="700"/>
              </a:spcAft>
              <a:defRPr sz="900" b="0">
                <a:solidFill>
                  <a:srgbClr val="4F6670"/>
                </a:solidFill>
                <a:latin typeface="Barlow"/>
              </a:defRPr>
            </a:pPr>
            <a:r>
              <a:t>Anushka Wijesundara  /  Product overview</a:t>
            </a:r>
          </a:p>
        </p:txBody>
      </p:sp>
      <p:sp>
        <p:nvSpPr>
          <p:cNvPr id="9" name="TextBox 8"/>
          <p:cNvSpPr txBox="1"/>
          <p:nvPr/>
        </p:nvSpPr>
        <p:spPr>
          <a:xfrm>
            <a:off x="13487400" y="7854696"/>
            <a:ext cx="548640" cy="184666"/>
          </a:xfrm>
          <a:prstGeom prst="rect">
            <a:avLst/>
          </a:prstGeom>
          <a:noFill/>
        </p:spPr>
        <p:txBody>
          <a:bodyPr wrap="square" lIns="0" tIns="0" rIns="0" bIns="0">
            <a:spAutoFit/>
          </a:bodyPr>
          <a:lstStyle/>
          <a:p>
            <a:pPr>
              <a:spcAft>
                <a:spcPts val="700"/>
              </a:spcAft>
              <a:defRPr sz="1200" b="1">
                <a:solidFill>
                  <a:srgbClr val="00708A"/>
                </a:solidFill>
                <a:latin typeface="Barlow"/>
              </a:defRPr>
            </a:pPr>
            <a:r>
              <a:rPr lang="en-JP"/>
              <a:t>12</a:t>
            </a:r>
            <a:endParaRPr/>
          </a:p>
        </p:txBody>
      </p:sp>
      <p:sp>
        <p:nvSpPr>
          <p:cNvPr id="901" name="JNX Rule"/>
          <p:cNvSpPr/>
          <p:nvPr/>
        </p:nvSpPr>
        <p:spPr>
          <a:xfrm>
            <a:off x="596900" y="1016000"/>
            <a:ext cx="13436600" cy="19050"/>
          </a:xfrm>
          <a:prstGeom prst="rect">
            <a:avLst/>
          </a:prstGeom>
          <a:solidFill>
            <a:srgbClr val="0B3C4C"/>
          </a:solidFill>
          <a:ln>
            <a:noFill/>
          </a:ln>
        </p:spPr>
        <p:txBody>
          <a:bodyPr/>
          <a:lstStyle/>
          <a:p>
            <a:endParaRPr lang="en-JP"/>
          </a:p>
        </p:txBody>
      </p:sp>
      <p:pic>
        <p:nvPicPr>
          <p:cNvPr id="903" name="Copied Picture 903" descr="Japannext JNX logo">
            <a:extLst>
              <a:ext uri="{FF2B5EF4-FFF2-40B4-BE49-F238E27FC236}">
                <a16:creationId xmlns:a16="http://schemas.microsoft.com/office/drawing/2014/main" id="{429122C2-2B95-92FB-9A5C-2E92C9458AAC}"/>
              </a:ext>
            </a:extLst>
          </p:cNvPr>
          <p:cNvPicPr>
            <a:picLocks noChangeAspect="1"/>
          </p:cNvPicPr>
          <p:nvPr/>
        </p:nvPicPr>
        <p:blipFill>
          <a:blip r:embed="rId3">
            <a:clrChange>
              <a:clrFrom>
                <a:srgbClr val="FFFFFF"/>
              </a:clrFrom>
              <a:clrTo>
                <a:srgbClr val="FFFFFF">
                  <a:alpha val="0"/>
                </a:srgbClr>
              </a:clrTo>
            </a:clrChange>
          </a:blip>
          <a:srcRect l="13500" t="21500" r="13800" b="22500"/>
          <a:stretch>
            <a:fillRect/>
          </a:stretch>
        </p:blipFill>
        <p:spPr>
          <a:xfrm>
            <a:off x="12623800" y="254000"/>
            <a:ext cx="1409700" cy="660400"/>
          </a:xfrm>
          <a:prstGeom prst="rect">
            <a:avLst/>
          </a:prstGeom>
        </p:spPr>
      </p:pic>
      <p:pic>
        <p:nvPicPr>
          <p:cNvPr id="10" name="Screenshot 1">
            <a:extLst>
              <a:ext uri="{FF2B5EF4-FFF2-40B4-BE49-F238E27FC236}">
                <a16:creationId xmlns:a16="http://schemas.microsoft.com/office/drawing/2014/main" id="{105D8606-EE38-6476-6B05-E71ECB232B11}"/>
              </a:ext>
            </a:extLst>
          </p:cNvPr>
          <p:cNvPicPr>
            <a:picLocks noChangeAspect="1"/>
          </p:cNvPicPr>
          <p:nvPr/>
        </p:nvPicPr>
        <p:blipFill>
          <a:blip r:embed="rId4"/>
          <a:srcRect l="33333" t="17442" r="6510" b="48122"/>
          <a:stretch>
            <a:fillRect/>
          </a:stretch>
        </p:blipFill>
        <p:spPr>
          <a:xfrm>
            <a:off x="596900" y="2184400"/>
            <a:ext cx="12192000" cy="4064000"/>
          </a:xfrm>
          <a:prstGeom prst="rect">
            <a:avLst/>
          </a:prstGeom>
          <a:ln w="9525">
            <a:solidFill>
              <a:srgbClr val="C5D0D5"/>
            </a:solidFill>
          </a:ln>
        </p:spPr>
      </p:pic>
      <p:sp>
        <p:nvSpPr>
          <p:cNvPr id="950" name="Body 950"/>
          <p:cNvSpPr/>
          <p:nvPr/>
        </p:nvSpPr>
        <p:spPr>
          <a:xfrm>
            <a:off x="596900" y="6553200"/>
            <a:ext cx="4275667" cy="31750"/>
          </a:xfrm>
          <a:prstGeom prst="rect">
            <a:avLst/>
          </a:prstGeom>
          <a:solidFill>
            <a:srgbClr val="F5A623"/>
          </a:solidFill>
          <a:ln>
            <a:noFill/>
          </a:ln>
        </p:spPr>
        <p:txBody>
          <a:bodyPr wrap="square" lIns="0" tIns="0" rIns="0" bIns="0" anchor="t">
            <a:noAutofit/>
          </a:bodyPr>
          <a:lstStyle/>
          <a:p>
            <a:endParaRPr lang="en-US" sz="100"/>
          </a:p>
        </p:txBody>
      </p:sp>
      <p:sp>
        <p:nvSpPr>
          <p:cNvPr id="951" name="Body 951"/>
          <p:cNvSpPr txBox="1"/>
          <p:nvPr/>
        </p:nvSpPr>
        <p:spPr>
          <a:xfrm>
            <a:off x="596900" y="6705600"/>
            <a:ext cx="4275667" cy="850900"/>
          </a:xfrm>
          <a:prstGeom prst="rect">
            <a:avLst/>
          </a:prstGeom>
          <a:noFill/>
        </p:spPr>
        <p:txBody>
          <a:bodyPr wrap="square" lIns="0" tIns="0" rIns="0" bIns="0" anchor="t">
            <a:noAutofit/>
          </a:bodyPr>
          <a:lstStyle/>
          <a:p>
            <a:pPr>
              <a:spcBef>
                <a:spcPts val="0"/>
              </a:spcBef>
              <a:buNone/>
            </a:pPr>
            <a:r>
              <a:rPr lang="en-US" sz="1600" b="1" dirty="0">
                <a:solidFill>
                  <a:srgbClr val="0B3C4C"/>
                </a:solidFill>
                <a:latin typeface="Barlow"/>
              </a:rPr>
              <a:t>Ask in plain language</a:t>
            </a:r>
          </a:p>
          <a:p>
            <a:pPr>
              <a:spcBef>
                <a:spcPts val="300"/>
              </a:spcBef>
              <a:buNone/>
            </a:pPr>
            <a:r>
              <a:rPr lang="en-US" sz="1500" b="0" dirty="0">
                <a:solidFill>
                  <a:srgbClr val="4F6670"/>
                </a:solidFill>
                <a:latin typeface="Barlow"/>
              </a:rPr>
              <a:t>Start with the operational question.</a:t>
            </a:r>
          </a:p>
        </p:txBody>
      </p:sp>
      <p:sp>
        <p:nvSpPr>
          <p:cNvPr id="952" name="Body 952"/>
          <p:cNvSpPr/>
          <p:nvPr/>
        </p:nvSpPr>
        <p:spPr>
          <a:xfrm>
            <a:off x="5177367" y="6553200"/>
            <a:ext cx="4275667" cy="31750"/>
          </a:xfrm>
          <a:prstGeom prst="rect">
            <a:avLst/>
          </a:prstGeom>
          <a:solidFill>
            <a:srgbClr val="F5A623"/>
          </a:solidFill>
          <a:ln>
            <a:noFill/>
          </a:ln>
        </p:spPr>
        <p:txBody>
          <a:bodyPr wrap="square" lIns="0" tIns="0" rIns="0" bIns="0" anchor="t">
            <a:noAutofit/>
          </a:bodyPr>
          <a:lstStyle/>
          <a:p>
            <a:endParaRPr lang="en-US" sz="100"/>
          </a:p>
        </p:txBody>
      </p:sp>
      <p:sp>
        <p:nvSpPr>
          <p:cNvPr id="953" name="Body 953"/>
          <p:cNvSpPr txBox="1"/>
          <p:nvPr/>
        </p:nvSpPr>
        <p:spPr>
          <a:xfrm>
            <a:off x="5177367" y="6705600"/>
            <a:ext cx="4275667" cy="850900"/>
          </a:xfrm>
          <a:prstGeom prst="rect">
            <a:avLst/>
          </a:prstGeom>
          <a:noFill/>
        </p:spPr>
        <p:txBody>
          <a:bodyPr wrap="square" lIns="0" tIns="0" rIns="0" bIns="0" anchor="t">
            <a:noAutofit/>
          </a:bodyPr>
          <a:lstStyle/>
          <a:p>
            <a:pPr>
              <a:spcBef>
                <a:spcPts val="0"/>
              </a:spcBef>
              <a:buNone/>
            </a:pPr>
            <a:r>
              <a:rPr lang="en-US" sz="1600" b="1" dirty="0">
                <a:solidFill>
                  <a:srgbClr val="0B3C4C"/>
                </a:solidFill>
                <a:latin typeface="Barlow"/>
              </a:rPr>
              <a:t>Verify the answer</a:t>
            </a:r>
          </a:p>
          <a:p>
            <a:pPr>
              <a:spcBef>
                <a:spcPts val="300"/>
              </a:spcBef>
              <a:buNone/>
            </a:pPr>
            <a:r>
              <a:rPr lang="en-US" sz="1500" b="0" dirty="0">
                <a:solidFill>
                  <a:srgbClr val="4F6670"/>
                </a:solidFill>
                <a:latin typeface="Barlow"/>
              </a:rPr>
              <a:t>Open the linked change record.</a:t>
            </a:r>
          </a:p>
        </p:txBody>
      </p:sp>
      <p:sp>
        <p:nvSpPr>
          <p:cNvPr id="954" name="Body 954"/>
          <p:cNvSpPr/>
          <p:nvPr/>
        </p:nvSpPr>
        <p:spPr>
          <a:xfrm>
            <a:off x="9757833" y="6553200"/>
            <a:ext cx="4275667" cy="31750"/>
          </a:xfrm>
          <a:prstGeom prst="rect">
            <a:avLst/>
          </a:prstGeom>
          <a:solidFill>
            <a:srgbClr val="F5A623"/>
          </a:solidFill>
          <a:ln>
            <a:noFill/>
          </a:ln>
        </p:spPr>
        <p:txBody>
          <a:bodyPr wrap="square" lIns="0" tIns="0" rIns="0" bIns="0" anchor="t">
            <a:noAutofit/>
          </a:bodyPr>
          <a:lstStyle/>
          <a:p>
            <a:endParaRPr lang="en-US" sz="100"/>
          </a:p>
        </p:txBody>
      </p:sp>
      <p:sp>
        <p:nvSpPr>
          <p:cNvPr id="955" name="Body 955"/>
          <p:cNvSpPr txBox="1"/>
          <p:nvPr/>
        </p:nvSpPr>
        <p:spPr>
          <a:xfrm>
            <a:off x="9757833" y="6705600"/>
            <a:ext cx="4275667" cy="746358"/>
          </a:xfrm>
          <a:prstGeom prst="rect">
            <a:avLst/>
          </a:prstGeom>
          <a:noFill/>
        </p:spPr>
        <p:txBody>
          <a:bodyPr wrap="square" lIns="0" tIns="0" rIns="0" bIns="0" anchor="t">
            <a:spAutoFit/>
          </a:bodyPr>
          <a:lstStyle/>
          <a:p>
            <a:pPr>
              <a:spcBef>
                <a:spcPts val="0"/>
              </a:spcBef>
              <a:buNone/>
            </a:pPr>
            <a:r>
              <a:rPr lang="en-US" sz="1600" b="1" dirty="0">
                <a:solidFill>
                  <a:srgbClr val="0B3C4C"/>
                </a:solidFill>
                <a:latin typeface="Barlow"/>
              </a:rPr>
              <a:t>Control the data path</a:t>
            </a:r>
          </a:p>
          <a:p>
            <a:pPr>
              <a:spcBef>
                <a:spcPts val="300"/>
              </a:spcBef>
              <a:buNone/>
            </a:pPr>
            <a:r>
              <a:rPr lang="en-US" sz="1500" b="0" dirty="0">
                <a:solidFill>
                  <a:srgbClr val="4F6670"/>
                </a:solidFill>
                <a:latin typeface="Barlow"/>
              </a:rPr>
              <a:t>Validate self-hosted AI before rollout.</a:t>
            </a:r>
          </a:p>
        </p:txBody>
      </p:sp>
    </p:spTree>
    <p:extLst>
      <p:ext uri="{BB962C8B-B14F-4D97-AF65-F5344CB8AC3E}">
        <p14:creationId xmlns:p14="http://schemas.microsoft.com/office/powerpoint/2010/main" val="27507396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1244600"/>
            <a:ext cx="1143000" cy="254000"/>
          </a:xfrm>
          <a:prstGeom prst="rect">
            <a:avLst/>
          </a:prstGeom>
          <a:noFill/>
        </p:spPr>
        <p:txBody>
          <a:bodyPr wrap="none" lIns="0" tIns="0" rIns="0" bIns="0">
            <a:spAutoFit/>
          </a:bodyPr>
          <a:lstStyle/>
          <a:p>
            <a:pPr>
              <a:lnSpc>
                <a:spcPts val="1439"/>
              </a:lnSpc>
              <a:spcBef>
                <a:spcPts val="0"/>
              </a:spcBef>
              <a:spcAft>
                <a:spcPts val="0"/>
              </a:spcAft>
              <a:defRPr sz="1200" b="1">
                <a:solidFill>
                  <a:srgbClr val="00708A"/>
                </a:solidFill>
                <a:latin typeface="Barlow"/>
              </a:defRPr>
            </a:pPr>
            <a:r>
              <a:t>SERVICEOPS</a:t>
            </a:r>
          </a:p>
        </p:txBody>
      </p:sp>
      <p:sp>
        <p:nvSpPr>
          <p:cNvPr id="4" name="TextBox 3"/>
          <p:cNvSpPr txBox="1"/>
          <p:nvPr/>
        </p:nvSpPr>
        <p:spPr>
          <a:xfrm>
            <a:off x="1625600" y="1244600"/>
            <a:ext cx="2207336" cy="179536"/>
          </a:xfrm>
          <a:prstGeom prst="rect">
            <a:avLst/>
          </a:prstGeom>
          <a:noFill/>
        </p:spPr>
        <p:txBody>
          <a:bodyPr wrap="none" lIns="0" tIns="0" rIns="0" bIns="0">
            <a:spAutoFit/>
          </a:bodyPr>
          <a:lstStyle/>
          <a:p>
            <a:pPr>
              <a:lnSpc>
                <a:spcPts val="1439"/>
              </a:lnSpc>
              <a:spcBef>
                <a:spcPts val="0"/>
              </a:spcBef>
              <a:spcAft>
                <a:spcPts val="0"/>
              </a:spcAft>
              <a:defRPr sz="1200" b="1">
                <a:solidFill>
                  <a:srgbClr val="4F6670"/>
                </a:solidFill>
                <a:latin typeface="Barlow"/>
              </a:defRPr>
            </a:pPr>
            <a:r>
              <a:rPr lang="en-US"/>
              <a:t>DECISIONS WITHOUT AMBIGUITY</a:t>
            </a:r>
            <a:endParaRPr/>
          </a:p>
        </p:txBody>
      </p:sp>
      <p:sp>
        <p:nvSpPr>
          <p:cNvPr id="5" name="TextBox 4"/>
          <p:cNvSpPr txBox="1"/>
          <p:nvPr/>
        </p:nvSpPr>
        <p:spPr>
          <a:xfrm>
            <a:off x="508000" y="304800"/>
            <a:ext cx="7385035" cy="412934"/>
          </a:xfrm>
          <a:prstGeom prst="rect">
            <a:avLst/>
          </a:prstGeom>
          <a:noFill/>
        </p:spPr>
        <p:txBody>
          <a:bodyPr wrap="none" lIns="0" tIns="0" rIns="0" bIns="0">
            <a:spAutoFit/>
          </a:bodyPr>
          <a:lstStyle/>
          <a:p>
            <a:pPr>
              <a:lnSpc>
                <a:spcPts val="3600"/>
              </a:lnSpc>
              <a:spcBef>
                <a:spcPts val="0"/>
              </a:spcBef>
              <a:spcAft>
                <a:spcPts val="0"/>
              </a:spcAft>
              <a:defRPr sz="2600" b="1">
                <a:solidFill>
                  <a:srgbClr val="0B3C4C"/>
                </a:solidFill>
                <a:latin typeface="Barlow"/>
              </a:defRPr>
            </a:pPr>
            <a:r>
              <a:rPr lang="en-US"/>
              <a:t>Replace “I thought it was approved” with a record.</a:t>
            </a:r>
            <a:endParaRPr/>
          </a:p>
        </p:txBody>
      </p:sp>
      <p:sp>
        <p:nvSpPr>
          <p:cNvPr id="6" name="Rectangle 5"/>
          <p:cNvSpPr/>
          <p:nvPr/>
        </p:nvSpPr>
        <p:spPr>
          <a:xfrm>
            <a:off x="502920" y="7790688"/>
            <a:ext cx="13624560" cy="10972"/>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7918704"/>
            <a:ext cx="10972800" cy="215900"/>
          </a:xfrm>
          <a:prstGeom prst="rect">
            <a:avLst/>
          </a:prstGeom>
          <a:noFill/>
        </p:spPr>
        <p:txBody>
          <a:bodyPr wrap="none" lIns="0" tIns="0" rIns="0" bIns="0">
            <a:spAutoFit/>
          </a:bodyPr>
          <a:lstStyle/>
          <a:p>
            <a:pPr>
              <a:lnSpc>
                <a:spcPts val="1200"/>
              </a:lnSpc>
              <a:spcBef>
                <a:spcPts val="0"/>
              </a:spcBef>
              <a:spcAft>
                <a:spcPts val="0"/>
              </a:spcAft>
              <a:defRPr sz="1000" b="0">
                <a:solidFill>
                  <a:srgbClr val="4F6670"/>
                </a:solidFill>
                <a:latin typeface="Barlow"/>
              </a:defRPr>
            </a:pPr>
            <a:r>
              <a:t>Anushka Wijesundara / Product overview / October 2026</a:t>
            </a:r>
          </a:p>
        </p:txBody>
      </p:sp>
      <p:sp>
        <p:nvSpPr>
          <p:cNvPr id="8" name="TextBox 7"/>
          <p:cNvSpPr txBox="1"/>
          <p:nvPr/>
        </p:nvSpPr>
        <p:spPr>
          <a:xfrm>
            <a:off x="11976100" y="7918704"/>
            <a:ext cx="2159000" cy="215900"/>
          </a:xfrm>
          <a:prstGeom prst="rect">
            <a:avLst/>
          </a:prstGeom>
          <a:noFill/>
        </p:spPr>
        <p:txBody>
          <a:bodyPr wrap="none" lIns="0" tIns="0" rIns="0" bIns="0">
            <a:spAutoFit/>
          </a:bodyPr>
          <a:lstStyle/>
          <a:p>
            <a:pPr algn="r">
              <a:lnSpc>
                <a:spcPts val="1200"/>
              </a:lnSpc>
              <a:spcBef>
                <a:spcPts val="0"/>
              </a:spcBef>
              <a:spcAft>
                <a:spcPts val="0"/>
              </a:spcAft>
              <a:defRPr sz="1000" b="1">
                <a:solidFill>
                  <a:srgbClr val="00708A"/>
                </a:solidFill>
                <a:latin typeface="Barlow"/>
              </a:defRPr>
            </a:pPr>
            <a:r>
              <a:t>12</a:t>
            </a:r>
          </a:p>
        </p:txBody>
      </p:sp>
      <p:sp>
        <p:nvSpPr>
          <p:cNvPr id="9" name="TextBox 8"/>
          <p:cNvSpPr txBox="1"/>
          <p:nvPr/>
        </p:nvSpPr>
        <p:spPr>
          <a:xfrm>
            <a:off x="530352" y="2176272"/>
            <a:ext cx="2035814" cy="320601"/>
          </a:xfrm>
          <a:prstGeom prst="rect">
            <a:avLst/>
          </a:prstGeom>
          <a:noFill/>
        </p:spPr>
        <p:txBody>
          <a:bodyPr wrap="none" lIns="0" tIns="0" rIns="0" bIns="0">
            <a:spAutoFit/>
          </a:bodyPr>
          <a:lstStyle/>
          <a:p>
            <a:pPr>
              <a:lnSpc>
                <a:spcPts val="2520"/>
              </a:lnSpc>
              <a:spcBef>
                <a:spcPts val="0"/>
              </a:spcBef>
              <a:spcAft>
                <a:spcPts val="0"/>
              </a:spcAft>
              <a:defRPr sz="2100" b="1">
                <a:solidFill>
                  <a:srgbClr val="00708A"/>
                </a:solidFill>
                <a:latin typeface="Barlow"/>
              </a:defRPr>
            </a:pPr>
            <a:r>
              <a:rPr lang="en-US"/>
              <a:t>Name the person</a:t>
            </a:r>
            <a:endParaRPr/>
          </a:p>
        </p:txBody>
      </p:sp>
      <p:sp>
        <p:nvSpPr>
          <p:cNvPr id="10" name="TextBox 9"/>
          <p:cNvSpPr txBox="1"/>
          <p:nvPr/>
        </p:nvSpPr>
        <p:spPr>
          <a:xfrm>
            <a:off x="530352" y="2569464"/>
            <a:ext cx="2652970" cy="539891"/>
          </a:xfrm>
          <a:prstGeom prst="rect">
            <a:avLst/>
          </a:prstGeom>
          <a:noFill/>
        </p:spPr>
        <p:txBody>
          <a:bodyPr wrap="none" lIns="0" tIns="0" rIns="0" bIns="0">
            <a:spAutoFit/>
          </a:bodyPr>
          <a:lstStyle/>
          <a:p>
            <a:pPr>
              <a:lnSpc>
                <a:spcPts val="2160"/>
              </a:lnSpc>
              <a:spcBef>
                <a:spcPts val="0"/>
              </a:spcBef>
              <a:spcAft>
                <a:spcPts val="0"/>
              </a:spcAft>
              <a:defRPr sz="1800" b="0">
                <a:solidFill>
                  <a:srgbClr val="0B3C4C"/>
                </a:solidFill>
                <a:latin typeface="Barlow"/>
              </a:defRPr>
            </a:pPr>
            <a:r>
              <a:rPr lang="en-US"/>
              <a:t>Attribute recorded actions
to an accountable user.</a:t>
            </a:r>
            <a:endParaRPr/>
          </a:p>
        </p:txBody>
      </p:sp>
      <p:sp>
        <p:nvSpPr>
          <p:cNvPr id="11" name="TextBox 10"/>
          <p:cNvSpPr txBox="1"/>
          <p:nvPr/>
        </p:nvSpPr>
        <p:spPr>
          <a:xfrm>
            <a:off x="530352" y="3529584"/>
            <a:ext cx="2295500" cy="320601"/>
          </a:xfrm>
          <a:prstGeom prst="rect">
            <a:avLst/>
          </a:prstGeom>
          <a:noFill/>
        </p:spPr>
        <p:txBody>
          <a:bodyPr wrap="none" lIns="0" tIns="0" rIns="0" bIns="0">
            <a:spAutoFit/>
          </a:bodyPr>
          <a:lstStyle/>
          <a:p>
            <a:pPr>
              <a:lnSpc>
                <a:spcPts val="2520"/>
              </a:lnSpc>
              <a:spcBef>
                <a:spcPts val="0"/>
              </a:spcBef>
              <a:spcAft>
                <a:spcPts val="0"/>
              </a:spcAft>
              <a:defRPr sz="2100" b="1">
                <a:solidFill>
                  <a:srgbClr val="00708A"/>
                </a:solidFill>
                <a:latin typeface="Barlow"/>
              </a:defRPr>
            </a:pPr>
            <a:r>
              <a:rPr lang="en-US"/>
              <a:t>Retain the decision</a:t>
            </a:r>
            <a:endParaRPr/>
          </a:p>
        </p:txBody>
      </p:sp>
      <p:sp>
        <p:nvSpPr>
          <p:cNvPr id="12" name="TextBox 11"/>
          <p:cNvSpPr txBox="1"/>
          <p:nvPr/>
        </p:nvSpPr>
        <p:spPr>
          <a:xfrm>
            <a:off x="530352" y="3922776"/>
            <a:ext cx="2300310" cy="539891"/>
          </a:xfrm>
          <a:prstGeom prst="rect">
            <a:avLst/>
          </a:prstGeom>
          <a:noFill/>
        </p:spPr>
        <p:txBody>
          <a:bodyPr wrap="none" lIns="0" tIns="0" rIns="0" bIns="0">
            <a:spAutoFit/>
          </a:bodyPr>
          <a:lstStyle/>
          <a:p>
            <a:pPr>
              <a:lnSpc>
                <a:spcPts val="2160"/>
              </a:lnSpc>
              <a:spcBef>
                <a:spcPts val="0"/>
              </a:spcBef>
              <a:spcAft>
                <a:spcPts val="0"/>
              </a:spcAft>
              <a:defRPr sz="1800" b="0">
                <a:solidFill>
                  <a:srgbClr val="0B3C4C"/>
                </a:solidFill>
                <a:latin typeface="Barlow"/>
              </a:defRPr>
            </a:pPr>
            <a:r>
              <a:rPr lang="en-US"/>
              <a:t>Review the events and
changes in one history.</a:t>
            </a:r>
            <a:endParaRPr/>
          </a:p>
        </p:txBody>
      </p:sp>
      <p:sp>
        <p:nvSpPr>
          <p:cNvPr id="13" name="TextBox 12"/>
          <p:cNvSpPr txBox="1"/>
          <p:nvPr/>
        </p:nvSpPr>
        <p:spPr>
          <a:xfrm>
            <a:off x="530352" y="4882896"/>
            <a:ext cx="2237792" cy="320601"/>
          </a:xfrm>
          <a:prstGeom prst="rect">
            <a:avLst/>
          </a:prstGeom>
          <a:noFill/>
        </p:spPr>
        <p:txBody>
          <a:bodyPr wrap="none" lIns="0" tIns="0" rIns="0" bIns="0">
            <a:spAutoFit/>
          </a:bodyPr>
          <a:lstStyle/>
          <a:p>
            <a:pPr>
              <a:lnSpc>
                <a:spcPts val="2520"/>
              </a:lnSpc>
              <a:spcBef>
                <a:spcPts val="0"/>
              </a:spcBef>
              <a:spcAft>
                <a:spcPts val="0"/>
              </a:spcAft>
              <a:defRPr sz="2100" b="1">
                <a:solidFill>
                  <a:srgbClr val="00708A"/>
                </a:solidFill>
                <a:latin typeface="Barlow"/>
              </a:defRPr>
            </a:pPr>
            <a:r>
              <a:rPr lang="en-US"/>
              <a:t>Control the access</a:t>
            </a:r>
            <a:endParaRPr/>
          </a:p>
        </p:txBody>
      </p:sp>
      <p:sp>
        <p:nvSpPr>
          <p:cNvPr id="14" name="TextBox 13"/>
          <p:cNvSpPr txBox="1"/>
          <p:nvPr/>
        </p:nvSpPr>
        <p:spPr>
          <a:xfrm>
            <a:off x="530352" y="5276088"/>
            <a:ext cx="2769989" cy="539891"/>
          </a:xfrm>
          <a:prstGeom prst="rect">
            <a:avLst/>
          </a:prstGeom>
          <a:noFill/>
        </p:spPr>
        <p:txBody>
          <a:bodyPr wrap="none" lIns="0" tIns="0" rIns="0" bIns="0">
            <a:spAutoFit/>
          </a:bodyPr>
          <a:lstStyle/>
          <a:p>
            <a:pPr>
              <a:lnSpc>
                <a:spcPts val="2160"/>
              </a:lnSpc>
              <a:spcBef>
                <a:spcPts val="0"/>
              </a:spcBef>
              <a:spcAft>
                <a:spcPts val="0"/>
              </a:spcAft>
              <a:defRPr sz="1800" b="0">
                <a:solidFill>
                  <a:srgbClr val="0B3C4C"/>
                </a:solidFill>
                <a:latin typeface="Barlow"/>
              </a:defRPr>
            </a:pPr>
            <a:r>
              <a:rPr lang="en-US"/>
              <a:t>Apply permissions and
configured retention policy.</a:t>
            </a:r>
            <a:endParaRPr/>
          </a:p>
        </p:txBody>
      </p:sp>
      <p:sp>
        <p:nvSpPr>
          <p:cNvPr id="15" name="Rectangle 14"/>
          <p:cNvSpPr/>
          <p:nvPr/>
        </p:nvSpPr>
        <p:spPr>
          <a:xfrm>
            <a:off x="502920" y="6510528"/>
            <a:ext cx="3291840" cy="868680"/>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7512" y="6656832"/>
            <a:ext cx="1907573" cy="512961"/>
          </a:xfrm>
          <a:prstGeom prst="rect">
            <a:avLst/>
          </a:prstGeom>
          <a:noFill/>
        </p:spPr>
        <p:txBody>
          <a:bodyPr wrap="none" lIns="0" tIns="0" rIns="0" bIns="0">
            <a:spAutoFit/>
          </a:bodyPr>
          <a:lstStyle/>
          <a:p>
            <a:pPr>
              <a:lnSpc>
                <a:spcPts val="2039"/>
              </a:lnSpc>
              <a:spcBef>
                <a:spcPts val="0"/>
              </a:spcBef>
              <a:spcAft>
                <a:spcPts val="0"/>
              </a:spcAft>
              <a:defRPr sz="1700" b="1">
                <a:solidFill>
                  <a:srgbClr val="B35F00"/>
                </a:solidFill>
                <a:latin typeface="Barlow"/>
              </a:defRPr>
            </a:pPr>
            <a:r>
              <a:rPr lang="en-US"/>
              <a:t>Shared decisions.
Reviewable history.</a:t>
            </a:r>
            <a:endParaRPr/>
          </a:p>
        </p:txBody>
      </p:sp>
      <p:pic>
        <p:nvPicPr>
          <p:cNvPr id="18" name="Screenshot: audit-245-60-1600-1000" descr="audit-245-60-1600-1000.png"/>
          <p:cNvPicPr>
            <a:picLocks noChangeAspect="1"/>
          </p:cNvPicPr>
          <p:nvPr/>
        </p:nvPicPr>
        <p:blipFill>
          <a:blip r:embed="rId3"/>
          <a:stretch>
            <a:fillRect/>
          </a:stretch>
        </p:blipFill>
        <p:spPr>
          <a:xfrm>
            <a:off x="5264708" y="1168400"/>
            <a:ext cx="8850295" cy="6139688"/>
          </a:xfrm>
          <a:prstGeom prst="rect">
            <a:avLst/>
          </a:prstGeom>
        </p:spPr>
      </p:pic>
      <p:sp>
        <p:nvSpPr>
          <p:cNvPr id="19" name="TextBox 18"/>
          <p:cNvSpPr txBox="1"/>
          <p:nvPr/>
        </p:nvSpPr>
        <p:spPr>
          <a:xfrm>
            <a:off x="4169663" y="7543800"/>
            <a:ext cx="9875520" cy="215900"/>
          </a:xfrm>
          <a:prstGeom prst="rect">
            <a:avLst/>
          </a:prstGeom>
          <a:noFill/>
        </p:spPr>
        <p:txBody>
          <a:bodyPr wrap="none" lIns="0" tIns="0" rIns="0" bIns="0">
            <a:spAutoFit/>
          </a:bodyPr>
          <a:lstStyle/>
          <a:p>
            <a:pPr>
              <a:lnSpc>
                <a:spcPts val="1200"/>
              </a:lnSpc>
              <a:spcBef>
                <a:spcPts val="0"/>
              </a:spcBef>
              <a:spcAft>
                <a:spcPts val="0"/>
              </a:spcAft>
              <a:defRPr sz="1000" b="0">
                <a:solidFill>
                  <a:srgbClr val="4F6670"/>
                </a:solidFill>
                <a:latin typeface="Barlow"/>
              </a:defRPr>
            </a:pPr>
            <a:r>
              <a:t>Current app v1.113.65 / Isolated demo / Sample records</a:t>
            </a:r>
          </a:p>
        </p:txBody>
      </p:sp>
      <p:sp>
        <p:nvSpPr>
          <p:cNvPr id="901" name="JNX Rule"/>
          <p:cNvSpPr/>
          <p:nvPr/>
        </p:nvSpPr>
        <p:spPr>
          <a:xfrm>
            <a:off x="508000" y="1016000"/>
            <a:ext cx="13627100" cy="19050"/>
          </a:xfrm>
          <a:prstGeom prst="rect">
            <a:avLst/>
          </a:prstGeom>
          <a:solidFill>
            <a:srgbClr val="0B3C4C"/>
          </a:solidFill>
          <a:ln>
            <a:noFill/>
          </a:ln>
        </p:spPr>
        <p:txBody>
          <a:bodyPr/>
          <a:lstStyle/>
          <a:p>
            <a:endParaRPr lang="en-JP"/>
          </a:p>
        </p:txBody>
      </p:sp>
      <p:pic>
        <p:nvPicPr>
          <p:cNvPr id="902" name="Copied Picture 902" descr="Japannext JNX logo">
            <a:extLst>
              <a:ext uri="{FF2B5EF4-FFF2-40B4-BE49-F238E27FC236}">
                <a16:creationId xmlns:a16="http://schemas.microsoft.com/office/drawing/2014/main" id="{429122C2-2B95-92FB-9A5C-2E92C9458AAC}"/>
              </a:ext>
            </a:extLst>
          </p:cNvPr>
          <p:cNvPicPr>
            <a:picLocks noChangeAspect="1"/>
          </p:cNvPicPr>
          <p:nvPr/>
        </p:nvPicPr>
        <p:blipFill>
          <a:blip r:embed="rId4">
            <a:clrChange>
              <a:clrFrom>
                <a:srgbClr val="FFFFFF"/>
              </a:clrFrom>
              <a:clrTo>
                <a:srgbClr val="FFFFFF">
                  <a:alpha val="0"/>
                </a:srgbClr>
              </a:clrTo>
            </a:clrChange>
          </a:blip>
          <a:srcRect l="13500" t="21500" r="13800" b="22500"/>
          <a:stretch>
            <a:fillRect/>
          </a:stretch>
        </p:blipFill>
        <p:spPr>
          <a:xfrm>
            <a:off x="12725400" y="254000"/>
            <a:ext cx="1409700" cy="660400"/>
          </a:xfrm>
          <a:prstGeom prst="rect">
            <a:avLst/>
          </a:prstGeom>
        </p:spPr>
      </p:pic>
    </p:spTree>
    <p:extLst>
      <p:ext uri="{BB962C8B-B14F-4D97-AF65-F5344CB8AC3E}">
        <p14:creationId xmlns:p14="http://schemas.microsoft.com/office/powerpoint/2010/main" val="25405312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1244600"/>
            <a:ext cx="1143000" cy="254000"/>
          </a:xfrm>
          <a:prstGeom prst="rect">
            <a:avLst/>
          </a:prstGeom>
          <a:noFill/>
        </p:spPr>
        <p:txBody>
          <a:bodyPr wrap="none" lIns="0" tIns="0" rIns="0" bIns="0">
            <a:spAutoFit/>
          </a:bodyPr>
          <a:lstStyle/>
          <a:p>
            <a:pPr>
              <a:lnSpc>
                <a:spcPts val="1439"/>
              </a:lnSpc>
              <a:spcBef>
                <a:spcPts val="0"/>
              </a:spcBef>
              <a:spcAft>
                <a:spcPts val="0"/>
              </a:spcAft>
              <a:defRPr sz="1200" b="1">
                <a:solidFill>
                  <a:srgbClr val="00708A"/>
                </a:solidFill>
                <a:latin typeface="Barlow"/>
              </a:defRPr>
            </a:pPr>
            <a:r>
              <a:t>SERVICEOPS</a:t>
            </a:r>
          </a:p>
        </p:txBody>
      </p:sp>
      <p:sp>
        <p:nvSpPr>
          <p:cNvPr id="4" name="TextBox 3"/>
          <p:cNvSpPr txBox="1"/>
          <p:nvPr/>
        </p:nvSpPr>
        <p:spPr>
          <a:xfrm>
            <a:off x="1625600" y="1244600"/>
            <a:ext cx="1957267" cy="179536"/>
          </a:xfrm>
          <a:prstGeom prst="rect">
            <a:avLst/>
          </a:prstGeom>
          <a:noFill/>
        </p:spPr>
        <p:txBody>
          <a:bodyPr wrap="none" lIns="0" tIns="0" rIns="0" bIns="0">
            <a:spAutoFit/>
          </a:bodyPr>
          <a:lstStyle/>
          <a:p>
            <a:pPr>
              <a:lnSpc>
                <a:spcPts val="1439"/>
              </a:lnSpc>
              <a:spcBef>
                <a:spcPts val="0"/>
              </a:spcBef>
              <a:spcAft>
                <a:spcPts val="0"/>
              </a:spcAft>
              <a:defRPr sz="1200" b="1">
                <a:solidFill>
                  <a:srgbClr val="4F6670"/>
                </a:solidFill>
                <a:latin typeface="Barlow"/>
              </a:defRPr>
            </a:pPr>
            <a:r>
              <a:rPr lang="en-US"/>
              <a:t>COORDINATION IN THE FIELD</a:t>
            </a:r>
            <a:endParaRPr/>
          </a:p>
        </p:txBody>
      </p:sp>
      <p:sp>
        <p:nvSpPr>
          <p:cNvPr id="5" name="TextBox 4"/>
          <p:cNvSpPr txBox="1"/>
          <p:nvPr/>
        </p:nvSpPr>
        <p:spPr>
          <a:xfrm>
            <a:off x="508000" y="304800"/>
            <a:ext cx="6924973" cy="412934"/>
          </a:xfrm>
          <a:prstGeom prst="rect">
            <a:avLst/>
          </a:prstGeom>
          <a:noFill/>
        </p:spPr>
        <p:txBody>
          <a:bodyPr wrap="none" lIns="0" tIns="0" rIns="0" bIns="0">
            <a:spAutoFit/>
          </a:bodyPr>
          <a:lstStyle/>
          <a:p>
            <a:pPr>
              <a:lnSpc>
                <a:spcPts val="3600"/>
              </a:lnSpc>
              <a:spcBef>
                <a:spcPts val="0"/>
              </a:spcBef>
              <a:spcAft>
                <a:spcPts val="0"/>
              </a:spcAft>
              <a:defRPr sz="2600" b="1">
                <a:solidFill>
                  <a:srgbClr val="0B3C4C"/>
                </a:solidFill>
                <a:latin typeface="Barlow"/>
              </a:defRPr>
            </a:pPr>
            <a:r>
              <a:rPr lang="en-US"/>
              <a:t>Keep teams aligned—even away from the desk.</a:t>
            </a:r>
            <a:endParaRPr/>
          </a:p>
        </p:txBody>
      </p:sp>
      <p:sp>
        <p:nvSpPr>
          <p:cNvPr id="6" name="Rectangle 5"/>
          <p:cNvSpPr/>
          <p:nvPr/>
        </p:nvSpPr>
        <p:spPr>
          <a:xfrm>
            <a:off x="502920" y="7790688"/>
            <a:ext cx="13624560" cy="10972"/>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7918704"/>
            <a:ext cx="10972800" cy="215900"/>
          </a:xfrm>
          <a:prstGeom prst="rect">
            <a:avLst/>
          </a:prstGeom>
          <a:noFill/>
        </p:spPr>
        <p:txBody>
          <a:bodyPr wrap="none" lIns="0" tIns="0" rIns="0" bIns="0">
            <a:spAutoFit/>
          </a:bodyPr>
          <a:lstStyle/>
          <a:p>
            <a:pPr>
              <a:lnSpc>
                <a:spcPts val="1200"/>
              </a:lnSpc>
              <a:spcBef>
                <a:spcPts val="0"/>
              </a:spcBef>
              <a:spcAft>
                <a:spcPts val="0"/>
              </a:spcAft>
              <a:defRPr sz="1000" b="0">
                <a:solidFill>
                  <a:srgbClr val="4F6670"/>
                </a:solidFill>
                <a:latin typeface="Barlow"/>
              </a:defRPr>
            </a:pPr>
            <a:r>
              <a:t>Anushka Wijesundara / Product overview / October 2026</a:t>
            </a:r>
          </a:p>
        </p:txBody>
      </p:sp>
      <p:sp>
        <p:nvSpPr>
          <p:cNvPr id="8" name="TextBox 7"/>
          <p:cNvSpPr txBox="1"/>
          <p:nvPr/>
        </p:nvSpPr>
        <p:spPr>
          <a:xfrm>
            <a:off x="11976100" y="7918704"/>
            <a:ext cx="2159000" cy="215900"/>
          </a:xfrm>
          <a:prstGeom prst="rect">
            <a:avLst/>
          </a:prstGeom>
          <a:noFill/>
        </p:spPr>
        <p:txBody>
          <a:bodyPr wrap="none" lIns="0" tIns="0" rIns="0" bIns="0">
            <a:spAutoFit/>
          </a:bodyPr>
          <a:lstStyle/>
          <a:p>
            <a:pPr algn="r">
              <a:lnSpc>
                <a:spcPts val="1200"/>
              </a:lnSpc>
              <a:spcBef>
                <a:spcPts val="0"/>
              </a:spcBef>
              <a:spcAft>
                <a:spcPts val="0"/>
              </a:spcAft>
              <a:defRPr sz="1000" b="1">
                <a:solidFill>
                  <a:srgbClr val="00708A"/>
                </a:solidFill>
                <a:latin typeface="Barlow"/>
              </a:defRPr>
            </a:pPr>
            <a:r>
              <a:t>13</a:t>
            </a:r>
          </a:p>
        </p:txBody>
      </p:sp>
      <p:sp>
        <p:nvSpPr>
          <p:cNvPr id="9" name="TextBox 8"/>
          <p:cNvSpPr txBox="1"/>
          <p:nvPr/>
        </p:nvSpPr>
        <p:spPr>
          <a:xfrm>
            <a:off x="594360" y="2331720"/>
            <a:ext cx="3159519" cy="384721"/>
          </a:xfrm>
          <a:prstGeom prst="rect">
            <a:avLst/>
          </a:prstGeom>
          <a:noFill/>
        </p:spPr>
        <p:txBody>
          <a:bodyPr wrap="none" lIns="0" tIns="0" rIns="0" bIns="0">
            <a:spAutoFit/>
          </a:bodyPr>
          <a:lstStyle/>
          <a:p>
            <a:pPr>
              <a:lnSpc>
                <a:spcPts val="3000"/>
              </a:lnSpc>
              <a:spcBef>
                <a:spcPts val="0"/>
              </a:spcBef>
              <a:spcAft>
                <a:spcPts val="0"/>
              </a:spcAft>
              <a:defRPr sz="2500" b="1">
                <a:solidFill>
                  <a:srgbClr val="00708A"/>
                </a:solidFill>
                <a:latin typeface="Barlow"/>
              </a:defRPr>
            </a:pPr>
            <a:r>
              <a:rPr lang="en-US"/>
              <a:t>Stay close to the work</a:t>
            </a:r>
            <a:endParaRPr/>
          </a:p>
        </p:txBody>
      </p:sp>
      <p:sp>
        <p:nvSpPr>
          <p:cNvPr id="10" name="TextBox 9"/>
          <p:cNvSpPr txBox="1"/>
          <p:nvPr/>
        </p:nvSpPr>
        <p:spPr>
          <a:xfrm>
            <a:off x="594360" y="2816352"/>
            <a:ext cx="4026743" cy="333425"/>
          </a:xfrm>
          <a:prstGeom prst="rect">
            <a:avLst/>
          </a:prstGeom>
          <a:noFill/>
        </p:spPr>
        <p:txBody>
          <a:bodyPr wrap="none" lIns="0" tIns="0" rIns="0" bIns="0">
            <a:spAutoFit/>
          </a:bodyPr>
          <a:lstStyle/>
          <a:p>
            <a:pPr>
              <a:lnSpc>
                <a:spcPts val="2640"/>
              </a:lnSpc>
              <a:spcBef>
                <a:spcPts val="0"/>
              </a:spcBef>
              <a:spcAft>
                <a:spcPts val="0"/>
              </a:spcAft>
              <a:defRPr sz="2200" b="0">
                <a:solidFill>
                  <a:srgbClr val="0B3C4C"/>
                </a:solidFill>
                <a:latin typeface="Barlow"/>
              </a:defRPr>
            </a:pPr>
            <a:r>
              <a:rPr lang="en-US"/>
              <a:t>Review home and assigned work.</a:t>
            </a:r>
            <a:endParaRPr/>
          </a:p>
        </p:txBody>
      </p:sp>
      <p:sp>
        <p:nvSpPr>
          <p:cNvPr id="11" name="TextBox 10"/>
          <p:cNvSpPr txBox="1"/>
          <p:nvPr/>
        </p:nvSpPr>
        <p:spPr>
          <a:xfrm>
            <a:off x="594360" y="3657600"/>
            <a:ext cx="3757439" cy="384721"/>
          </a:xfrm>
          <a:prstGeom prst="rect">
            <a:avLst/>
          </a:prstGeom>
          <a:noFill/>
        </p:spPr>
        <p:txBody>
          <a:bodyPr wrap="none" lIns="0" tIns="0" rIns="0" bIns="0">
            <a:spAutoFit/>
          </a:bodyPr>
          <a:lstStyle/>
          <a:p>
            <a:pPr>
              <a:lnSpc>
                <a:spcPts val="3000"/>
              </a:lnSpc>
              <a:spcBef>
                <a:spcPts val="0"/>
              </a:spcBef>
              <a:spcAft>
                <a:spcPts val="0"/>
              </a:spcAft>
              <a:defRPr sz="2500" b="1">
                <a:solidFill>
                  <a:srgbClr val="00708A"/>
                </a:solidFill>
                <a:latin typeface="Barlow"/>
              </a:defRPr>
            </a:pPr>
            <a:r>
              <a:rPr lang="en-US"/>
              <a:t>Carry the decision context</a:t>
            </a:r>
            <a:endParaRPr/>
          </a:p>
        </p:txBody>
      </p:sp>
      <p:sp>
        <p:nvSpPr>
          <p:cNvPr id="12" name="TextBox 11"/>
          <p:cNvSpPr txBox="1"/>
          <p:nvPr/>
        </p:nvSpPr>
        <p:spPr>
          <a:xfrm>
            <a:off x="594360" y="4142232"/>
            <a:ext cx="5081519" cy="333425"/>
          </a:xfrm>
          <a:prstGeom prst="rect">
            <a:avLst/>
          </a:prstGeom>
          <a:noFill/>
        </p:spPr>
        <p:txBody>
          <a:bodyPr wrap="none" lIns="0" tIns="0" rIns="0" bIns="0">
            <a:spAutoFit/>
          </a:bodyPr>
          <a:lstStyle/>
          <a:p>
            <a:pPr>
              <a:lnSpc>
                <a:spcPts val="2640"/>
              </a:lnSpc>
              <a:spcBef>
                <a:spcPts val="0"/>
              </a:spcBef>
              <a:spcAft>
                <a:spcPts val="0"/>
              </a:spcAft>
              <a:defRPr sz="2200" b="0">
                <a:solidFill>
                  <a:srgbClr val="0B3C4C"/>
                </a:solidFill>
                <a:latin typeface="Barlow"/>
              </a:defRPr>
            </a:pPr>
            <a:r>
              <a:rPr lang="en-US"/>
              <a:t>Access tickets, approvals and knowledge.</a:t>
            </a:r>
            <a:endParaRPr/>
          </a:p>
        </p:txBody>
      </p:sp>
      <p:sp>
        <p:nvSpPr>
          <p:cNvPr id="13" name="TextBox 12"/>
          <p:cNvSpPr txBox="1"/>
          <p:nvPr/>
        </p:nvSpPr>
        <p:spPr>
          <a:xfrm>
            <a:off x="594360" y="4983480"/>
            <a:ext cx="4057201" cy="384721"/>
          </a:xfrm>
          <a:prstGeom prst="rect">
            <a:avLst/>
          </a:prstGeom>
          <a:noFill/>
        </p:spPr>
        <p:txBody>
          <a:bodyPr wrap="none" lIns="0" tIns="0" rIns="0" bIns="0">
            <a:spAutoFit/>
          </a:bodyPr>
          <a:lstStyle/>
          <a:p>
            <a:pPr>
              <a:lnSpc>
                <a:spcPts val="3000"/>
              </a:lnSpc>
              <a:spcBef>
                <a:spcPts val="0"/>
              </a:spcBef>
              <a:spcAft>
                <a:spcPts val="0"/>
              </a:spcAft>
              <a:defRPr sz="2500" b="1">
                <a:solidFill>
                  <a:srgbClr val="00708A"/>
                </a:solidFill>
                <a:latin typeface="Barlow"/>
              </a:defRPr>
            </a:pPr>
            <a:r>
              <a:rPr lang="en-US"/>
              <a:t>Find the affected equipment</a:t>
            </a:r>
            <a:endParaRPr/>
          </a:p>
        </p:txBody>
      </p:sp>
      <p:sp>
        <p:nvSpPr>
          <p:cNvPr id="14" name="TextBox 13"/>
          <p:cNvSpPr txBox="1"/>
          <p:nvPr/>
        </p:nvSpPr>
        <p:spPr>
          <a:xfrm>
            <a:off x="594360" y="5468112"/>
            <a:ext cx="4060407" cy="333425"/>
          </a:xfrm>
          <a:prstGeom prst="rect">
            <a:avLst/>
          </a:prstGeom>
          <a:noFill/>
        </p:spPr>
        <p:txBody>
          <a:bodyPr wrap="none" lIns="0" tIns="0" rIns="0" bIns="0">
            <a:spAutoFit/>
          </a:bodyPr>
          <a:lstStyle/>
          <a:p>
            <a:pPr>
              <a:lnSpc>
                <a:spcPts val="2640"/>
              </a:lnSpc>
              <a:spcBef>
                <a:spcPts val="0"/>
              </a:spcBef>
              <a:spcAft>
                <a:spcPts val="0"/>
              </a:spcAft>
              <a:defRPr sz="2200" b="0">
                <a:solidFill>
                  <a:srgbClr val="0B3C4C"/>
                </a:solidFill>
                <a:latin typeface="Barlow"/>
              </a:defRPr>
            </a:pPr>
            <a:r>
              <a:rPr lang="en-US"/>
              <a:t>Use CMDB and rack views on site.</a:t>
            </a:r>
            <a:endParaRPr/>
          </a:p>
        </p:txBody>
      </p:sp>
      <p:pic>
        <p:nvPicPr>
          <p:cNvPr id="15" name="Screenshot: iphone-home" descr="iphone-home.png"/>
          <p:cNvPicPr>
            <a:picLocks noChangeAspect="1"/>
          </p:cNvPicPr>
          <p:nvPr/>
        </p:nvPicPr>
        <p:blipFill>
          <a:blip r:embed="rId3"/>
          <a:stretch>
            <a:fillRect/>
          </a:stretch>
        </p:blipFill>
        <p:spPr>
          <a:xfrm>
            <a:off x="7458428" y="1965960"/>
            <a:ext cx="2502463" cy="5440680"/>
          </a:xfrm>
          <a:prstGeom prst="rect">
            <a:avLst/>
          </a:prstGeom>
        </p:spPr>
      </p:pic>
      <p:pic>
        <p:nvPicPr>
          <p:cNvPr id="16" name="Screenshot: iphone-work" descr="iphone-work.png"/>
          <p:cNvPicPr>
            <a:picLocks noChangeAspect="1"/>
          </p:cNvPicPr>
          <p:nvPr/>
        </p:nvPicPr>
        <p:blipFill>
          <a:blip r:embed="rId4"/>
          <a:stretch>
            <a:fillRect/>
          </a:stretch>
        </p:blipFill>
        <p:spPr>
          <a:xfrm>
            <a:off x="10475948" y="1965960"/>
            <a:ext cx="2502463" cy="5440680"/>
          </a:xfrm>
          <a:prstGeom prst="rect">
            <a:avLst/>
          </a:prstGeom>
        </p:spPr>
      </p:pic>
      <p:sp>
        <p:nvSpPr>
          <p:cNvPr id="17" name="TextBox 16"/>
          <p:cNvSpPr txBox="1"/>
          <p:nvPr/>
        </p:nvSpPr>
        <p:spPr>
          <a:xfrm>
            <a:off x="7315200" y="7543800"/>
            <a:ext cx="6400800" cy="215900"/>
          </a:xfrm>
          <a:prstGeom prst="rect">
            <a:avLst/>
          </a:prstGeom>
          <a:noFill/>
        </p:spPr>
        <p:txBody>
          <a:bodyPr wrap="none" lIns="0" tIns="0" rIns="0" bIns="0">
            <a:spAutoFit/>
          </a:bodyPr>
          <a:lstStyle/>
          <a:p>
            <a:pPr>
              <a:lnSpc>
                <a:spcPts val="1200"/>
              </a:lnSpc>
              <a:spcBef>
                <a:spcPts val="0"/>
              </a:spcBef>
              <a:spcAft>
                <a:spcPts val="0"/>
              </a:spcAft>
              <a:defRPr sz="1000" b="0">
                <a:solidFill>
                  <a:srgbClr val="4F6670"/>
                </a:solidFill>
                <a:latin typeface="Barlow"/>
              </a:defRPr>
            </a:pPr>
            <a:r>
              <a:t>Native iOS documentation examples / Fixture records</a:t>
            </a:r>
          </a:p>
        </p:txBody>
      </p:sp>
      <p:sp>
        <p:nvSpPr>
          <p:cNvPr id="901" name="JNX Rule"/>
          <p:cNvSpPr/>
          <p:nvPr/>
        </p:nvSpPr>
        <p:spPr>
          <a:xfrm>
            <a:off x="508000" y="1016000"/>
            <a:ext cx="13627100" cy="19050"/>
          </a:xfrm>
          <a:prstGeom prst="rect">
            <a:avLst/>
          </a:prstGeom>
          <a:solidFill>
            <a:srgbClr val="0B3C4C"/>
          </a:solidFill>
          <a:ln>
            <a:noFill/>
          </a:ln>
        </p:spPr>
        <p:txBody>
          <a:bodyPr/>
          <a:lstStyle/>
          <a:p>
            <a:endParaRPr lang="en-JP"/>
          </a:p>
        </p:txBody>
      </p:sp>
      <p:pic>
        <p:nvPicPr>
          <p:cNvPr id="902" name="Copied Picture 902" descr="Japannext JNX logo">
            <a:extLst>
              <a:ext uri="{FF2B5EF4-FFF2-40B4-BE49-F238E27FC236}">
                <a16:creationId xmlns:a16="http://schemas.microsoft.com/office/drawing/2014/main" id="{429122C2-2B95-92FB-9A5C-2E92C9458AAC}"/>
              </a:ext>
            </a:extLst>
          </p:cNvPr>
          <p:cNvPicPr>
            <a:picLocks noChangeAspect="1"/>
          </p:cNvPicPr>
          <p:nvPr/>
        </p:nvPicPr>
        <p:blipFill>
          <a:blip r:embed="rId5">
            <a:clrChange>
              <a:clrFrom>
                <a:srgbClr val="FFFFFF"/>
              </a:clrFrom>
              <a:clrTo>
                <a:srgbClr val="FFFFFF">
                  <a:alpha val="0"/>
                </a:srgbClr>
              </a:clrTo>
            </a:clrChange>
          </a:blip>
          <a:srcRect l="13500" t="21500" r="13800" b="22500"/>
          <a:stretch>
            <a:fillRect/>
          </a:stretch>
        </p:blipFill>
        <p:spPr>
          <a:xfrm>
            <a:off x="12725400" y="254000"/>
            <a:ext cx="1409700" cy="660400"/>
          </a:xfrm>
          <a:prstGeom prst="rect">
            <a:avLst/>
          </a:prstGeom>
        </p:spPr>
      </p:pic>
    </p:spTree>
    <p:extLst>
      <p:ext uri="{BB962C8B-B14F-4D97-AF65-F5344CB8AC3E}">
        <p14:creationId xmlns:p14="http://schemas.microsoft.com/office/powerpoint/2010/main" val="4746629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1244600"/>
            <a:ext cx="1143000" cy="254000"/>
          </a:xfrm>
          <a:prstGeom prst="rect">
            <a:avLst/>
          </a:prstGeom>
          <a:noFill/>
        </p:spPr>
        <p:txBody>
          <a:bodyPr wrap="none" lIns="0" tIns="0" rIns="0" bIns="0">
            <a:spAutoFit/>
          </a:bodyPr>
          <a:lstStyle/>
          <a:p>
            <a:pPr>
              <a:lnSpc>
                <a:spcPts val="1439"/>
              </a:lnSpc>
              <a:spcBef>
                <a:spcPts val="0"/>
              </a:spcBef>
              <a:spcAft>
                <a:spcPts val="0"/>
              </a:spcAft>
              <a:defRPr sz="1200" b="1">
                <a:solidFill>
                  <a:srgbClr val="00708A"/>
                </a:solidFill>
                <a:latin typeface="Barlow"/>
              </a:defRPr>
            </a:pPr>
            <a:r>
              <a:t>SERVICEOPS</a:t>
            </a:r>
          </a:p>
        </p:txBody>
      </p:sp>
      <p:sp>
        <p:nvSpPr>
          <p:cNvPr id="4" name="TextBox 3"/>
          <p:cNvSpPr txBox="1"/>
          <p:nvPr/>
        </p:nvSpPr>
        <p:spPr>
          <a:xfrm>
            <a:off x="1625600" y="1244600"/>
            <a:ext cx="2265044" cy="179536"/>
          </a:xfrm>
          <a:prstGeom prst="rect">
            <a:avLst/>
          </a:prstGeom>
          <a:noFill/>
        </p:spPr>
        <p:txBody>
          <a:bodyPr wrap="none" lIns="0" tIns="0" rIns="0" bIns="0">
            <a:spAutoFit/>
          </a:bodyPr>
          <a:lstStyle/>
          <a:p>
            <a:pPr>
              <a:lnSpc>
                <a:spcPts val="1439"/>
              </a:lnSpc>
              <a:spcBef>
                <a:spcPts val="0"/>
              </a:spcBef>
              <a:spcAft>
                <a:spcPts val="0"/>
              </a:spcAft>
              <a:defRPr sz="1200" b="1">
                <a:solidFill>
                  <a:srgbClr val="4F6670"/>
                </a:solidFill>
                <a:latin typeface="Barlow"/>
              </a:defRPr>
            </a:pPr>
            <a:r>
              <a:rPr lang="en-US"/>
              <a:t>SELF-HOSTED SHARED CONTEXT</a:t>
            </a:r>
            <a:endParaRPr/>
          </a:p>
        </p:txBody>
      </p:sp>
      <p:sp>
        <p:nvSpPr>
          <p:cNvPr id="5" name="TextBox 4"/>
          <p:cNvSpPr txBox="1"/>
          <p:nvPr/>
        </p:nvSpPr>
        <p:spPr>
          <a:xfrm>
            <a:off x="508000" y="304800"/>
            <a:ext cx="7614264" cy="412934"/>
          </a:xfrm>
          <a:prstGeom prst="rect">
            <a:avLst/>
          </a:prstGeom>
          <a:noFill/>
        </p:spPr>
        <p:txBody>
          <a:bodyPr wrap="none" lIns="0" tIns="0" rIns="0" bIns="0">
            <a:spAutoFit/>
          </a:bodyPr>
          <a:lstStyle/>
          <a:p>
            <a:pPr>
              <a:lnSpc>
                <a:spcPts val="3600"/>
              </a:lnSpc>
              <a:spcBef>
                <a:spcPts val="0"/>
              </a:spcBef>
              <a:spcAft>
                <a:spcPts val="0"/>
              </a:spcAft>
              <a:defRPr sz="2600" b="1">
                <a:solidFill>
                  <a:srgbClr val="0B3C4C"/>
                </a:solidFill>
                <a:latin typeface="Barlow"/>
              </a:defRPr>
            </a:pPr>
            <a:r>
              <a:rPr lang="en-US"/>
              <a:t>One shared record, with control of the connections.</a:t>
            </a:r>
            <a:endParaRPr/>
          </a:p>
        </p:txBody>
      </p:sp>
      <p:sp>
        <p:nvSpPr>
          <p:cNvPr id="6" name="Rectangle 5"/>
          <p:cNvSpPr/>
          <p:nvPr/>
        </p:nvSpPr>
        <p:spPr>
          <a:xfrm>
            <a:off x="502920" y="7790688"/>
            <a:ext cx="13624560" cy="10972"/>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7918704"/>
            <a:ext cx="10972800" cy="215900"/>
          </a:xfrm>
          <a:prstGeom prst="rect">
            <a:avLst/>
          </a:prstGeom>
          <a:noFill/>
        </p:spPr>
        <p:txBody>
          <a:bodyPr wrap="none" lIns="0" tIns="0" rIns="0" bIns="0">
            <a:spAutoFit/>
          </a:bodyPr>
          <a:lstStyle/>
          <a:p>
            <a:pPr>
              <a:lnSpc>
                <a:spcPts val="1200"/>
              </a:lnSpc>
              <a:spcBef>
                <a:spcPts val="0"/>
              </a:spcBef>
              <a:spcAft>
                <a:spcPts val="0"/>
              </a:spcAft>
              <a:defRPr sz="1000" b="0">
                <a:solidFill>
                  <a:srgbClr val="4F6670"/>
                </a:solidFill>
                <a:latin typeface="Barlow"/>
              </a:defRPr>
            </a:pPr>
            <a:r>
              <a:t>Anushka Wijesundara / Product overview / October 2026</a:t>
            </a:r>
          </a:p>
        </p:txBody>
      </p:sp>
      <p:sp>
        <p:nvSpPr>
          <p:cNvPr id="8" name="TextBox 7"/>
          <p:cNvSpPr txBox="1"/>
          <p:nvPr/>
        </p:nvSpPr>
        <p:spPr>
          <a:xfrm>
            <a:off x="11976100" y="7918704"/>
            <a:ext cx="2159000" cy="215900"/>
          </a:xfrm>
          <a:prstGeom prst="rect">
            <a:avLst/>
          </a:prstGeom>
          <a:noFill/>
        </p:spPr>
        <p:txBody>
          <a:bodyPr wrap="none" lIns="0" tIns="0" rIns="0" bIns="0">
            <a:spAutoFit/>
          </a:bodyPr>
          <a:lstStyle/>
          <a:p>
            <a:pPr algn="r">
              <a:lnSpc>
                <a:spcPts val="1200"/>
              </a:lnSpc>
              <a:spcBef>
                <a:spcPts val="0"/>
              </a:spcBef>
              <a:spcAft>
                <a:spcPts val="0"/>
              </a:spcAft>
              <a:defRPr sz="1000" b="1">
                <a:solidFill>
                  <a:srgbClr val="00708A"/>
                </a:solidFill>
                <a:latin typeface="Barlow"/>
              </a:defRPr>
            </a:pPr>
            <a:r>
              <a:t>14</a:t>
            </a:r>
          </a:p>
        </p:txBody>
      </p:sp>
      <p:sp>
        <p:nvSpPr>
          <p:cNvPr id="9" name="Rectangle 8"/>
          <p:cNvSpPr/>
          <p:nvPr/>
        </p:nvSpPr>
        <p:spPr>
          <a:xfrm>
            <a:off x="594360" y="2377440"/>
            <a:ext cx="2926080" cy="1828800"/>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2578608"/>
            <a:ext cx="2560320" cy="368300"/>
          </a:xfrm>
          <a:prstGeom prst="rect">
            <a:avLst/>
          </a:prstGeom>
          <a:noFill/>
        </p:spPr>
        <p:txBody>
          <a:bodyPr wrap="none" lIns="0" tIns="0" rIns="0" bIns="0">
            <a:spAutoFit/>
          </a:bodyPr>
          <a:lstStyle/>
          <a:p>
            <a:pPr>
              <a:lnSpc>
                <a:spcPts val="2400"/>
              </a:lnSpc>
              <a:spcBef>
                <a:spcPts val="0"/>
              </a:spcBef>
              <a:spcAft>
                <a:spcPts val="0"/>
              </a:spcAft>
              <a:defRPr sz="2000" b="1">
                <a:solidFill>
                  <a:srgbClr val="00708A"/>
                </a:solidFill>
                <a:latin typeface="Barlow"/>
              </a:defRPr>
            </a:pPr>
            <a:r>
              <a:t>People</a:t>
            </a:r>
          </a:p>
        </p:txBody>
      </p:sp>
      <p:sp>
        <p:nvSpPr>
          <p:cNvPr id="11" name="TextBox 10"/>
          <p:cNvSpPr txBox="1"/>
          <p:nvPr/>
        </p:nvSpPr>
        <p:spPr>
          <a:xfrm>
            <a:off x="777240" y="3063240"/>
            <a:ext cx="2560320" cy="581660"/>
          </a:xfrm>
          <a:prstGeom prst="rect">
            <a:avLst/>
          </a:prstGeom>
          <a:noFill/>
        </p:spPr>
        <p:txBody>
          <a:bodyPr wrap="none" lIns="0" tIns="0" rIns="0" bIns="0">
            <a:spAutoFit/>
          </a:bodyPr>
          <a:lstStyle/>
          <a:p>
            <a:pPr>
              <a:lnSpc>
                <a:spcPts val="2039"/>
              </a:lnSpc>
              <a:spcBef>
                <a:spcPts val="0"/>
              </a:spcBef>
              <a:spcAft>
                <a:spcPts val="0"/>
              </a:spcAft>
              <a:defRPr sz="1700" b="0">
                <a:solidFill>
                  <a:srgbClr val="0B3C4C"/>
                </a:solidFill>
                <a:latin typeface="Barlow"/>
              </a:defRPr>
            </a:pPr>
            <a:r>
              <a:t>Browser / PWA</a:t>
            </a:r>
          </a:p>
          <a:p>
            <a:pPr>
              <a:lnSpc>
                <a:spcPts val="2039"/>
              </a:lnSpc>
              <a:spcBef>
                <a:spcPts val="0"/>
              </a:spcBef>
              <a:spcAft>
                <a:spcPts val="0"/>
              </a:spcAft>
              <a:defRPr sz="1700" b="0">
                <a:solidFill>
                  <a:srgbClr val="0B3C4C"/>
                </a:solidFill>
                <a:latin typeface="Barlow"/>
              </a:defRPr>
            </a:pPr>
            <a:r>
              <a:t>Native iPhone app</a:t>
            </a:r>
          </a:p>
        </p:txBody>
      </p:sp>
      <p:sp>
        <p:nvSpPr>
          <p:cNvPr id="12" name="Rectangle 11"/>
          <p:cNvSpPr/>
          <p:nvPr/>
        </p:nvSpPr>
        <p:spPr>
          <a:xfrm>
            <a:off x="4572000" y="2377440"/>
            <a:ext cx="4754880" cy="1828800"/>
          </a:xfrm>
          <a:prstGeom prst="rect">
            <a:avLst/>
          </a:prstGeom>
          <a:solidFill>
            <a:srgbClr val="0070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54880" y="2578608"/>
            <a:ext cx="4389120" cy="368300"/>
          </a:xfrm>
          <a:prstGeom prst="rect">
            <a:avLst/>
          </a:prstGeom>
          <a:noFill/>
        </p:spPr>
        <p:txBody>
          <a:bodyPr wrap="none" lIns="0" tIns="0" rIns="0" bIns="0">
            <a:spAutoFit/>
          </a:bodyPr>
          <a:lstStyle/>
          <a:p>
            <a:pPr>
              <a:lnSpc>
                <a:spcPts val="2400"/>
              </a:lnSpc>
              <a:spcBef>
                <a:spcPts val="0"/>
              </a:spcBef>
              <a:spcAft>
                <a:spcPts val="0"/>
              </a:spcAft>
              <a:defRPr sz="2000" b="1">
                <a:solidFill>
                  <a:srgbClr val="FFFFFF"/>
                </a:solidFill>
                <a:latin typeface="Barlow"/>
              </a:defRPr>
            </a:pPr>
            <a:r>
              <a:t>ServiceOps application</a:t>
            </a:r>
          </a:p>
        </p:txBody>
      </p:sp>
      <p:sp>
        <p:nvSpPr>
          <p:cNvPr id="14" name="TextBox 13"/>
          <p:cNvSpPr txBox="1"/>
          <p:nvPr/>
        </p:nvSpPr>
        <p:spPr>
          <a:xfrm>
            <a:off x="4754880" y="3063240"/>
            <a:ext cx="2648161" cy="512961"/>
          </a:xfrm>
          <a:prstGeom prst="rect">
            <a:avLst/>
          </a:prstGeom>
          <a:noFill/>
        </p:spPr>
        <p:txBody>
          <a:bodyPr wrap="none" lIns="0" tIns="0" rIns="0" bIns="0">
            <a:spAutoFit/>
          </a:bodyPr>
          <a:lstStyle/>
          <a:p>
            <a:pPr>
              <a:lnSpc>
                <a:spcPts val="2039"/>
              </a:lnSpc>
              <a:spcBef>
                <a:spcPts val="0"/>
              </a:spcBef>
              <a:spcAft>
                <a:spcPts val="0"/>
              </a:spcAft>
              <a:defRPr sz="1700" b="0">
                <a:solidFill>
                  <a:srgbClr val="FFFFFF"/>
                </a:solidFill>
                <a:latin typeface="Barlow"/>
              </a:defRPr>
            </a:pPr>
            <a:r>
              <a:rPr lang="en-US"/>
              <a:t>Changes, devices, decisions
and delivery workflows</a:t>
            </a:r>
            <a:endParaRPr/>
          </a:p>
        </p:txBody>
      </p:sp>
      <p:sp>
        <p:nvSpPr>
          <p:cNvPr id="15" name="Rectangle 14"/>
          <p:cNvSpPr/>
          <p:nvPr/>
        </p:nvSpPr>
        <p:spPr>
          <a:xfrm>
            <a:off x="10378440" y="2377440"/>
            <a:ext cx="3657600" cy="1828800"/>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561319" y="2578608"/>
            <a:ext cx="3291840" cy="368300"/>
          </a:xfrm>
          <a:prstGeom prst="rect">
            <a:avLst/>
          </a:prstGeom>
          <a:noFill/>
        </p:spPr>
        <p:txBody>
          <a:bodyPr wrap="none" lIns="0" tIns="0" rIns="0" bIns="0">
            <a:spAutoFit/>
          </a:bodyPr>
          <a:lstStyle/>
          <a:p>
            <a:pPr>
              <a:lnSpc>
                <a:spcPts val="2400"/>
              </a:lnSpc>
              <a:spcBef>
                <a:spcPts val="0"/>
              </a:spcBef>
              <a:spcAft>
                <a:spcPts val="0"/>
              </a:spcAft>
              <a:defRPr sz="2000" b="1">
                <a:solidFill>
                  <a:srgbClr val="00708A"/>
                </a:solidFill>
                <a:latin typeface="Barlow"/>
              </a:defRPr>
            </a:pPr>
            <a:r>
              <a:t>Configured connections</a:t>
            </a:r>
          </a:p>
        </p:txBody>
      </p:sp>
      <p:sp>
        <p:nvSpPr>
          <p:cNvPr id="17" name="TextBox 16"/>
          <p:cNvSpPr txBox="1"/>
          <p:nvPr/>
        </p:nvSpPr>
        <p:spPr>
          <a:xfrm>
            <a:off x="10561319" y="3063240"/>
            <a:ext cx="3291840" cy="581660"/>
          </a:xfrm>
          <a:prstGeom prst="rect">
            <a:avLst/>
          </a:prstGeom>
          <a:noFill/>
        </p:spPr>
        <p:txBody>
          <a:bodyPr wrap="none" lIns="0" tIns="0" rIns="0" bIns="0">
            <a:spAutoFit/>
          </a:bodyPr>
          <a:lstStyle/>
          <a:p>
            <a:pPr>
              <a:lnSpc>
                <a:spcPts val="2039"/>
              </a:lnSpc>
              <a:spcBef>
                <a:spcPts val="0"/>
              </a:spcBef>
              <a:spcAft>
                <a:spcPts val="0"/>
              </a:spcAft>
              <a:defRPr sz="1700" b="0">
                <a:solidFill>
                  <a:srgbClr val="0B3C4C"/>
                </a:solidFill>
                <a:latin typeface="Barlow"/>
              </a:defRPr>
            </a:pPr>
            <a:r>
              <a:t>Identity, notifications,</a:t>
            </a:r>
          </a:p>
          <a:p>
            <a:pPr>
              <a:lnSpc>
                <a:spcPts val="2039"/>
              </a:lnSpc>
              <a:spcBef>
                <a:spcPts val="0"/>
              </a:spcBef>
              <a:spcAft>
                <a:spcPts val="0"/>
              </a:spcAft>
              <a:defRPr sz="1700" b="0">
                <a:solidFill>
                  <a:srgbClr val="0B3C4C"/>
                </a:solidFill>
                <a:latin typeface="Barlow"/>
              </a:defRPr>
            </a:pPr>
            <a:r>
              <a:t>NetBox and optional AI</a:t>
            </a:r>
          </a:p>
        </p:txBody>
      </p:sp>
      <p:sp>
        <p:nvSpPr>
          <p:cNvPr id="18" name="Rectangle 17"/>
          <p:cNvSpPr/>
          <p:nvPr/>
        </p:nvSpPr>
        <p:spPr>
          <a:xfrm>
            <a:off x="4572000" y="4892040"/>
            <a:ext cx="2240280" cy="1417320"/>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754880" y="5093207"/>
            <a:ext cx="1874520" cy="368300"/>
          </a:xfrm>
          <a:prstGeom prst="rect">
            <a:avLst/>
          </a:prstGeom>
          <a:noFill/>
        </p:spPr>
        <p:txBody>
          <a:bodyPr wrap="none" lIns="0" tIns="0" rIns="0" bIns="0">
            <a:spAutoFit/>
          </a:bodyPr>
          <a:lstStyle/>
          <a:p>
            <a:pPr>
              <a:lnSpc>
                <a:spcPts val="2400"/>
              </a:lnSpc>
              <a:spcBef>
                <a:spcPts val="0"/>
              </a:spcBef>
              <a:spcAft>
                <a:spcPts val="0"/>
              </a:spcAft>
              <a:defRPr sz="2000" b="1">
                <a:solidFill>
                  <a:srgbClr val="00708A"/>
                </a:solidFill>
                <a:latin typeface="Barlow"/>
              </a:defRPr>
            </a:pPr>
            <a:r>
              <a:t>Workers</a:t>
            </a:r>
          </a:p>
        </p:txBody>
      </p:sp>
      <p:sp>
        <p:nvSpPr>
          <p:cNvPr id="20" name="TextBox 19"/>
          <p:cNvSpPr txBox="1"/>
          <p:nvPr/>
        </p:nvSpPr>
        <p:spPr>
          <a:xfrm>
            <a:off x="4754880" y="5577840"/>
            <a:ext cx="1874520" cy="581660"/>
          </a:xfrm>
          <a:prstGeom prst="rect">
            <a:avLst/>
          </a:prstGeom>
          <a:noFill/>
        </p:spPr>
        <p:txBody>
          <a:bodyPr wrap="none" lIns="0" tIns="0" rIns="0" bIns="0">
            <a:spAutoFit/>
          </a:bodyPr>
          <a:lstStyle/>
          <a:p>
            <a:pPr>
              <a:lnSpc>
                <a:spcPts val="2039"/>
              </a:lnSpc>
              <a:spcBef>
                <a:spcPts val="0"/>
              </a:spcBef>
              <a:spcAft>
                <a:spcPts val="0"/>
              </a:spcAft>
              <a:defRPr sz="1700" b="0">
                <a:solidFill>
                  <a:srgbClr val="0B3C4C"/>
                </a:solidFill>
                <a:latin typeface="Barlow"/>
              </a:defRPr>
            </a:pPr>
            <a:r>
              <a:t>Background</a:t>
            </a:r>
          </a:p>
          <a:p>
            <a:pPr>
              <a:lnSpc>
                <a:spcPts val="2039"/>
              </a:lnSpc>
              <a:spcBef>
                <a:spcPts val="0"/>
              </a:spcBef>
              <a:spcAft>
                <a:spcPts val="0"/>
              </a:spcAft>
              <a:defRPr sz="1700" b="0">
                <a:solidFill>
                  <a:srgbClr val="0B3C4C"/>
                </a:solidFill>
                <a:latin typeface="Barlow"/>
              </a:defRPr>
            </a:pPr>
            <a:r>
              <a:t>processing</a:t>
            </a:r>
          </a:p>
        </p:txBody>
      </p:sp>
      <p:sp>
        <p:nvSpPr>
          <p:cNvPr id="21" name="Rectangle 20"/>
          <p:cNvSpPr/>
          <p:nvPr/>
        </p:nvSpPr>
        <p:spPr>
          <a:xfrm>
            <a:off x="7040880" y="4892040"/>
            <a:ext cx="2286000" cy="1417320"/>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223760" y="5093207"/>
            <a:ext cx="1920240" cy="368300"/>
          </a:xfrm>
          <a:prstGeom prst="rect">
            <a:avLst/>
          </a:prstGeom>
          <a:noFill/>
        </p:spPr>
        <p:txBody>
          <a:bodyPr wrap="none" lIns="0" tIns="0" rIns="0" bIns="0">
            <a:spAutoFit/>
          </a:bodyPr>
          <a:lstStyle/>
          <a:p>
            <a:pPr>
              <a:lnSpc>
                <a:spcPts val="2400"/>
              </a:lnSpc>
              <a:spcBef>
                <a:spcPts val="0"/>
              </a:spcBef>
              <a:spcAft>
                <a:spcPts val="0"/>
              </a:spcAft>
              <a:defRPr sz="2000" b="1">
                <a:solidFill>
                  <a:srgbClr val="00708A"/>
                </a:solidFill>
                <a:latin typeface="Barlow"/>
              </a:defRPr>
            </a:pPr>
            <a:r>
              <a:t>PostgreSQL</a:t>
            </a:r>
          </a:p>
        </p:txBody>
      </p:sp>
      <p:sp>
        <p:nvSpPr>
          <p:cNvPr id="23" name="TextBox 22"/>
          <p:cNvSpPr txBox="1"/>
          <p:nvPr/>
        </p:nvSpPr>
        <p:spPr>
          <a:xfrm>
            <a:off x="7223760" y="5577840"/>
            <a:ext cx="1920240" cy="581660"/>
          </a:xfrm>
          <a:prstGeom prst="rect">
            <a:avLst/>
          </a:prstGeom>
          <a:noFill/>
        </p:spPr>
        <p:txBody>
          <a:bodyPr wrap="none" lIns="0" tIns="0" rIns="0" bIns="0">
            <a:spAutoFit/>
          </a:bodyPr>
          <a:lstStyle/>
          <a:p>
            <a:pPr>
              <a:lnSpc>
                <a:spcPts val="2039"/>
              </a:lnSpc>
              <a:spcBef>
                <a:spcPts val="0"/>
              </a:spcBef>
              <a:spcAft>
                <a:spcPts val="0"/>
              </a:spcAft>
              <a:defRPr sz="1700" b="0">
                <a:solidFill>
                  <a:srgbClr val="0B3C4C"/>
                </a:solidFill>
                <a:latin typeface="Barlow"/>
              </a:defRPr>
            </a:pPr>
            <a:r>
              <a:t>Shared service</a:t>
            </a:r>
          </a:p>
          <a:p>
            <a:pPr>
              <a:lnSpc>
                <a:spcPts val="2039"/>
              </a:lnSpc>
              <a:spcBef>
                <a:spcPts val="0"/>
              </a:spcBef>
              <a:spcAft>
                <a:spcPts val="0"/>
              </a:spcAft>
              <a:defRPr sz="1700" b="0">
                <a:solidFill>
                  <a:srgbClr val="0B3C4C"/>
                </a:solidFill>
                <a:latin typeface="Barlow"/>
              </a:defRPr>
            </a:pPr>
            <a:r>
              <a:t>records</a:t>
            </a:r>
          </a:p>
        </p:txBody>
      </p:sp>
      <p:sp>
        <p:nvSpPr>
          <p:cNvPr id="24" name="Rectangle 23"/>
          <p:cNvSpPr/>
          <p:nvPr/>
        </p:nvSpPr>
        <p:spPr>
          <a:xfrm>
            <a:off x="10378440" y="4892040"/>
            <a:ext cx="3657600" cy="1417320"/>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561319" y="5093207"/>
            <a:ext cx="3291840" cy="368300"/>
          </a:xfrm>
          <a:prstGeom prst="rect">
            <a:avLst/>
          </a:prstGeom>
          <a:noFill/>
        </p:spPr>
        <p:txBody>
          <a:bodyPr wrap="none" lIns="0" tIns="0" rIns="0" bIns="0">
            <a:spAutoFit/>
          </a:bodyPr>
          <a:lstStyle/>
          <a:p>
            <a:pPr>
              <a:lnSpc>
                <a:spcPts val="2400"/>
              </a:lnSpc>
              <a:spcBef>
                <a:spcPts val="0"/>
              </a:spcBef>
              <a:spcAft>
                <a:spcPts val="0"/>
              </a:spcAft>
              <a:defRPr sz="2000" b="1">
                <a:solidFill>
                  <a:srgbClr val="00708A"/>
                </a:solidFill>
                <a:latin typeface="Barlow"/>
              </a:defRPr>
            </a:pPr>
            <a:r>
              <a:t>Managed uploads</a:t>
            </a:r>
          </a:p>
        </p:txBody>
      </p:sp>
      <p:sp>
        <p:nvSpPr>
          <p:cNvPr id="26" name="TextBox 25"/>
          <p:cNvSpPr txBox="1"/>
          <p:nvPr/>
        </p:nvSpPr>
        <p:spPr>
          <a:xfrm>
            <a:off x="10561319" y="5577840"/>
            <a:ext cx="3291840" cy="322579"/>
          </a:xfrm>
          <a:prstGeom prst="rect">
            <a:avLst/>
          </a:prstGeom>
          <a:noFill/>
        </p:spPr>
        <p:txBody>
          <a:bodyPr wrap="none" lIns="0" tIns="0" rIns="0" bIns="0">
            <a:spAutoFit/>
          </a:bodyPr>
          <a:lstStyle/>
          <a:p>
            <a:pPr>
              <a:lnSpc>
                <a:spcPts val="2039"/>
              </a:lnSpc>
              <a:spcBef>
                <a:spcPts val="0"/>
              </a:spcBef>
              <a:spcAft>
                <a:spcPts val="0"/>
              </a:spcAft>
              <a:defRPr sz="1700" b="0">
                <a:solidFill>
                  <a:srgbClr val="0B3C4C"/>
                </a:solidFill>
                <a:latin typeface="Barlow"/>
              </a:defRPr>
            </a:pPr>
            <a:r>
              <a:t>Persistent file storage</a:t>
            </a:r>
          </a:p>
        </p:txBody>
      </p:sp>
      <p:sp>
        <p:nvSpPr>
          <p:cNvPr id="27" name="Rectangle 26"/>
          <p:cNvSpPr/>
          <p:nvPr/>
        </p:nvSpPr>
        <p:spPr>
          <a:xfrm>
            <a:off x="3520440" y="3246120"/>
            <a:ext cx="1051560" cy="36576"/>
          </a:xfrm>
          <a:prstGeom prst="rect">
            <a:avLst/>
          </a:prstGeom>
          <a:solidFill>
            <a:srgbClr val="0070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326880" y="3246120"/>
            <a:ext cx="1051560" cy="36576"/>
          </a:xfrm>
          <a:prstGeom prst="rect">
            <a:avLst/>
          </a:prstGeom>
          <a:solidFill>
            <a:srgbClr val="0070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596128" y="4206240"/>
            <a:ext cx="32004" cy="685800"/>
          </a:xfrm>
          <a:prstGeom prst="rect">
            <a:avLst/>
          </a:prstGeom>
          <a:solidFill>
            <a:srgbClr val="0070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8046720" y="4206240"/>
            <a:ext cx="32004" cy="685800"/>
          </a:xfrm>
          <a:prstGeom prst="rect">
            <a:avLst/>
          </a:prstGeom>
          <a:solidFill>
            <a:srgbClr val="0070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326880" y="5577840"/>
            <a:ext cx="1051560" cy="32004"/>
          </a:xfrm>
          <a:prstGeom prst="rect">
            <a:avLst/>
          </a:prstGeom>
          <a:solidFill>
            <a:srgbClr val="0070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94360" y="6995160"/>
            <a:ext cx="10331354" cy="384721"/>
          </a:xfrm>
          <a:prstGeom prst="rect">
            <a:avLst/>
          </a:prstGeom>
          <a:noFill/>
        </p:spPr>
        <p:txBody>
          <a:bodyPr wrap="none" lIns="0" tIns="0" rIns="0" bIns="0">
            <a:spAutoFit/>
          </a:bodyPr>
          <a:lstStyle/>
          <a:p>
            <a:pPr>
              <a:lnSpc>
                <a:spcPts val="3000"/>
              </a:lnSpc>
              <a:spcBef>
                <a:spcPts val="0"/>
              </a:spcBef>
              <a:spcAft>
                <a:spcPts val="0"/>
              </a:spcAft>
              <a:defRPr sz="2500" b="1">
                <a:solidFill>
                  <a:srgbClr val="B35F00"/>
                </a:solidFill>
                <a:latin typeface="Barlow"/>
              </a:defRPr>
            </a:pPr>
            <a:r>
              <a:rPr lang="en-US"/>
              <a:t>Keep teams connected while controlling infrastructure, access and data.</a:t>
            </a:r>
            <a:endParaRPr/>
          </a:p>
        </p:txBody>
      </p:sp>
      <p:sp>
        <p:nvSpPr>
          <p:cNvPr id="901" name="JNX Rule"/>
          <p:cNvSpPr/>
          <p:nvPr/>
        </p:nvSpPr>
        <p:spPr>
          <a:xfrm>
            <a:off x="508000" y="1016000"/>
            <a:ext cx="13627100" cy="19050"/>
          </a:xfrm>
          <a:prstGeom prst="rect">
            <a:avLst/>
          </a:prstGeom>
          <a:solidFill>
            <a:srgbClr val="0B3C4C"/>
          </a:solidFill>
          <a:ln>
            <a:noFill/>
          </a:ln>
        </p:spPr>
        <p:txBody>
          <a:bodyPr/>
          <a:lstStyle/>
          <a:p>
            <a:endParaRPr lang="en-JP"/>
          </a:p>
        </p:txBody>
      </p:sp>
      <p:pic>
        <p:nvPicPr>
          <p:cNvPr id="902" name="Copied Picture 902" descr="Japannext JNX logo">
            <a:extLst>
              <a:ext uri="{FF2B5EF4-FFF2-40B4-BE49-F238E27FC236}">
                <a16:creationId xmlns:a16="http://schemas.microsoft.com/office/drawing/2014/main" id="{429122C2-2B95-92FB-9A5C-2E92C9458AAC}"/>
              </a:ext>
            </a:extLst>
          </p:cNvPr>
          <p:cNvPicPr>
            <a:picLocks noChangeAspect="1"/>
          </p:cNvPicPr>
          <p:nvPr/>
        </p:nvPicPr>
        <p:blipFill>
          <a:blip r:embed="rId3">
            <a:clrChange>
              <a:clrFrom>
                <a:srgbClr val="FFFFFF"/>
              </a:clrFrom>
              <a:clrTo>
                <a:srgbClr val="FFFFFF">
                  <a:alpha val="0"/>
                </a:srgbClr>
              </a:clrTo>
            </a:clrChange>
          </a:blip>
          <a:srcRect l="13500" t="21500" r="13800" b="22500"/>
          <a:stretch>
            <a:fillRect/>
          </a:stretch>
        </p:blipFill>
        <p:spPr>
          <a:xfrm>
            <a:off x="12725400" y="254000"/>
            <a:ext cx="1409700" cy="660400"/>
          </a:xfrm>
          <a:prstGeom prst="rect">
            <a:avLst/>
          </a:prstGeom>
        </p:spPr>
      </p:pic>
    </p:spTree>
    <p:extLst>
      <p:ext uri="{BB962C8B-B14F-4D97-AF65-F5344CB8AC3E}">
        <p14:creationId xmlns:p14="http://schemas.microsoft.com/office/powerpoint/2010/main" val="20408539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1244600"/>
            <a:ext cx="1143000" cy="254000"/>
          </a:xfrm>
          <a:prstGeom prst="rect">
            <a:avLst/>
          </a:prstGeom>
          <a:noFill/>
        </p:spPr>
        <p:txBody>
          <a:bodyPr wrap="none" lIns="0" tIns="0" rIns="0" bIns="0">
            <a:spAutoFit/>
          </a:bodyPr>
          <a:lstStyle/>
          <a:p>
            <a:pPr>
              <a:lnSpc>
                <a:spcPts val="1439"/>
              </a:lnSpc>
              <a:spcBef>
                <a:spcPts val="0"/>
              </a:spcBef>
              <a:spcAft>
                <a:spcPts val="0"/>
              </a:spcAft>
              <a:defRPr sz="1200" b="1">
                <a:solidFill>
                  <a:srgbClr val="00708A"/>
                </a:solidFill>
                <a:latin typeface="Barlow"/>
              </a:defRPr>
            </a:pPr>
            <a:r>
              <a:t>SERVICEOPS</a:t>
            </a:r>
          </a:p>
        </p:txBody>
      </p:sp>
      <p:sp>
        <p:nvSpPr>
          <p:cNvPr id="4" name="TextBox 3"/>
          <p:cNvSpPr txBox="1"/>
          <p:nvPr/>
        </p:nvSpPr>
        <p:spPr>
          <a:xfrm>
            <a:off x="1625600" y="1244600"/>
            <a:ext cx="2442976" cy="179536"/>
          </a:xfrm>
          <a:prstGeom prst="rect">
            <a:avLst/>
          </a:prstGeom>
          <a:noFill/>
        </p:spPr>
        <p:txBody>
          <a:bodyPr wrap="none" lIns="0" tIns="0" rIns="0" bIns="0">
            <a:spAutoFit/>
          </a:bodyPr>
          <a:lstStyle/>
          <a:p>
            <a:pPr>
              <a:lnSpc>
                <a:spcPts val="1439"/>
              </a:lnSpc>
              <a:spcBef>
                <a:spcPts val="0"/>
              </a:spcBef>
              <a:spcAft>
                <a:spcPts val="0"/>
              </a:spcAft>
              <a:defRPr sz="1200" b="1">
                <a:solidFill>
                  <a:srgbClr val="4F6670"/>
                </a:solidFill>
                <a:latin typeface="Barlow"/>
              </a:defRPr>
            </a:pPr>
            <a:r>
              <a:rPr lang="en-US"/>
              <a:t>DEFINE SUCCESS BEFORE ROLLOUT</a:t>
            </a:r>
            <a:endParaRPr/>
          </a:p>
        </p:txBody>
      </p:sp>
      <p:sp>
        <p:nvSpPr>
          <p:cNvPr id="5" name="TextBox 4"/>
          <p:cNvSpPr txBox="1"/>
          <p:nvPr/>
        </p:nvSpPr>
        <p:spPr>
          <a:xfrm>
            <a:off x="508000" y="304800"/>
            <a:ext cx="7979749" cy="412934"/>
          </a:xfrm>
          <a:prstGeom prst="rect">
            <a:avLst/>
          </a:prstGeom>
          <a:noFill/>
        </p:spPr>
        <p:txBody>
          <a:bodyPr wrap="none" lIns="0" tIns="0" rIns="0" bIns="0">
            <a:spAutoFit/>
          </a:bodyPr>
          <a:lstStyle/>
          <a:p>
            <a:pPr>
              <a:lnSpc>
                <a:spcPts val="3600"/>
              </a:lnSpc>
              <a:spcBef>
                <a:spcPts val="0"/>
              </a:spcBef>
              <a:spcAft>
                <a:spcPts val="0"/>
              </a:spcAft>
              <a:defRPr sz="2600" b="1">
                <a:solidFill>
                  <a:srgbClr val="0B3C4C"/>
                </a:solidFill>
                <a:latin typeface="Barlow"/>
              </a:defRPr>
            </a:pPr>
            <a:r>
              <a:rPr lang="en-US"/>
              <a:t>Judge ServiceOps by coordination—not ticket volume.</a:t>
            </a:r>
            <a:endParaRPr/>
          </a:p>
        </p:txBody>
      </p:sp>
      <p:sp>
        <p:nvSpPr>
          <p:cNvPr id="6" name="Rectangle 5"/>
          <p:cNvSpPr/>
          <p:nvPr/>
        </p:nvSpPr>
        <p:spPr>
          <a:xfrm>
            <a:off x="502920" y="7790688"/>
            <a:ext cx="13624560" cy="10972"/>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7918704"/>
            <a:ext cx="10972800" cy="215900"/>
          </a:xfrm>
          <a:prstGeom prst="rect">
            <a:avLst/>
          </a:prstGeom>
          <a:noFill/>
        </p:spPr>
        <p:txBody>
          <a:bodyPr wrap="none" lIns="0" tIns="0" rIns="0" bIns="0">
            <a:spAutoFit/>
          </a:bodyPr>
          <a:lstStyle/>
          <a:p>
            <a:pPr>
              <a:lnSpc>
                <a:spcPts val="1200"/>
              </a:lnSpc>
              <a:spcBef>
                <a:spcPts val="0"/>
              </a:spcBef>
              <a:spcAft>
                <a:spcPts val="0"/>
              </a:spcAft>
              <a:defRPr sz="1000" b="0">
                <a:solidFill>
                  <a:srgbClr val="4F6670"/>
                </a:solidFill>
                <a:latin typeface="Barlow"/>
              </a:defRPr>
            </a:pPr>
            <a:r>
              <a:t>Anushka Wijesundara / Product overview / October 2026</a:t>
            </a:r>
          </a:p>
        </p:txBody>
      </p:sp>
      <p:sp>
        <p:nvSpPr>
          <p:cNvPr id="8" name="TextBox 7"/>
          <p:cNvSpPr txBox="1"/>
          <p:nvPr/>
        </p:nvSpPr>
        <p:spPr>
          <a:xfrm>
            <a:off x="11976100" y="7918704"/>
            <a:ext cx="2159000" cy="215900"/>
          </a:xfrm>
          <a:prstGeom prst="rect">
            <a:avLst/>
          </a:prstGeom>
          <a:noFill/>
        </p:spPr>
        <p:txBody>
          <a:bodyPr wrap="none" lIns="0" tIns="0" rIns="0" bIns="0">
            <a:spAutoFit/>
          </a:bodyPr>
          <a:lstStyle/>
          <a:p>
            <a:pPr algn="r">
              <a:lnSpc>
                <a:spcPts val="1200"/>
              </a:lnSpc>
              <a:spcBef>
                <a:spcPts val="0"/>
              </a:spcBef>
              <a:spcAft>
                <a:spcPts val="0"/>
              </a:spcAft>
              <a:defRPr sz="1000" b="1">
                <a:solidFill>
                  <a:srgbClr val="00708A"/>
                </a:solidFill>
                <a:latin typeface="Barlow"/>
              </a:defRPr>
            </a:pPr>
            <a:r>
              <a:t>15</a:t>
            </a:r>
          </a:p>
        </p:txBody>
      </p:sp>
      <p:sp>
        <p:nvSpPr>
          <p:cNvPr id="9" name="Rectangle 8"/>
          <p:cNvSpPr/>
          <p:nvPr/>
        </p:nvSpPr>
        <p:spPr>
          <a:xfrm>
            <a:off x="594360" y="2423160"/>
            <a:ext cx="4251960" cy="3063240"/>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2651760"/>
            <a:ext cx="3657600" cy="429259"/>
          </a:xfrm>
          <a:prstGeom prst="rect">
            <a:avLst/>
          </a:prstGeom>
          <a:noFill/>
        </p:spPr>
        <p:txBody>
          <a:bodyPr wrap="none" lIns="0" tIns="0" rIns="0" bIns="0">
            <a:spAutoFit/>
          </a:bodyPr>
          <a:lstStyle/>
          <a:p>
            <a:pPr>
              <a:lnSpc>
                <a:spcPts val="2879"/>
              </a:lnSpc>
              <a:spcBef>
                <a:spcPts val="0"/>
              </a:spcBef>
              <a:spcAft>
                <a:spcPts val="0"/>
              </a:spcAft>
              <a:defRPr sz="2400" b="1">
                <a:solidFill>
                  <a:srgbClr val="00708A"/>
                </a:solidFill>
                <a:latin typeface="Barlow"/>
              </a:defRPr>
            </a:pPr>
            <a:r>
              <a:t>01</a:t>
            </a:r>
          </a:p>
        </p:txBody>
      </p:sp>
      <p:sp>
        <p:nvSpPr>
          <p:cNvPr id="11" name="TextBox 10"/>
          <p:cNvSpPr txBox="1"/>
          <p:nvPr/>
        </p:nvSpPr>
        <p:spPr>
          <a:xfrm>
            <a:off x="822960" y="3273552"/>
            <a:ext cx="2534348" cy="384721"/>
          </a:xfrm>
          <a:prstGeom prst="rect">
            <a:avLst/>
          </a:prstGeom>
          <a:noFill/>
        </p:spPr>
        <p:txBody>
          <a:bodyPr wrap="none" lIns="0" tIns="0" rIns="0" bIns="0">
            <a:spAutoFit/>
          </a:bodyPr>
          <a:lstStyle/>
          <a:p>
            <a:pPr>
              <a:lnSpc>
                <a:spcPts val="3000"/>
              </a:lnSpc>
              <a:spcBef>
                <a:spcPts val="0"/>
              </a:spcBef>
              <a:spcAft>
                <a:spcPts val="0"/>
              </a:spcAft>
              <a:defRPr sz="2500" b="1">
                <a:solidFill>
                  <a:srgbClr val="0B3C4C"/>
                </a:solidFill>
                <a:latin typeface="Barlow"/>
              </a:defRPr>
            </a:pPr>
            <a:r>
              <a:rPr lang="en-US"/>
              <a:t>Catch the conflict</a:t>
            </a:r>
            <a:endParaRPr/>
          </a:p>
        </p:txBody>
      </p:sp>
      <p:sp>
        <p:nvSpPr>
          <p:cNvPr id="12" name="TextBox 11"/>
          <p:cNvSpPr txBox="1"/>
          <p:nvPr/>
        </p:nvSpPr>
        <p:spPr>
          <a:xfrm>
            <a:off x="822960" y="4114800"/>
            <a:ext cx="3135474" cy="641201"/>
          </a:xfrm>
          <a:prstGeom prst="rect">
            <a:avLst/>
          </a:prstGeom>
          <a:noFill/>
        </p:spPr>
        <p:txBody>
          <a:bodyPr wrap="none" lIns="0" tIns="0" rIns="0" bIns="0">
            <a:spAutoFit/>
          </a:bodyPr>
          <a:lstStyle/>
          <a:p>
            <a:pPr>
              <a:lnSpc>
                <a:spcPts val="2520"/>
              </a:lnSpc>
              <a:spcBef>
                <a:spcPts val="0"/>
              </a:spcBef>
              <a:spcAft>
                <a:spcPts val="0"/>
              </a:spcAft>
              <a:defRPr sz="2100" b="0">
                <a:solidFill>
                  <a:srgbClr val="4F6670"/>
                </a:solidFill>
                <a:latin typeface="Barlow"/>
              </a:defRPr>
            </a:pPr>
            <a:r>
              <a:rPr lang="en-US"/>
              <a:t>Surface linked work before
the maintenance window.</a:t>
            </a:r>
            <a:endParaRPr/>
          </a:p>
        </p:txBody>
      </p:sp>
      <p:sp>
        <p:nvSpPr>
          <p:cNvPr id="13" name="Rectangle 12"/>
          <p:cNvSpPr/>
          <p:nvPr/>
        </p:nvSpPr>
        <p:spPr>
          <a:xfrm>
            <a:off x="5212080" y="2423160"/>
            <a:ext cx="4251960" cy="3063240"/>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40680" y="2651760"/>
            <a:ext cx="3657600" cy="429259"/>
          </a:xfrm>
          <a:prstGeom prst="rect">
            <a:avLst/>
          </a:prstGeom>
          <a:noFill/>
        </p:spPr>
        <p:txBody>
          <a:bodyPr wrap="none" lIns="0" tIns="0" rIns="0" bIns="0">
            <a:spAutoFit/>
          </a:bodyPr>
          <a:lstStyle/>
          <a:p>
            <a:pPr>
              <a:lnSpc>
                <a:spcPts val="2879"/>
              </a:lnSpc>
              <a:spcBef>
                <a:spcPts val="0"/>
              </a:spcBef>
              <a:spcAft>
                <a:spcPts val="0"/>
              </a:spcAft>
              <a:defRPr sz="2400" b="1">
                <a:solidFill>
                  <a:srgbClr val="00708A"/>
                </a:solidFill>
                <a:latin typeface="Barlow"/>
              </a:defRPr>
            </a:pPr>
            <a:r>
              <a:t>02</a:t>
            </a:r>
          </a:p>
        </p:txBody>
      </p:sp>
      <p:sp>
        <p:nvSpPr>
          <p:cNvPr id="15" name="TextBox 14"/>
          <p:cNvSpPr txBox="1"/>
          <p:nvPr/>
        </p:nvSpPr>
        <p:spPr>
          <a:xfrm>
            <a:off x="5440680" y="3273552"/>
            <a:ext cx="3087384" cy="384721"/>
          </a:xfrm>
          <a:prstGeom prst="rect">
            <a:avLst/>
          </a:prstGeom>
          <a:noFill/>
        </p:spPr>
        <p:txBody>
          <a:bodyPr wrap="none" lIns="0" tIns="0" rIns="0" bIns="0">
            <a:spAutoFit/>
          </a:bodyPr>
          <a:lstStyle/>
          <a:p>
            <a:pPr>
              <a:lnSpc>
                <a:spcPts val="3000"/>
              </a:lnSpc>
              <a:spcBef>
                <a:spcPts val="0"/>
              </a:spcBef>
              <a:spcAft>
                <a:spcPts val="0"/>
              </a:spcAft>
              <a:defRPr sz="2500" b="1">
                <a:solidFill>
                  <a:srgbClr val="0B3C4C"/>
                </a:solidFill>
                <a:latin typeface="Barlow"/>
              </a:defRPr>
            </a:pPr>
            <a:r>
              <a:rPr lang="en-US"/>
              <a:t>Confirm the handover</a:t>
            </a:r>
            <a:endParaRPr/>
          </a:p>
        </p:txBody>
      </p:sp>
      <p:sp>
        <p:nvSpPr>
          <p:cNvPr id="16" name="TextBox 15"/>
          <p:cNvSpPr txBox="1"/>
          <p:nvPr/>
        </p:nvSpPr>
        <p:spPr>
          <a:xfrm>
            <a:off x="5440680" y="4114800"/>
            <a:ext cx="3063339" cy="641201"/>
          </a:xfrm>
          <a:prstGeom prst="rect">
            <a:avLst/>
          </a:prstGeom>
          <a:noFill/>
        </p:spPr>
        <p:txBody>
          <a:bodyPr wrap="none" lIns="0" tIns="0" rIns="0" bIns="0">
            <a:spAutoFit/>
          </a:bodyPr>
          <a:lstStyle/>
          <a:p>
            <a:pPr>
              <a:lnSpc>
                <a:spcPts val="2520"/>
              </a:lnSpc>
              <a:spcBef>
                <a:spcPts val="0"/>
              </a:spcBef>
              <a:spcAft>
                <a:spcPts val="0"/>
              </a:spcAft>
              <a:defRPr sz="2100" b="0">
                <a:solidFill>
                  <a:srgbClr val="4F6670"/>
                </a:solidFill>
                <a:latin typeface="Barlow"/>
              </a:defRPr>
            </a:pPr>
            <a:r>
              <a:rPr lang="en-US"/>
              <a:t>Give each team the scope,
owner and next action.</a:t>
            </a:r>
            <a:endParaRPr/>
          </a:p>
        </p:txBody>
      </p:sp>
      <p:sp>
        <p:nvSpPr>
          <p:cNvPr id="17" name="Rectangle 16"/>
          <p:cNvSpPr/>
          <p:nvPr/>
        </p:nvSpPr>
        <p:spPr>
          <a:xfrm>
            <a:off x="9829800" y="2423160"/>
            <a:ext cx="4251960" cy="3063240"/>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058400" y="2651760"/>
            <a:ext cx="3657600" cy="429259"/>
          </a:xfrm>
          <a:prstGeom prst="rect">
            <a:avLst/>
          </a:prstGeom>
          <a:noFill/>
        </p:spPr>
        <p:txBody>
          <a:bodyPr wrap="none" lIns="0" tIns="0" rIns="0" bIns="0">
            <a:spAutoFit/>
          </a:bodyPr>
          <a:lstStyle/>
          <a:p>
            <a:pPr>
              <a:lnSpc>
                <a:spcPts val="2879"/>
              </a:lnSpc>
              <a:spcBef>
                <a:spcPts val="0"/>
              </a:spcBef>
              <a:spcAft>
                <a:spcPts val="0"/>
              </a:spcAft>
              <a:defRPr sz="2400" b="1">
                <a:solidFill>
                  <a:srgbClr val="00708A"/>
                </a:solidFill>
                <a:latin typeface="Barlow"/>
              </a:defRPr>
            </a:pPr>
            <a:r>
              <a:t>03</a:t>
            </a:r>
          </a:p>
        </p:txBody>
      </p:sp>
      <p:sp>
        <p:nvSpPr>
          <p:cNvPr id="19" name="TextBox 18"/>
          <p:cNvSpPr txBox="1"/>
          <p:nvPr/>
        </p:nvSpPr>
        <p:spPr>
          <a:xfrm>
            <a:off x="10058400" y="3273552"/>
            <a:ext cx="2850139" cy="384721"/>
          </a:xfrm>
          <a:prstGeom prst="rect">
            <a:avLst/>
          </a:prstGeom>
          <a:noFill/>
        </p:spPr>
        <p:txBody>
          <a:bodyPr wrap="none" lIns="0" tIns="0" rIns="0" bIns="0">
            <a:spAutoFit/>
          </a:bodyPr>
          <a:lstStyle/>
          <a:p>
            <a:pPr>
              <a:lnSpc>
                <a:spcPts val="3000"/>
              </a:lnSpc>
              <a:spcBef>
                <a:spcPts val="0"/>
              </a:spcBef>
              <a:spcAft>
                <a:spcPts val="0"/>
              </a:spcAft>
              <a:defRPr sz="2500" b="1">
                <a:solidFill>
                  <a:srgbClr val="0B3C4C"/>
                </a:solidFill>
                <a:latin typeface="Barlow"/>
              </a:defRPr>
            </a:pPr>
            <a:r>
              <a:rPr lang="en-US"/>
              <a:t>Review the decision</a:t>
            </a:r>
            <a:endParaRPr/>
          </a:p>
        </p:txBody>
      </p:sp>
      <p:sp>
        <p:nvSpPr>
          <p:cNvPr id="20" name="TextBox 19"/>
          <p:cNvSpPr txBox="1"/>
          <p:nvPr/>
        </p:nvSpPr>
        <p:spPr>
          <a:xfrm>
            <a:off x="10058400" y="4114800"/>
            <a:ext cx="2795637" cy="641201"/>
          </a:xfrm>
          <a:prstGeom prst="rect">
            <a:avLst/>
          </a:prstGeom>
          <a:noFill/>
        </p:spPr>
        <p:txBody>
          <a:bodyPr wrap="none" lIns="0" tIns="0" rIns="0" bIns="0">
            <a:spAutoFit/>
          </a:bodyPr>
          <a:lstStyle/>
          <a:p>
            <a:pPr>
              <a:lnSpc>
                <a:spcPts val="2520"/>
              </a:lnSpc>
              <a:spcBef>
                <a:spcPts val="0"/>
              </a:spcBef>
              <a:spcAft>
                <a:spcPts val="0"/>
              </a:spcAft>
              <a:defRPr sz="2100" b="0">
                <a:solidFill>
                  <a:srgbClr val="4F6670"/>
                </a:solidFill>
                <a:latin typeface="Barlow"/>
              </a:defRPr>
            </a:pPr>
            <a:r>
              <a:rPr lang="en-US"/>
              <a:t>Trace approval, reasons
and recovery plans.</a:t>
            </a:r>
            <a:endParaRPr/>
          </a:p>
        </p:txBody>
      </p:sp>
      <p:sp>
        <p:nvSpPr>
          <p:cNvPr id="21" name="TextBox 20"/>
          <p:cNvSpPr txBox="1"/>
          <p:nvPr/>
        </p:nvSpPr>
        <p:spPr>
          <a:xfrm>
            <a:off x="594360" y="6172200"/>
            <a:ext cx="9754273" cy="538609"/>
          </a:xfrm>
          <a:prstGeom prst="rect">
            <a:avLst/>
          </a:prstGeom>
          <a:noFill/>
        </p:spPr>
        <p:txBody>
          <a:bodyPr wrap="none" lIns="0" tIns="0" rIns="0" bIns="0">
            <a:spAutoFit/>
          </a:bodyPr>
          <a:lstStyle/>
          <a:p>
            <a:pPr>
              <a:lnSpc>
                <a:spcPts val="4200"/>
              </a:lnSpc>
              <a:spcBef>
                <a:spcPts val="0"/>
              </a:spcBef>
              <a:spcAft>
                <a:spcPts val="0"/>
              </a:spcAft>
              <a:defRPr sz="3500" b="1">
                <a:solidFill>
                  <a:srgbClr val="B35F00"/>
                </a:solidFill>
                <a:latin typeface="Barlow"/>
              </a:defRPr>
            </a:pPr>
            <a:r>
              <a:rPr lang="en-US"/>
              <a:t>Catch conflicts early. Make every handover clear.</a:t>
            </a:r>
            <a:endParaRPr/>
          </a:p>
        </p:txBody>
      </p:sp>
      <p:sp>
        <p:nvSpPr>
          <p:cNvPr id="22" name="TextBox 21"/>
          <p:cNvSpPr txBox="1"/>
          <p:nvPr/>
        </p:nvSpPr>
        <p:spPr>
          <a:xfrm>
            <a:off x="594360" y="6995160"/>
            <a:ext cx="12801600" cy="368300"/>
          </a:xfrm>
          <a:prstGeom prst="rect">
            <a:avLst/>
          </a:prstGeom>
          <a:noFill/>
        </p:spPr>
        <p:txBody>
          <a:bodyPr wrap="none" lIns="0" tIns="0" rIns="0" bIns="0">
            <a:spAutoFit/>
          </a:bodyPr>
          <a:lstStyle/>
          <a:p>
            <a:pPr>
              <a:lnSpc>
                <a:spcPts val="2400"/>
              </a:lnSpc>
              <a:spcBef>
                <a:spcPts val="0"/>
              </a:spcBef>
              <a:spcAft>
                <a:spcPts val="0"/>
              </a:spcAft>
              <a:defRPr sz="2000" b="0">
                <a:solidFill>
                  <a:srgbClr val="4F6670"/>
                </a:solidFill>
                <a:latin typeface="Barlow"/>
              </a:defRPr>
            </a:pPr>
            <a:r>
              <a:t>Explore: github.com/awijesundara/ServiceOps</a:t>
            </a:r>
          </a:p>
        </p:txBody>
      </p:sp>
      <p:sp>
        <p:nvSpPr>
          <p:cNvPr id="901" name="JNX Rule"/>
          <p:cNvSpPr/>
          <p:nvPr/>
        </p:nvSpPr>
        <p:spPr>
          <a:xfrm>
            <a:off x="508000" y="1016000"/>
            <a:ext cx="13627100" cy="19050"/>
          </a:xfrm>
          <a:prstGeom prst="rect">
            <a:avLst/>
          </a:prstGeom>
          <a:solidFill>
            <a:srgbClr val="0B3C4C"/>
          </a:solidFill>
          <a:ln>
            <a:noFill/>
          </a:ln>
        </p:spPr>
        <p:txBody>
          <a:bodyPr/>
          <a:lstStyle/>
          <a:p>
            <a:endParaRPr lang="en-JP"/>
          </a:p>
        </p:txBody>
      </p:sp>
      <p:pic>
        <p:nvPicPr>
          <p:cNvPr id="902" name="Copied Picture 902" descr="Japannext JNX logo">
            <a:extLst>
              <a:ext uri="{FF2B5EF4-FFF2-40B4-BE49-F238E27FC236}">
                <a16:creationId xmlns:a16="http://schemas.microsoft.com/office/drawing/2014/main" id="{429122C2-2B95-92FB-9A5C-2E92C9458AAC}"/>
              </a:ext>
            </a:extLst>
          </p:cNvPr>
          <p:cNvPicPr>
            <a:picLocks noChangeAspect="1"/>
          </p:cNvPicPr>
          <p:nvPr/>
        </p:nvPicPr>
        <p:blipFill>
          <a:blip r:embed="rId3">
            <a:clrChange>
              <a:clrFrom>
                <a:srgbClr val="FFFFFF"/>
              </a:clrFrom>
              <a:clrTo>
                <a:srgbClr val="FFFFFF">
                  <a:alpha val="0"/>
                </a:srgbClr>
              </a:clrTo>
            </a:clrChange>
          </a:blip>
          <a:srcRect l="13500" t="21500" r="13800" b="22500"/>
          <a:stretch>
            <a:fillRect/>
          </a:stretch>
        </p:blipFill>
        <p:spPr>
          <a:xfrm>
            <a:off x="12725400" y="254000"/>
            <a:ext cx="1409700" cy="660400"/>
          </a:xfrm>
          <a:prstGeom prst="rect">
            <a:avLst/>
          </a:prstGeom>
        </p:spPr>
      </p:pic>
    </p:spTree>
    <p:extLst>
      <p:ext uri="{BB962C8B-B14F-4D97-AF65-F5344CB8AC3E}">
        <p14:creationId xmlns:p14="http://schemas.microsoft.com/office/powerpoint/2010/main" val="31551299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46304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1244600"/>
            <a:ext cx="1143000" cy="254000"/>
          </a:xfrm>
          <a:prstGeom prst="rect">
            <a:avLst/>
          </a:prstGeom>
          <a:noFill/>
        </p:spPr>
        <p:txBody>
          <a:bodyPr wrap="none" lIns="0" tIns="0" rIns="0" bIns="0">
            <a:spAutoFit/>
          </a:bodyPr>
          <a:lstStyle/>
          <a:p>
            <a:pPr>
              <a:lnSpc>
                <a:spcPts val="1439"/>
              </a:lnSpc>
              <a:spcBef>
                <a:spcPts val="0"/>
              </a:spcBef>
              <a:spcAft>
                <a:spcPts val="0"/>
              </a:spcAft>
              <a:defRPr sz="1200" b="1">
                <a:solidFill>
                  <a:srgbClr val="00708A"/>
                </a:solidFill>
                <a:latin typeface="Barlow"/>
              </a:defRPr>
            </a:pPr>
            <a:r>
              <a:t>SERVICEOPS</a:t>
            </a:r>
          </a:p>
        </p:txBody>
      </p:sp>
      <p:sp>
        <p:nvSpPr>
          <p:cNvPr id="4" name="TextBox 3"/>
          <p:cNvSpPr txBox="1"/>
          <p:nvPr/>
        </p:nvSpPr>
        <p:spPr>
          <a:xfrm>
            <a:off x="1625600" y="1244600"/>
            <a:ext cx="2527936" cy="179536"/>
          </a:xfrm>
          <a:prstGeom prst="rect">
            <a:avLst/>
          </a:prstGeom>
          <a:noFill/>
        </p:spPr>
        <p:txBody>
          <a:bodyPr wrap="none" lIns="0" tIns="0" rIns="0" bIns="0">
            <a:spAutoFit/>
          </a:bodyPr>
          <a:lstStyle/>
          <a:p>
            <a:pPr>
              <a:lnSpc>
                <a:spcPts val="1439"/>
              </a:lnSpc>
              <a:spcBef>
                <a:spcPts val="0"/>
              </a:spcBef>
              <a:spcAft>
                <a:spcPts val="0"/>
              </a:spcAft>
              <a:defRPr sz="1200" b="1">
                <a:solidFill>
                  <a:srgbClr val="4F6670"/>
                </a:solidFill>
                <a:latin typeface="Barlow"/>
              </a:defRPr>
            </a:pPr>
            <a:r>
              <a:rPr lang="en-US"/>
              <a:t>ILLUSTRATIVE COREAPPS SCENARIO</a:t>
            </a:r>
            <a:endParaRPr/>
          </a:p>
        </p:txBody>
      </p:sp>
      <p:sp>
        <p:nvSpPr>
          <p:cNvPr id="5" name="TextBox 4"/>
          <p:cNvSpPr txBox="1"/>
          <p:nvPr/>
        </p:nvSpPr>
        <p:spPr>
          <a:xfrm>
            <a:off x="508000" y="304800"/>
            <a:ext cx="7628691" cy="412934"/>
          </a:xfrm>
          <a:prstGeom prst="rect">
            <a:avLst/>
          </a:prstGeom>
          <a:noFill/>
        </p:spPr>
        <p:txBody>
          <a:bodyPr wrap="none" lIns="0" tIns="0" rIns="0" bIns="0">
            <a:spAutoFit/>
          </a:bodyPr>
          <a:lstStyle/>
          <a:p>
            <a:pPr>
              <a:lnSpc>
                <a:spcPts val="3600"/>
              </a:lnSpc>
              <a:spcBef>
                <a:spcPts val="0"/>
              </a:spcBef>
              <a:spcAft>
                <a:spcPts val="0"/>
              </a:spcAft>
              <a:defRPr sz="2600" b="1">
                <a:solidFill>
                  <a:srgbClr val="0B3C4C"/>
                </a:solidFill>
                <a:latin typeface="Barlow"/>
              </a:defRPr>
            </a:pPr>
            <a:r>
              <a:rPr lang="en-US"/>
              <a:t>Two valid plans can still create one service conflict.</a:t>
            </a:r>
            <a:endParaRPr/>
          </a:p>
        </p:txBody>
      </p:sp>
      <p:sp>
        <p:nvSpPr>
          <p:cNvPr id="6" name="Rectangle 5"/>
          <p:cNvSpPr/>
          <p:nvPr/>
        </p:nvSpPr>
        <p:spPr>
          <a:xfrm>
            <a:off x="502920" y="7790688"/>
            <a:ext cx="13624560" cy="10972"/>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7918704"/>
            <a:ext cx="10972800" cy="215900"/>
          </a:xfrm>
          <a:prstGeom prst="rect">
            <a:avLst/>
          </a:prstGeom>
          <a:noFill/>
        </p:spPr>
        <p:txBody>
          <a:bodyPr wrap="none" lIns="0" tIns="0" rIns="0" bIns="0">
            <a:spAutoFit/>
          </a:bodyPr>
          <a:lstStyle/>
          <a:p>
            <a:pPr>
              <a:lnSpc>
                <a:spcPts val="1200"/>
              </a:lnSpc>
              <a:spcBef>
                <a:spcPts val="0"/>
              </a:spcBef>
              <a:spcAft>
                <a:spcPts val="0"/>
              </a:spcAft>
              <a:defRPr sz="1000" b="0">
                <a:solidFill>
                  <a:srgbClr val="4F6670"/>
                </a:solidFill>
                <a:latin typeface="Barlow"/>
              </a:defRPr>
            </a:pPr>
            <a:r>
              <a:t>Anushka Wijesundara / Product overview / October 2026</a:t>
            </a:r>
          </a:p>
        </p:txBody>
      </p:sp>
      <p:sp>
        <p:nvSpPr>
          <p:cNvPr id="8" name="TextBox 7"/>
          <p:cNvSpPr txBox="1"/>
          <p:nvPr/>
        </p:nvSpPr>
        <p:spPr>
          <a:xfrm>
            <a:off x="11976100" y="7918704"/>
            <a:ext cx="2159000" cy="215900"/>
          </a:xfrm>
          <a:prstGeom prst="rect">
            <a:avLst/>
          </a:prstGeom>
          <a:noFill/>
        </p:spPr>
        <p:txBody>
          <a:bodyPr wrap="none" lIns="0" tIns="0" rIns="0" bIns="0">
            <a:spAutoFit/>
          </a:bodyPr>
          <a:lstStyle/>
          <a:p>
            <a:pPr algn="r">
              <a:lnSpc>
                <a:spcPts val="1200"/>
              </a:lnSpc>
              <a:spcBef>
                <a:spcPts val="0"/>
              </a:spcBef>
              <a:spcAft>
                <a:spcPts val="0"/>
              </a:spcAft>
              <a:defRPr sz="1000" b="1">
                <a:solidFill>
                  <a:srgbClr val="00708A"/>
                </a:solidFill>
                <a:latin typeface="Barlow"/>
              </a:defRPr>
            </a:pPr>
            <a:r>
              <a:t>APPENDIX / 16</a:t>
            </a:r>
          </a:p>
        </p:txBody>
      </p:sp>
      <p:sp>
        <p:nvSpPr>
          <p:cNvPr id="9" name="Rectangle 8"/>
          <p:cNvSpPr/>
          <p:nvPr/>
        </p:nvSpPr>
        <p:spPr>
          <a:xfrm>
            <a:off x="594360" y="2468880"/>
            <a:ext cx="4251960" cy="2514600"/>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5528" y="2697480"/>
            <a:ext cx="3840480" cy="368300"/>
          </a:xfrm>
          <a:prstGeom prst="rect">
            <a:avLst/>
          </a:prstGeom>
          <a:noFill/>
        </p:spPr>
        <p:txBody>
          <a:bodyPr wrap="none" lIns="0" tIns="0" rIns="0" bIns="0">
            <a:spAutoFit/>
          </a:bodyPr>
          <a:lstStyle/>
          <a:p>
            <a:pPr>
              <a:lnSpc>
                <a:spcPts val="2400"/>
              </a:lnSpc>
              <a:spcBef>
                <a:spcPts val="0"/>
              </a:spcBef>
              <a:spcAft>
                <a:spcPts val="0"/>
              </a:spcAft>
              <a:defRPr sz="2000" b="1">
                <a:solidFill>
                  <a:srgbClr val="00708A"/>
                </a:solidFill>
                <a:latin typeface="Barlow"/>
              </a:defRPr>
            </a:pPr>
            <a:r>
              <a:t>Network</a:t>
            </a:r>
          </a:p>
        </p:txBody>
      </p:sp>
      <p:sp>
        <p:nvSpPr>
          <p:cNvPr id="11" name="TextBox 10"/>
          <p:cNvSpPr txBox="1"/>
          <p:nvPr/>
        </p:nvSpPr>
        <p:spPr>
          <a:xfrm>
            <a:off x="795528" y="3246120"/>
            <a:ext cx="3840480" cy="474979"/>
          </a:xfrm>
          <a:prstGeom prst="rect">
            <a:avLst/>
          </a:prstGeom>
          <a:noFill/>
        </p:spPr>
        <p:txBody>
          <a:bodyPr wrap="none" lIns="0" tIns="0" rIns="0" bIns="0">
            <a:spAutoFit/>
          </a:bodyPr>
          <a:lstStyle/>
          <a:p>
            <a:pPr>
              <a:lnSpc>
                <a:spcPts val="3240"/>
              </a:lnSpc>
              <a:spcBef>
                <a:spcPts val="0"/>
              </a:spcBef>
              <a:spcAft>
                <a:spcPts val="0"/>
              </a:spcAft>
              <a:defRPr sz="2700" b="1">
                <a:solidFill>
                  <a:srgbClr val="0B3C4C"/>
                </a:solidFill>
                <a:latin typeface="Barlow"/>
              </a:defRPr>
            </a:pPr>
            <a:r>
              <a:t>tor-sw-a12</a:t>
            </a:r>
          </a:p>
        </p:txBody>
      </p:sp>
      <p:sp>
        <p:nvSpPr>
          <p:cNvPr id="12" name="TextBox 11"/>
          <p:cNvSpPr txBox="1"/>
          <p:nvPr/>
        </p:nvSpPr>
        <p:spPr>
          <a:xfrm>
            <a:off x="795528" y="4023360"/>
            <a:ext cx="3840480" cy="337819"/>
          </a:xfrm>
          <a:prstGeom prst="rect">
            <a:avLst/>
          </a:prstGeom>
          <a:noFill/>
        </p:spPr>
        <p:txBody>
          <a:bodyPr wrap="none" lIns="0" tIns="0" rIns="0" bIns="0">
            <a:spAutoFit/>
          </a:bodyPr>
          <a:lstStyle/>
          <a:p>
            <a:pPr>
              <a:lnSpc>
                <a:spcPts val="2160"/>
              </a:lnSpc>
              <a:spcBef>
                <a:spcPts val="0"/>
              </a:spcBef>
              <a:spcAft>
                <a:spcPts val="0"/>
              </a:spcAft>
              <a:defRPr sz="1800" b="0">
                <a:solidFill>
                  <a:srgbClr val="4F6670"/>
                </a:solidFill>
                <a:latin typeface="Barlow"/>
              </a:defRPr>
            </a:pPr>
            <a:r>
              <a:t>Switch update: Sat 14:00-16:00</a:t>
            </a:r>
          </a:p>
        </p:txBody>
      </p:sp>
      <p:sp>
        <p:nvSpPr>
          <p:cNvPr id="13" name="Rectangle 12"/>
          <p:cNvSpPr/>
          <p:nvPr/>
        </p:nvSpPr>
        <p:spPr>
          <a:xfrm>
            <a:off x="5212080" y="2468880"/>
            <a:ext cx="4251960" cy="2514600"/>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13248" y="2697480"/>
            <a:ext cx="3840480" cy="368300"/>
          </a:xfrm>
          <a:prstGeom prst="rect">
            <a:avLst/>
          </a:prstGeom>
          <a:noFill/>
        </p:spPr>
        <p:txBody>
          <a:bodyPr wrap="none" lIns="0" tIns="0" rIns="0" bIns="0">
            <a:spAutoFit/>
          </a:bodyPr>
          <a:lstStyle/>
          <a:p>
            <a:pPr>
              <a:lnSpc>
                <a:spcPts val="2400"/>
              </a:lnSpc>
              <a:spcBef>
                <a:spcPts val="0"/>
              </a:spcBef>
              <a:spcAft>
                <a:spcPts val="0"/>
              </a:spcAft>
              <a:defRPr sz="2000" b="1">
                <a:solidFill>
                  <a:srgbClr val="00708A"/>
                </a:solidFill>
                <a:latin typeface="Barlow"/>
              </a:defRPr>
            </a:pPr>
            <a:r>
              <a:t>Unix</a:t>
            </a:r>
          </a:p>
        </p:txBody>
      </p:sp>
      <p:sp>
        <p:nvSpPr>
          <p:cNvPr id="15" name="TextBox 14"/>
          <p:cNvSpPr txBox="1"/>
          <p:nvPr/>
        </p:nvSpPr>
        <p:spPr>
          <a:xfrm>
            <a:off x="5413248" y="3246120"/>
            <a:ext cx="3840480" cy="474979"/>
          </a:xfrm>
          <a:prstGeom prst="rect">
            <a:avLst/>
          </a:prstGeom>
          <a:noFill/>
        </p:spPr>
        <p:txBody>
          <a:bodyPr wrap="none" lIns="0" tIns="0" rIns="0" bIns="0">
            <a:spAutoFit/>
          </a:bodyPr>
          <a:lstStyle/>
          <a:p>
            <a:pPr>
              <a:lnSpc>
                <a:spcPts val="3240"/>
              </a:lnSpc>
              <a:spcBef>
                <a:spcPts val="0"/>
              </a:spcBef>
              <a:spcAft>
                <a:spcPts val="0"/>
              </a:spcAft>
              <a:defRPr sz="2700" b="1">
                <a:solidFill>
                  <a:srgbClr val="0B3C4C"/>
                </a:solidFill>
                <a:latin typeface="Barlow"/>
              </a:defRPr>
            </a:pPr>
            <a:r>
              <a:t>coreapps-01</a:t>
            </a:r>
          </a:p>
        </p:txBody>
      </p:sp>
      <p:sp>
        <p:nvSpPr>
          <p:cNvPr id="16" name="TextBox 15"/>
          <p:cNvSpPr txBox="1"/>
          <p:nvPr/>
        </p:nvSpPr>
        <p:spPr>
          <a:xfrm>
            <a:off x="5413248" y="4023360"/>
            <a:ext cx="3840480" cy="337819"/>
          </a:xfrm>
          <a:prstGeom prst="rect">
            <a:avLst/>
          </a:prstGeom>
          <a:noFill/>
        </p:spPr>
        <p:txBody>
          <a:bodyPr wrap="none" lIns="0" tIns="0" rIns="0" bIns="0">
            <a:spAutoFit/>
          </a:bodyPr>
          <a:lstStyle/>
          <a:p>
            <a:pPr>
              <a:lnSpc>
                <a:spcPts val="2160"/>
              </a:lnSpc>
              <a:spcBef>
                <a:spcPts val="0"/>
              </a:spcBef>
              <a:spcAft>
                <a:spcPts val="0"/>
              </a:spcAft>
              <a:defRPr sz="1800" b="0">
                <a:solidFill>
                  <a:srgbClr val="4F6670"/>
                </a:solidFill>
                <a:latin typeface="Barlow"/>
              </a:defRPr>
            </a:pPr>
            <a:r>
              <a:t>Server work: Sat 13:00-17:00</a:t>
            </a:r>
          </a:p>
        </p:txBody>
      </p:sp>
      <p:sp>
        <p:nvSpPr>
          <p:cNvPr id="17" name="Rectangle 16"/>
          <p:cNvSpPr/>
          <p:nvPr/>
        </p:nvSpPr>
        <p:spPr>
          <a:xfrm>
            <a:off x="9829800" y="2468880"/>
            <a:ext cx="4251960" cy="2514600"/>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030968" y="2697480"/>
            <a:ext cx="3840480" cy="368300"/>
          </a:xfrm>
          <a:prstGeom prst="rect">
            <a:avLst/>
          </a:prstGeom>
          <a:noFill/>
        </p:spPr>
        <p:txBody>
          <a:bodyPr wrap="none" lIns="0" tIns="0" rIns="0" bIns="0">
            <a:spAutoFit/>
          </a:bodyPr>
          <a:lstStyle/>
          <a:p>
            <a:pPr>
              <a:lnSpc>
                <a:spcPts val="2400"/>
              </a:lnSpc>
              <a:spcBef>
                <a:spcPts val="0"/>
              </a:spcBef>
              <a:spcAft>
                <a:spcPts val="0"/>
              </a:spcAft>
              <a:defRPr sz="2000" b="1">
                <a:solidFill>
                  <a:srgbClr val="00708A"/>
                </a:solidFill>
                <a:latin typeface="Barlow"/>
              </a:defRPr>
            </a:pPr>
            <a:r>
              <a:t>Business</a:t>
            </a:r>
          </a:p>
        </p:txBody>
      </p:sp>
      <p:sp>
        <p:nvSpPr>
          <p:cNvPr id="19" name="TextBox 18"/>
          <p:cNvSpPr txBox="1"/>
          <p:nvPr/>
        </p:nvSpPr>
        <p:spPr>
          <a:xfrm>
            <a:off x="10030968" y="3246120"/>
            <a:ext cx="3840480" cy="474979"/>
          </a:xfrm>
          <a:prstGeom prst="rect">
            <a:avLst/>
          </a:prstGeom>
          <a:noFill/>
        </p:spPr>
        <p:txBody>
          <a:bodyPr wrap="none" lIns="0" tIns="0" rIns="0" bIns="0">
            <a:spAutoFit/>
          </a:bodyPr>
          <a:lstStyle/>
          <a:p>
            <a:pPr>
              <a:lnSpc>
                <a:spcPts val="3240"/>
              </a:lnSpc>
              <a:spcBef>
                <a:spcPts val="0"/>
              </a:spcBef>
              <a:spcAft>
                <a:spcPts val="0"/>
              </a:spcAft>
              <a:defRPr sz="2700" b="1">
                <a:solidFill>
                  <a:srgbClr val="0B3C4C"/>
                </a:solidFill>
                <a:latin typeface="Barlow"/>
              </a:defRPr>
            </a:pPr>
            <a:r>
              <a:t>CoreApps</a:t>
            </a:r>
          </a:p>
        </p:txBody>
      </p:sp>
      <p:sp>
        <p:nvSpPr>
          <p:cNvPr id="20" name="TextBox 19"/>
          <p:cNvSpPr txBox="1"/>
          <p:nvPr/>
        </p:nvSpPr>
        <p:spPr>
          <a:xfrm>
            <a:off x="10030968" y="4023360"/>
            <a:ext cx="3840480" cy="337819"/>
          </a:xfrm>
          <a:prstGeom prst="rect">
            <a:avLst/>
          </a:prstGeom>
          <a:noFill/>
        </p:spPr>
        <p:txBody>
          <a:bodyPr wrap="none" lIns="0" tIns="0" rIns="0" bIns="0">
            <a:spAutoFit/>
          </a:bodyPr>
          <a:lstStyle/>
          <a:p>
            <a:pPr>
              <a:lnSpc>
                <a:spcPts val="2160"/>
              </a:lnSpc>
              <a:spcBef>
                <a:spcPts val="0"/>
              </a:spcBef>
              <a:spcAft>
                <a:spcPts val="0"/>
              </a:spcAft>
              <a:defRPr sz="1800" b="0">
                <a:solidFill>
                  <a:srgbClr val="4F6670"/>
                </a:solidFill>
                <a:latin typeface="Barlow"/>
              </a:defRPr>
            </a:pPr>
            <a:r>
              <a:t>Shared application service</a:t>
            </a:r>
          </a:p>
        </p:txBody>
      </p:sp>
      <p:sp>
        <p:nvSpPr>
          <p:cNvPr id="21" name="TextBox 20"/>
          <p:cNvSpPr txBox="1"/>
          <p:nvPr/>
        </p:nvSpPr>
        <p:spPr>
          <a:xfrm>
            <a:off x="594360" y="5577840"/>
            <a:ext cx="9893734" cy="398827"/>
          </a:xfrm>
          <a:prstGeom prst="rect">
            <a:avLst/>
          </a:prstGeom>
          <a:noFill/>
        </p:spPr>
        <p:txBody>
          <a:bodyPr wrap="none" lIns="0" tIns="0" rIns="0" bIns="0">
            <a:spAutoFit/>
          </a:bodyPr>
          <a:lstStyle/>
          <a:p>
            <a:pPr>
              <a:lnSpc>
                <a:spcPts val="3360"/>
              </a:lnSpc>
              <a:spcBef>
                <a:spcPts val="0"/>
              </a:spcBef>
              <a:spcAft>
                <a:spcPts val="0"/>
              </a:spcAft>
              <a:defRPr sz="2800" b="1">
                <a:solidFill>
                  <a:srgbClr val="B35F00"/>
                </a:solidFill>
                <a:latin typeface="Barlow"/>
              </a:defRPr>
            </a:pPr>
            <a:r>
              <a:rPr lang="en-US"/>
              <a:t>Shared dependencies turn separate plans into a joint decision.</a:t>
            </a:r>
            <a:endParaRPr/>
          </a:p>
        </p:txBody>
      </p:sp>
      <p:sp>
        <p:nvSpPr>
          <p:cNvPr id="22" name="TextBox 21"/>
          <p:cNvSpPr txBox="1"/>
          <p:nvPr/>
        </p:nvSpPr>
        <p:spPr>
          <a:xfrm>
            <a:off x="594360" y="6510528"/>
            <a:ext cx="10222350" cy="666849"/>
          </a:xfrm>
          <a:prstGeom prst="rect">
            <a:avLst/>
          </a:prstGeom>
          <a:noFill/>
        </p:spPr>
        <p:txBody>
          <a:bodyPr wrap="none" lIns="0" tIns="0" rIns="0" bIns="0">
            <a:spAutoFit/>
          </a:bodyPr>
          <a:lstStyle/>
          <a:p>
            <a:pPr>
              <a:lnSpc>
                <a:spcPts val="2640"/>
              </a:lnSpc>
              <a:spcBef>
                <a:spcPts val="0"/>
              </a:spcBef>
              <a:spcAft>
                <a:spcPts val="0"/>
              </a:spcAft>
              <a:defRPr sz="2200" b="0">
                <a:solidFill>
                  <a:srgbClr val="0B3C4C"/>
                </a:solidFill>
                <a:latin typeface="Barlow"/>
              </a:defRPr>
            </a:pPr>
            <a:r>
              <a:rPr lang="en-US"/>
              <a:t>Illustrative scenario—not a measured outcome. Conflict detection needs maintained
device links; freeze enforcement is a separate configured policy control.</a:t>
            </a:r>
            <a:endParaRPr/>
          </a:p>
        </p:txBody>
      </p:sp>
      <p:sp>
        <p:nvSpPr>
          <p:cNvPr id="901" name="JNX Rule"/>
          <p:cNvSpPr/>
          <p:nvPr/>
        </p:nvSpPr>
        <p:spPr>
          <a:xfrm>
            <a:off x="508000" y="1016000"/>
            <a:ext cx="13627100" cy="19050"/>
          </a:xfrm>
          <a:prstGeom prst="rect">
            <a:avLst/>
          </a:prstGeom>
          <a:solidFill>
            <a:srgbClr val="0B3C4C"/>
          </a:solidFill>
          <a:ln>
            <a:noFill/>
          </a:ln>
        </p:spPr>
        <p:txBody>
          <a:bodyPr/>
          <a:lstStyle/>
          <a:p>
            <a:endParaRPr lang="en-JP"/>
          </a:p>
        </p:txBody>
      </p:sp>
      <p:pic>
        <p:nvPicPr>
          <p:cNvPr id="902" name="Copied Picture 902" descr="Japannext JNX logo">
            <a:extLst>
              <a:ext uri="{FF2B5EF4-FFF2-40B4-BE49-F238E27FC236}">
                <a16:creationId xmlns:a16="http://schemas.microsoft.com/office/drawing/2014/main" id="{429122C2-2B95-92FB-9A5C-2E92C9458AAC}"/>
              </a:ext>
            </a:extLst>
          </p:cNvPr>
          <p:cNvPicPr>
            <a:picLocks noChangeAspect="1"/>
          </p:cNvPicPr>
          <p:nvPr/>
        </p:nvPicPr>
        <p:blipFill>
          <a:blip r:embed="rId3">
            <a:clrChange>
              <a:clrFrom>
                <a:srgbClr val="FFFFFF"/>
              </a:clrFrom>
              <a:clrTo>
                <a:srgbClr val="FFFFFF">
                  <a:alpha val="0"/>
                </a:srgbClr>
              </a:clrTo>
            </a:clrChange>
          </a:blip>
          <a:srcRect l="13500" t="21500" r="13800" b="22500"/>
          <a:stretch>
            <a:fillRect/>
          </a:stretch>
        </p:blipFill>
        <p:spPr>
          <a:xfrm>
            <a:off x="12725400" y="254000"/>
            <a:ext cx="1409700" cy="660400"/>
          </a:xfrm>
          <a:prstGeom prst="rect">
            <a:avLst/>
          </a:prstGeom>
        </p:spPr>
      </p:pic>
    </p:spTree>
    <p:extLst>
      <p:ext uri="{BB962C8B-B14F-4D97-AF65-F5344CB8AC3E}">
        <p14:creationId xmlns:p14="http://schemas.microsoft.com/office/powerpoint/2010/main" val="39197286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46304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1244600"/>
            <a:ext cx="1143000" cy="254000"/>
          </a:xfrm>
          <a:prstGeom prst="rect">
            <a:avLst/>
          </a:prstGeom>
          <a:noFill/>
        </p:spPr>
        <p:txBody>
          <a:bodyPr wrap="none" lIns="0" tIns="0" rIns="0" bIns="0">
            <a:spAutoFit/>
          </a:bodyPr>
          <a:lstStyle/>
          <a:p>
            <a:pPr>
              <a:lnSpc>
                <a:spcPts val="1439"/>
              </a:lnSpc>
              <a:spcBef>
                <a:spcPts val="0"/>
              </a:spcBef>
              <a:spcAft>
                <a:spcPts val="0"/>
              </a:spcAft>
              <a:defRPr sz="1200" b="1">
                <a:solidFill>
                  <a:srgbClr val="00708A"/>
                </a:solidFill>
                <a:latin typeface="Barlow"/>
              </a:defRPr>
            </a:pPr>
            <a:r>
              <a:t>SERVICEOPS</a:t>
            </a:r>
          </a:p>
        </p:txBody>
      </p:sp>
      <p:sp>
        <p:nvSpPr>
          <p:cNvPr id="4" name="TextBox 3"/>
          <p:cNvSpPr txBox="1"/>
          <p:nvPr/>
        </p:nvSpPr>
        <p:spPr>
          <a:xfrm>
            <a:off x="1625600" y="1244600"/>
            <a:ext cx="1695977" cy="179536"/>
          </a:xfrm>
          <a:prstGeom prst="rect">
            <a:avLst/>
          </a:prstGeom>
          <a:noFill/>
        </p:spPr>
        <p:txBody>
          <a:bodyPr wrap="none" lIns="0" tIns="0" rIns="0" bIns="0">
            <a:spAutoFit/>
          </a:bodyPr>
          <a:lstStyle/>
          <a:p>
            <a:pPr>
              <a:lnSpc>
                <a:spcPts val="1439"/>
              </a:lnSpc>
              <a:spcBef>
                <a:spcPts val="0"/>
              </a:spcBef>
              <a:spcAft>
                <a:spcPts val="0"/>
              </a:spcAft>
              <a:defRPr sz="1200" b="1">
                <a:solidFill>
                  <a:srgbClr val="4F6670"/>
                </a:solidFill>
                <a:latin typeface="Barlow"/>
              </a:defRPr>
            </a:pPr>
            <a:r>
              <a:rPr lang="en-US"/>
              <a:t>TEST THE FOUNDATIONS</a:t>
            </a:r>
            <a:endParaRPr/>
          </a:p>
        </p:txBody>
      </p:sp>
      <p:sp>
        <p:nvSpPr>
          <p:cNvPr id="5" name="TextBox 4"/>
          <p:cNvSpPr txBox="1"/>
          <p:nvPr/>
        </p:nvSpPr>
        <p:spPr>
          <a:xfrm>
            <a:off x="508000" y="304800"/>
            <a:ext cx="7319311" cy="412934"/>
          </a:xfrm>
          <a:prstGeom prst="rect">
            <a:avLst/>
          </a:prstGeom>
          <a:noFill/>
        </p:spPr>
        <p:txBody>
          <a:bodyPr wrap="none" lIns="0" tIns="0" rIns="0" bIns="0">
            <a:spAutoFit/>
          </a:bodyPr>
          <a:lstStyle/>
          <a:p>
            <a:pPr>
              <a:lnSpc>
                <a:spcPts val="3600"/>
              </a:lnSpc>
              <a:spcBef>
                <a:spcPts val="0"/>
              </a:spcBef>
              <a:spcAft>
                <a:spcPts val="0"/>
              </a:spcAft>
              <a:defRPr sz="2600" b="1">
                <a:solidFill>
                  <a:srgbClr val="0B3C4C"/>
                </a:solidFill>
                <a:latin typeface="Barlow"/>
              </a:defRPr>
            </a:pPr>
            <a:r>
              <a:rPr lang="en-US"/>
              <a:t>Reliable coordination starts with reliable records.</a:t>
            </a:r>
            <a:endParaRPr/>
          </a:p>
        </p:txBody>
      </p:sp>
      <p:sp>
        <p:nvSpPr>
          <p:cNvPr id="6" name="Rectangle 5"/>
          <p:cNvSpPr/>
          <p:nvPr/>
        </p:nvSpPr>
        <p:spPr>
          <a:xfrm>
            <a:off x="502920" y="7790688"/>
            <a:ext cx="13624560" cy="10972"/>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7918704"/>
            <a:ext cx="10972800" cy="215900"/>
          </a:xfrm>
          <a:prstGeom prst="rect">
            <a:avLst/>
          </a:prstGeom>
          <a:noFill/>
        </p:spPr>
        <p:txBody>
          <a:bodyPr wrap="none" lIns="0" tIns="0" rIns="0" bIns="0">
            <a:spAutoFit/>
          </a:bodyPr>
          <a:lstStyle/>
          <a:p>
            <a:pPr>
              <a:lnSpc>
                <a:spcPts val="1200"/>
              </a:lnSpc>
              <a:spcBef>
                <a:spcPts val="0"/>
              </a:spcBef>
              <a:spcAft>
                <a:spcPts val="0"/>
              </a:spcAft>
              <a:defRPr sz="1000" b="0">
                <a:solidFill>
                  <a:srgbClr val="4F6670"/>
                </a:solidFill>
                <a:latin typeface="Barlow"/>
              </a:defRPr>
            </a:pPr>
            <a:r>
              <a:t>Anushka Wijesundara / Product overview / October 2026</a:t>
            </a:r>
          </a:p>
        </p:txBody>
      </p:sp>
      <p:sp>
        <p:nvSpPr>
          <p:cNvPr id="8" name="TextBox 7"/>
          <p:cNvSpPr txBox="1"/>
          <p:nvPr/>
        </p:nvSpPr>
        <p:spPr>
          <a:xfrm>
            <a:off x="11976100" y="7918704"/>
            <a:ext cx="2159000" cy="215900"/>
          </a:xfrm>
          <a:prstGeom prst="rect">
            <a:avLst/>
          </a:prstGeom>
          <a:noFill/>
        </p:spPr>
        <p:txBody>
          <a:bodyPr wrap="none" lIns="0" tIns="0" rIns="0" bIns="0">
            <a:spAutoFit/>
          </a:bodyPr>
          <a:lstStyle/>
          <a:p>
            <a:pPr algn="r">
              <a:lnSpc>
                <a:spcPts val="1200"/>
              </a:lnSpc>
              <a:spcBef>
                <a:spcPts val="0"/>
              </a:spcBef>
              <a:spcAft>
                <a:spcPts val="0"/>
              </a:spcAft>
              <a:defRPr sz="1000" b="1">
                <a:solidFill>
                  <a:srgbClr val="00708A"/>
                </a:solidFill>
                <a:latin typeface="Barlow"/>
              </a:defRPr>
            </a:pPr>
            <a:r>
              <a:t>APPENDIX / 17</a:t>
            </a:r>
          </a:p>
        </p:txBody>
      </p:sp>
      <p:sp>
        <p:nvSpPr>
          <p:cNvPr id="9" name="Rectangle 8"/>
          <p:cNvSpPr/>
          <p:nvPr/>
        </p:nvSpPr>
        <p:spPr>
          <a:xfrm>
            <a:off x="594360" y="2286000"/>
            <a:ext cx="6492240" cy="1874519"/>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2514600"/>
            <a:ext cx="2862963" cy="384721"/>
          </a:xfrm>
          <a:prstGeom prst="rect">
            <a:avLst/>
          </a:prstGeom>
          <a:noFill/>
        </p:spPr>
        <p:txBody>
          <a:bodyPr wrap="none" lIns="0" tIns="0" rIns="0" bIns="0">
            <a:spAutoFit/>
          </a:bodyPr>
          <a:lstStyle/>
          <a:p>
            <a:pPr>
              <a:lnSpc>
                <a:spcPts val="3000"/>
              </a:lnSpc>
              <a:spcBef>
                <a:spcPts val="0"/>
              </a:spcBef>
              <a:spcAft>
                <a:spcPts val="0"/>
              </a:spcAft>
              <a:defRPr sz="2500" b="1">
                <a:solidFill>
                  <a:srgbClr val="00708A"/>
                </a:solidFill>
                <a:latin typeface="Barlow"/>
              </a:defRPr>
            </a:pPr>
            <a:r>
              <a:rPr lang="en-US"/>
              <a:t>Approval ownership</a:t>
            </a:r>
            <a:endParaRPr/>
          </a:p>
        </p:txBody>
      </p:sp>
      <p:sp>
        <p:nvSpPr>
          <p:cNvPr id="11" name="TextBox 10"/>
          <p:cNvSpPr txBox="1"/>
          <p:nvPr/>
        </p:nvSpPr>
        <p:spPr>
          <a:xfrm>
            <a:off x="822960" y="3136392"/>
            <a:ext cx="4154984" cy="666849"/>
          </a:xfrm>
          <a:prstGeom prst="rect">
            <a:avLst/>
          </a:prstGeom>
          <a:noFill/>
        </p:spPr>
        <p:txBody>
          <a:bodyPr wrap="none" lIns="0" tIns="0" rIns="0" bIns="0">
            <a:spAutoFit/>
          </a:bodyPr>
          <a:lstStyle/>
          <a:p>
            <a:pPr>
              <a:lnSpc>
                <a:spcPts val="2640"/>
              </a:lnSpc>
              <a:spcBef>
                <a:spcPts val="0"/>
              </a:spcBef>
              <a:spcAft>
                <a:spcPts val="0"/>
              </a:spcAft>
              <a:defRPr sz="2200" b="0">
                <a:solidFill>
                  <a:srgbClr val="0B3C4C"/>
                </a:solidFill>
                <a:latin typeface="Barlow"/>
              </a:defRPr>
            </a:pPr>
            <a:r>
              <a:rPr lang="en-US"/>
              <a:t>Test who can submit, approve and
change the plan.</a:t>
            </a:r>
            <a:endParaRPr/>
          </a:p>
        </p:txBody>
      </p:sp>
      <p:sp>
        <p:nvSpPr>
          <p:cNvPr id="12" name="Rectangle 11"/>
          <p:cNvSpPr/>
          <p:nvPr/>
        </p:nvSpPr>
        <p:spPr>
          <a:xfrm>
            <a:off x="7543800" y="2286000"/>
            <a:ext cx="6492240" cy="1874519"/>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0" y="2514600"/>
            <a:ext cx="3148298" cy="384721"/>
          </a:xfrm>
          <a:prstGeom prst="rect">
            <a:avLst/>
          </a:prstGeom>
          <a:noFill/>
        </p:spPr>
        <p:txBody>
          <a:bodyPr wrap="none" lIns="0" tIns="0" rIns="0" bIns="0">
            <a:spAutoFit/>
          </a:bodyPr>
          <a:lstStyle/>
          <a:p>
            <a:pPr>
              <a:lnSpc>
                <a:spcPts val="3000"/>
              </a:lnSpc>
              <a:spcBef>
                <a:spcPts val="0"/>
              </a:spcBef>
              <a:spcAft>
                <a:spcPts val="0"/>
              </a:spcAft>
              <a:defRPr sz="2500" b="1">
                <a:solidFill>
                  <a:srgbClr val="00708A"/>
                </a:solidFill>
                <a:latin typeface="Barlow"/>
              </a:defRPr>
            </a:pPr>
            <a:r>
              <a:rPr lang="en-US"/>
              <a:t>Dependency accuracy</a:t>
            </a:r>
            <a:endParaRPr/>
          </a:p>
        </p:txBody>
      </p:sp>
      <p:sp>
        <p:nvSpPr>
          <p:cNvPr id="14" name="TextBox 13"/>
          <p:cNvSpPr txBox="1"/>
          <p:nvPr/>
        </p:nvSpPr>
        <p:spPr>
          <a:xfrm>
            <a:off x="7772400" y="3136392"/>
            <a:ext cx="4591000" cy="666849"/>
          </a:xfrm>
          <a:prstGeom prst="rect">
            <a:avLst/>
          </a:prstGeom>
          <a:noFill/>
        </p:spPr>
        <p:txBody>
          <a:bodyPr wrap="none" lIns="0" tIns="0" rIns="0" bIns="0">
            <a:spAutoFit/>
          </a:bodyPr>
          <a:lstStyle/>
          <a:p>
            <a:pPr>
              <a:lnSpc>
                <a:spcPts val="2640"/>
              </a:lnSpc>
              <a:spcBef>
                <a:spcPts val="0"/>
              </a:spcBef>
              <a:spcAft>
                <a:spcPts val="0"/>
              </a:spcAft>
              <a:defRPr sz="2200" b="0">
                <a:solidFill>
                  <a:srgbClr val="0B3C4C"/>
                </a:solidFill>
                <a:latin typeface="Barlow"/>
              </a:defRPr>
            </a:pPr>
            <a:r>
              <a:rPr lang="en-US"/>
              <a:t>Sample real devices, owners and links
before trusting conflict checks.</a:t>
            </a:r>
            <a:endParaRPr/>
          </a:p>
        </p:txBody>
      </p:sp>
      <p:sp>
        <p:nvSpPr>
          <p:cNvPr id="15" name="Rectangle 14"/>
          <p:cNvSpPr/>
          <p:nvPr/>
        </p:nvSpPr>
        <p:spPr>
          <a:xfrm>
            <a:off x="594360" y="4572000"/>
            <a:ext cx="6492240" cy="1874519"/>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4800600"/>
            <a:ext cx="2670603" cy="384721"/>
          </a:xfrm>
          <a:prstGeom prst="rect">
            <a:avLst/>
          </a:prstGeom>
          <a:noFill/>
        </p:spPr>
        <p:txBody>
          <a:bodyPr wrap="none" lIns="0" tIns="0" rIns="0" bIns="0">
            <a:spAutoFit/>
          </a:bodyPr>
          <a:lstStyle/>
          <a:p>
            <a:pPr>
              <a:lnSpc>
                <a:spcPts val="3000"/>
              </a:lnSpc>
              <a:spcBef>
                <a:spcPts val="0"/>
              </a:spcBef>
              <a:spcAft>
                <a:spcPts val="0"/>
              </a:spcAft>
              <a:defRPr sz="2500" b="1">
                <a:solidFill>
                  <a:srgbClr val="00708A"/>
                </a:solidFill>
                <a:latin typeface="Barlow"/>
              </a:defRPr>
            </a:pPr>
            <a:r>
              <a:rPr lang="en-US"/>
              <a:t>AI data boundaries</a:t>
            </a:r>
            <a:endParaRPr/>
          </a:p>
        </p:txBody>
      </p:sp>
      <p:sp>
        <p:nvSpPr>
          <p:cNvPr id="17" name="TextBox 16"/>
          <p:cNvSpPr txBox="1"/>
          <p:nvPr/>
        </p:nvSpPr>
        <p:spPr>
          <a:xfrm>
            <a:off x="822960" y="5422392"/>
            <a:ext cx="4591000" cy="666849"/>
          </a:xfrm>
          <a:prstGeom prst="rect">
            <a:avLst/>
          </a:prstGeom>
          <a:noFill/>
        </p:spPr>
        <p:txBody>
          <a:bodyPr wrap="none" lIns="0" tIns="0" rIns="0" bIns="0">
            <a:spAutoFit/>
          </a:bodyPr>
          <a:lstStyle/>
          <a:p>
            <a:pPr>
              <a:lnSpc>
                <a:spcPts val="2640"/>
              </a:lnSpc>
              <a:spcBef>
                <a:spcPts val="0"/>
              </a:spcBef>
              <a:spcAft>
                <a:spcPts val="0"/>
              </a:spcAft>
              <a:defRPr sz="2200" b="0">
                <a:solidFill>
                  <a:srgbClr val="0B3C4C"/>
                </a:solidFill>
                <a:latin typeface="Barlow"/>
              </a:defRPr>
            </a:pPr>
            <a:r>
              <a:rPr lang="en-US"/>
              <a:t>Verify providers, outbound data paths
and human review.</a:t>
            </a:r>
            <a:endParaRPr/>
          </a:p>
        </p:txBody>
      </p:sp>
      <p:sp>
        <p:nvSpPr>
          <p:cNvPr id="18" name="Rectangle 17"/>
          <p:cNvSpPr/>
          <p:nvPr/>
        </p:nvSpPr>
        <p:spPr>
          <a:xfrm>
            <a:off x="7543800" y="4572000"/>
            <a:ext cx="6492240" cy="1874519"/>
          </a:xfrm>
          <a:prstGeom prst="rect">
            <a:avLst/>
          </a:prstGeom>
          <a:solidFill>
            <a:srgbClr val="EF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0" y="4800600"/>
            <a:ext cx="3004027" cy="384721"/>
          </a:xfrm>
          <a:prstGeom prst="rect">
            <a:avLst/>
          </a:prstGeom>
          <a:noFill/>
        </p:spPr>
        <p:txBody>
          <a:bodyPr wrap="none" lIns="0" tIns="0" rIns="0" bIns="0">
            <a:spAutoFit/>
          </a:bodyPr>
          <a:lstStyle/>
          <a:p>
            <a:pPr>
              <a:lnSpc>
                <a:spcPts val="3000"/>
              </a:lnSpc>
              <a:spcBef>
                <a:spcPts val="0"/>
              </a:spcBef>
              <a:spcAft>
                <a:spcPts val="0"/>
              </a:spcAft>
              <a:defRPr sz="2500" b="1">
                <a:solidFill>
                  <a:srgbClr val="00708A"/>
                </a:solidFill>
                <a:latin typeface="Barlow"/>
              </a:defRPr>
            </a:pPr>
            <a:r>
              <a:rPr lang="en-US"/>
              <a:t>Recovery and history</a:t>
            </a:r>
            <a:endParaRPr/>
          </a:p>
        </p:txBody>
      </p:sp>
      <p:sp>
        <p:nvSpPr>
          <p:cNvPr id="20" name="TextBox 19"/>
          <p:cNvSpPr txBox="1"/>
          <p:nvPr/>
        </p:nvSpPr>
        <p:spPr>
          <a:xfrm>
            <a:off x="7772400" y="5422392"/>
            <a:ext cx="4591000" cy="666849"/>
          </a:xfrm>
          <a:prstGeom prst="rect">
            <a:avLst/>
          </a:prstGeom>
          <a:noFill/>
        </p:spPr>
        <p:txBody>
          <a:bodyPr wrap="none" lIns="0" tIns="0" rIns="0" bIns="0">
            <a:spAutoFit/>
          </a:bodyPr>
          <a:lstStyle/>
          <a:p>
            <a:pPr>
              <a:lnSpc>
                <a:spcPts val="2640"/>
              </a:lnSpc>
              <a:spcBef>
                <a:spcPts val="0"/>
              </a:spcBef>
              <a:spcAft>
                <a:spcPts val="0"/>
              </a:spcAft>
              <a:defRPr sz="2200" b="0">
                <a:solidFill>
                  <a:srgbClr val="0B3C4C"/>
                </a:solidFill>
                <a:latin typeface="Barlow"/>
              </a:defRPr>
            </a:pPr>
            <a:r>
              <a:rPr lang="en-US"/>
              <a:t>Restore a backup and review decision
history, retention and upgrades.</a:t>
            </a:r>
            <a:endParaRPr/>
          </a:p>
        </p:txBody>
      </p:sp>
      <p:sp>
        <p:nvSpPr>
          <p:cNvPr id="901" name="JNX Rule"/>
          <p:cNvSpPr/>
          <p:nvPr/>
        </p:nvSpPr>
        <p:spPr>
          <a:xfrm>
            <a:off x="508000" y="1016000"/>
            <a:ext cx="13627100" cy="19050"/>
          </a:xfrm>
          <a:prstGeom prst="rect">
            <a:avLst/>
          </a:prstGeom>
          <a:solidFill>
            <a:srgbClr val="0B3C4C"/>
          </a:solidFill>
          <a:ln>
            <a:noFill/>
          </a:ln>
        </p:spPr>
        <p:txBody>
          <a:bodyPr/>
          <a:lstStyle/>
          <a:p>
            <a:endParaRPr lang="en-JP"/>
          </a:p>
        </p:txBody>
      </p:sp>
      <p:pic>
        <p:nvPicPr>
          <p:cNvPr id="902" name="Copied Picture 902" descr="Japannext JNX logo">
            <a:extLst>
              <a:ext uri="{FF2B5EF4-FFF2-40B4-BE49-F238E27FC236}">
                <a16:creationId xmlns:a16="http://schemas.microsoft.com/office/drawing/2014/main" id="{429122C2-2B95-92FB-9A5C-2E92C9458AAC}"/>
              </a:ext>
            </a:extLst>
          </p:cNvPr>
          <p:cNvPicPr>
            <a:picLocks noChangeAspect="1"/>
          </p:cNvPicPr>
          <p:nvPr/>
        </p:nvPicPr>
        <p:blipFill>
          <a:blip r:embed="rId3">
            <a:clrChange>
              <a:clrFrom>
                <a:srgbClr val="FFFFFF"/>
              </a:clrFrom>
              <a:clrTo>
                <a:srgbClr val="FFFFFF">
                  <a:alpha val="0"/>
                </a:srgbClr>
              </a:clrTo>
            </a:clrChange>
          </a:blip>
          <a:srcRect l="13500" t="21500" r="13800" b="22500"/>
          <a:stretch>
            <a:fillRect/>
          </a:stretch>
        </p:blipFill>
        <p:spPr>
          <a:xfrm>
            <a:off x="12725400" y="254000"/>
            <a:ext cx="1409700" cy="660400"/>
          </a:xfrm>
          <a:prstGeom prst="rect">
            <a:avLst/>
          </a:prstGeom>
        </p:spPr>
      </p:pic>
    </p:spTree>
    <p:extLst>
      <p:ext uri="{BB962C8B-B14F-4D97-AF65-F5344CB8AC3E}">
        <p14:creationId xmlns:p14="http://schemas.microsoft.com/office/powerpoint/2010/main" val="21271654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6900" y="1270000"/>
            <a:ext cx="965200" cy="274320"/>
          </a:xfrm>
          <a:prstGeom prst="rect">
            <a:avLst/>
          </a:prstGeom>
          <a:noFill/>
        </p:spPr>
        <p:txBody>
          <a:bodyPr wrap="square" lIns="0" tIns="0" rIns="0" bIns="0">
            <a:noAutofit/>
          </a:bodyPr>
          <a:lstStyle/>
          <a:p>
            <a:pPr>
              <a:spcAft>
                <a:spcPts val="700"/>
              </a:spcAft>
              <a:defRPr sz="1100" b="1">
                <a:solidFill>
                  <a:srgbClr val="00708A"/>
                </a:solidFill>
                <a:latin typeface="Barlow"/>
              </a:defRPr>
            </a:pPr>
            <a:r>
              <a:t>SERVICEOPS</a:t>
            </a:r>
          </a:p>
        </p:txBody>
      </p:sp>
      <p:sp>
        <p:nvSpPr>
          <p:cNvPr id="4" name="TextBox 3"/>
          <p:cNvSpPr txBox="1"/>
          <p:nvPr/>
        </p:nvSpPr>
        <p:spPr>
          <a:xfrm>
            <a:off x="1714500" y="1270000"/>
            <a:ext cx="11430000" cy="365760"/>
          </a:xfrm>
          <a:prstGeom prst="rect">
            <a:avLst/>
          </a:prstGeom>
          <a:noFill/>
        </p:spPr>
        <p:txBody>
          <a:bodyPr wrap="square" lIns="0" tIns="0" rIns="0" bIns="0">
            <a:spAutoFit/>
          </a:bodyPr>
          <a:lstStyle/>
          <a:p>
            <a:pPr>
              <a:spcAft>
                <a:spcPts val="700"/>
              </a:spcAft>
              <a:defRPr sz="1200" b="1">
                <a:solidFill>
                  <a:srgbClr val="4F6670"/>
                </a:solidFill>
                <a:latin typeface="Barlow"/>
              </a:defRPr>
            </a:pPr>
            <a:r>
              <a:t>THE COST OF DISCONNECTED PLANS</a:t>
            </a:r>
          </a:p>
        </p:txBody>
      </p:sp>
      <p:sp>
        <p:nvSpPr>
          <p:cNvPr id="5" name="TextBox 4"/>
          <p:cNvSpPr txBox="1"/>
          <p:nvPr/>
        </p:nvSpPr>
        <p:spPr>
          <a:xfrm>
            <a:off x="596900" y="304800"/>
            <a:ext cx="11430000" cy="400110"/>
          </a:xfrm>
          <a:prstGeom prst="rect">
            <a:avLst/>
          </a:prstGeom>
          <a:noFill/>
        </p:spPr>
        <p:txBody>
          <a:bodyPr wrap="square" lIns="0" tIns="0" rIns="0" bIns="0">
            <a:spAutoFit/>
          </a:bodyPr>
          <a:lstStyle/>
          <a:p>
            <a:pPr>
              <a:spcAft>
                <a:spcPts val="700"/>
              </a:spcAft>
              <a:defRPr sz="3000" b="1">
                <a:solidFill>
                  <a:srgbClr val="0B3C4C"/>
                </a:solidFill>
                <a:latin typeface="Barlow"/>
              </a:defRPr>
            </a:pPr>
            <a:r>
              <a:rPr sz="2600"/>
              <a:t>The danger is not bad teams—it is separate plans.</a:t>
            </a:r>
          </a:p>
        </p:txBody>
      </p:sp>
      <p:sp>
        <p:nvSpPr>
          <p:cNvPr id="6" name="TextBox 5"/>
          <p:cNvSpPr txBox="1"/>
          <p:nvPr/>
        </p:nvSpPr>
        <p:spPr>
          <a:xfrm>
            <a:off x="596900" y="1625600"/>
            <a:ext cx="13436600" cy="307777"/>
          </a:xfrm>
          <a:prstGeom prst="rect">
            <a:avLst/>
          </a:prstGeom>
          <a:noFill/>
        </p:spPr>
        <p:txBody>
          <a:bodyPr wrap="square" lIns="0" tIns="0" rIns="0" bIns="0">
            <a:spAutoFit/>
          </a:bodyPr>
          <a:lstStyle/>
          <a:p>
            <a:pPr>
              <a:spcAft>
                <a:spcPts val="700"/>
              </a:spcAft>
              <a:defRPr sz="2000" b="0">
                <a:solidFill>
                  <a:srgbClr val="4F6670"/>
                </a:solidFill>
                <a:latin typeface="Barlow"/>
              </a:defRPr>
            </a:pPr>
            <a:r>
              <a:t>When teams cannot see shared dependencies, valid changes can collide and handovers become assumptions.</a:t>
            </a:r>
          </a:p>
        </p:txBody>
      </p:sp>
      <p:sp>
        <p:nvSpPr>
          <p:cNvPr id="7" name="Rectangle 6"/>
          <p:cNvSpPr/>
          <p:nvPr/>
        </p:nvSpPr>
        <p:spPr>
          <a:xfrm>
            <a:off x="594360" y="7754112"/>
            <a:ext cx="13441680" cy="10972"/>
          </a:xfrm>
          <a:prstGeom prst="rect">
            <a:avLst/>
          </a:prstGeom>
          <a:solidFill>
            <a:srgbClr val="D5D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7909560"/>
            <a:ext cx="10058400" cy="182880"/>
          </a:xfrm>
          <a:prstGeom prst="rect">
            <a:avLst/>
          </a:prstGeom>
          <a:noFill/>
        </p:spPr>
        <p:txBody>
          <a:bodyPr wrap="square" lIns="0" tIns="0" rIns="0" bIns="0">
            <a:spAutoFit/>
          </a:bodyPr>
          <a:lstStyle/>
          <a:p>
            <a:pPr>
              <a:spcAft>
                <a:spcPts val="700"/>
              </a:spcAft>
              <a:defRPr sz="900" b="0">
                <a:solidFill>
                  <a:srgbClr val="4F6670"/>
                </a:solidFill>
                <a:latin typeface="Barlow"/>
              </a:defRPr>
            </a:pPr>
            <a:r>
              <a:t>Anushka Wijesundara  /  Product overview</a:t>
            </a:r>
          </a:p>
        </p:txBody>
      </p:sp>
      <p:sp>
        <p:nvSpPr>
          <p:cNvPr id="9" name="TextBox 8"/>
          <p:cNvSpPr txBox="1"/>
          <p:nvPr/>
        </p:nvSpPr>
        <p:spPr>
          <a:xfrm>
            <a:off x="13487400" y="7854696"/>
            <a:ext cx="548640" cy="274320"/>
          </a:xfrm>
          <a:prstGeom prst="rect">
            <a:avLst/>
          </a:prstGeom>
          <a:noFill/>
        </p:spPr>
        <p:txBody>
          <a:bodyPr wrap="square" lIns="0" tIns="0" rIns="0" bIns="0">
            <a:spAutoFit/>
          </a:bodyPr>
          <a:lstStyle/>
          <a:p>
            <a:pPr>
              <a:spcAft>
                <a:spcPts val="700"/>
              </a:spcAft>
              <a:defRPr sz="1200" b="1">
                <a:solidFill>
                  <a:srgbClr val="00708A"/>
                </a:solidFill>
                <a:latin typeface="Barlow"/>
              </a:defRPr>
            </a:pPr>
            <a:r>
              <a:rPr lang="en-JP"/>
              <a:t>02</a:t>
            </a:r>
            <a:endParaRPr/>
          </a:p>
        </p:txBody>
      </p:sp>
      <p:sp>
        <p:nvSpPr>
          <p:cNvPr id="901" name="JNX Rule"/>
          <p:cNvSpPr/>
          <p:nvPr/>
        </p:nvSpPr>
        <p:spPr>
          <a:xfrm>
            <a:off x="596900" y="1016000"/>
            <a:ext cx="13436600" cy="19050"/>
          </a:xfrm>
          <a:prstGeom prst="rect">
            <a:avLst/>
          </a:prstGeom>
          <a:solidFill>
            <a:srgbClr val="0B3C4C"/>
          </a:solidFill>
          <a:ln>
            <a:noFill/>
          </a:ln>
        </p:spPr>
        <p:txBody>
          <a:bodyPr/>
          <a:lstStyle/>
          <a:p>
            <a:endParaRPr lang="en-JP"/>
          </a:p>
        </p:txBody>
      </p:sp>
      <p:pic>
        <p:nvPicPr>
          <p:cNvPr id="903" name="Copied Picture 903" descr="Japannext JNX logo">
            <a:extLst>
              <a:ext uri="{FF2B5EF4-FFF2-40B4-BE49-F238E27FC236}">
                <a16:creationId xmlns:a16="http://schemas.microsoft.com/office/drawing/2014/main" id="{429122C2-2B95-92FB-9A5C-2E92C9458AAC}"/>
              </a:ext>
            </a:extLst>
          </p:cNvPr>
          <p:cNvPicPr>
            <a:picLocks noChangeAspect="1"/>
          </p:cNvPicPr>
          <p:nvPr/>
        </p:nvPicPr>
        <p:blipFill>
          <a:blip r:embed="rId3">
            <a:clrChange>
              <a:clrFrom>
                <a:srgbClr val="FFFFFF"/>
              </a:clrFrom>
              <a:clrTo>
                <a:srgbClr val="FFFFFF">
                  <a:alpha val="0"/>
                </a:srgbClr>
              </a:clrTo>
            </a:clrChange>
          </a:blip>
          <a:srcRect l="13500" t="21500" r="13800" b="22500"/>
          <a:stretch>
            <a:fillRect/>
          </a:stretch>
        </p:blipFill>
        <p:spPr>
          <a:xfrm>
            <a:off x="12623800" y="254000"/>
            <a:ext cx="1409700" cy="660400"/>
          </a:xfrm>
          <a:prstGeom prst="rect">
            <a:avLst/>
          </a:prstGeom>
        </p:spPr>
      </p:pic>
      <p:sp>
        <p:nvSpPr>
          <p:cNvPr id="950" name="Body 950"/>
          <p:cNvSpPr/>
          <p:nvPr/>
        </p:nvSpPr>
        <p:spPr>
          <a:xfrm>
            <a:off x="596900" y="3048000"/>
            <a:ext cx="4275667" cy="2794000"/>
          </a:xfrm>
          <a:prstGeom prst="rect">
            <a:avLst/>
          </a:prstGeom>
          <a:solidFill>
            <a:srgbClr val="EFF4F6"/>
          </a:solidFill>
          <a:ln>
            <a:noFill/>
          </a:ln>
        </p:spPr>
        <p:txBody>
          <a:bodyPr wrap="square" lIns="355600" tIns="355600" rIns="355600" bIns="355600" anchor="t">
            <a:noAutofit/>
          </a:bodyPr>
          <a:lstStyle/>
          <a:p>
            <a:pPr>
              <a:spcBef>
                <a:spcPts val="0"/>
              </a:spcBef>
              <a:buNone/>
            </a:pPr>
            <a:r>
              <a:rPr lang="en-US" sz="4400" b="1" dirty="0">
                <a:solidFill>
                  <a:srgbClr val="F5A623"/>
                </a:solidFill>
                <a:latin typeface="Barlow"/>
              </a:rPr>
              <a:t>01</a:t>
            </a:r>
          </a:p>
          <a:p>
            <a:pPr>
              <a:spcBef>
                <a:spcPts val="1400"/>
              </a:spcBef>
              <a:buNone/>
            </a:pPr>
            <a:r>
              <a:rPr lang="en-US" sz="2400" b="1" dirty="0">
                <a:solidFill>
                  <a:srgbClr val="0B3C4C"/>
                </a:solidFill>
                <a:latin typeface="Barlow"/>
              </a:rPr>
              <a:t>Plans stay separate</a:t>
            </a:r>
          </a:p>
          <a:p>
            <a:pPr>
              <a:spcBef>
                <a:spcPts val="1000"/>
              </a:spcBef>
              <a:buNone/>
            </a:pPr>
            <a:r>
              <a:rPr lang="en-US" sz="1800" b="0" dirty="0">
                <a:solidFill>
                  <a:srgbClr val="4F6670"/>
                </a:solidFill>
                <a:latin typeface="Barlow"/>
              </a:rPr>
              <a:t>Unix and Network can schedule overlapping work on linked equipment.</a:t>
            </a:r>
          </a:p>
        </p:txBody>
      </p:sp>
      <p:sp>
        <p:nvSpPr>
          <p:cNvPr id="951" name="Body 951"/>
          <p:cNvSpPr/>
          <p:nvPr/>
        </p:nvSpPr>
        <p:spPr>
          <a:xfrm>
            <a:off x="5177367" y="3048000"/>
            <a:ext cx="4275667" cy="2794000"/>
          </a:xfrm>
          <a:prstGeom prst="rect">
            <a:avLst/>
          </a:prstGeom>
          <a:solidFill>
            <a:srgbClr val="EFF4F6"/>
          </a:solidFill>
          <a:ln>
            <a:noFill/>
          </a:ln>
        </p:spPr>
        <p:txBody>
          <a:bodyPr wrap="square" lIns="355600" tIns="355600" rIns="355600" bIns="355600" anchor="t">
            <a:noAutofit/>
          </a:bodyPr>
          <a:lstStyle/>
          <a:p>
            <a:pPr>
              <a:spcBef>
                <a:spcPts val="0"/>
              </a:spcBef>
              <a:buNone/>
            </a:pPr>
            <a:r>
              <a:rPr lang="en-US" sz="4400" b="1" dirty="0">
                <a:solidFill>
                  <a:srgbClr val="F5A623"/>
                </a:solidFill>
                <a:latin typeface="Barlow"/>
              </a:rPr>
              <a:t>02</a:t>
            </a:r>
          </a:p>
          <a:p>
            <a:pPr>
              <a:spcBef>
                <a:spcPts val="1400"/>
              </a:spcBef>
              <a:buNone/>
            </a:pPr>
            <a:r>
              <a:rPr lang="en-US" sz="2400" b="1" dirty="0">
                <a:solidFill>
                  <a:srgbClr val="0B3C4C"/>
                </a:solidFill>
                <a:latin typeface="Barlow"/>
              </a:rPr>
              <a:t>Decisions get lost</a:t>
            </a:r>
          </a:p>
          <a:p>
            <a:pPr>
              <a:spcBef>
                <a:spcPts val="1000"/>
              </a:spcBef>
              <a:buNone/>
            </a:pPr>
            <a:r>
              <a:rPr lang="en-US" sz="1800" b="0" dirty="0">
                <a:solidFill>
                  <a:srgbClr val="4F6670"/>
                </a:solidFill>
                <a:latin typeface="Barlow"/>
              </a:rPr>
              <a:t>Email and chat leave teams unsure which plan was approved.</a:t>
            </a:r>
          </a:p>
        </p:txBody>
      </p:sp>
      <p:sp>
        <p:nvSpPr>
          <p:cNvPr id="952" name="Body 952"/>
          <p:cNvSpPr/>
          <p:nvPr/>
        </p:nvSpPr>
        <p:spPr>
          <a:xfrm>
            <a:off x="9757833" y="3048000"/>
            <a:ext cx="4275667" cy="2794000"/>
          </a:xfrm>
          <a:prstGeom prst="rect">
            <a:avLst/>
          </a:prstGeom>
          <a:solidFill>
            <a:srgbClr val="EFF4F6"/>
          </a:solidFill>
          <a:ln>
            <a:noFill/>
          </a:ln>
        </p:spPr>
        <p:txBody>
          <a:bodyPr wrap="square" lIns="355600" tIns="355600" rIns="355600" bIns="355600" anchor="t">
            <a:noAutofit/>
          </a:bodyPr>
          <a:lstStyle/>
          <a:p>
            <a:pPr>
              <a:spcBef>
                <a:spcPts val="0"/>
              </a:spcBef>
              <a:buNone/>
            </a:pPr>
            <a:r>
              <a:rPr lang="en-US" sz="4400" b="1" dirty="0">
                <a:solidFill>
                  <a:srgbClr val="F5A623"/>
                </a:solidFill>
                <a:latin typeface="Barlow"/>
              </a:rPr>
              <a:t>03</a:t>
            </a:r>
          </a:p>
          <a:p>
            <a:pPr>
              <a:spcBef>
                <a:spcPts val="1400"/>
              </a:spcBef>
              <a:buNone/>
            </a:pPr>
            <a:r>
              <a:rPr lang="en-US" sz="2400" b="1" dirty="0">
                <a:solidFill>
                  <a:srgbClr val="0B3C4C"/>
                </a:solidFill>
                <a:latin typeface="Barlow"/>
              </a:rPr>
              <a:t>Impact stays hidden</a:t>
            </a:r>
          </a:p>
          <a:p>
            <a:pPr>
              <a:spcBef>
                <a:spcPts val="1000"/>
              </a:spcBef>
              <a:buNone/>
            </a:pPr>
            <a:r>
              <a:rPr lang="en-US" sz="1800" b="0" dirty="0">
                <a:solidFill>
                  <a:srgbClr val="4F6670"/>
                </a:solidFill>
                <a:latin typeface="Barlow"/>
              </a:rPr>
              <a:t>Without maintained service links, teams cannot see who else is affected.</a:t>
            </a:r>
          </a:p>
        </p:txBody>
      </p:sp>
    </p:spTree>
    <p:extLst>
      <p:ext uri="{BB962C8B-B14F-4D97-AF65-F5344CB8AC3E}">
        <p14:creationId xmlns:p14="http://schemas.microsoft.com/office/powerpoint/2010/main" val="36952781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6900" y="1270000"/>
            <a:ext cx="965200" cy="274320"/>
          </a:xfrm>
          <a:prstGeom prst="rect">
            <a:avLst/>
          </a:prstGeom>
          <a:noFill/>
        </p:spPr>
        <p:txBody>
          <a:bodyPr wrap="square" lIns="0" tIns="0" rIns="0" bIns="0">
            <a:noAutofit/>
          </a:bodyPr>
          <a:lstStyle/>
          <a:p>
            <a:pPr>
              <a:spcAft>
                <a:spcPts val="700"/>
              </a:spcAft>
              <a:defRPr sz="1100" b="1">
                <a:solidFill>
                  <a:srgbClr val="00708A"/>
                </a:solidFill>
                <a:latin typeface="Barlow"/>
              </a:defRPr>
            </a:pPr>
            <a:r>
              <a:t>SERVICEOPS</a:t>
            </a:r>
          </a:p>
        </p:txBody>
      </p:sp>
      <p:sp>
        <p:nvSpPr>
          <p:cNvPr id="4" name="TextBox 3"/>
          <p:cNvSpPr txBox="1"/>
          <p:nvPr/>
        </p:nvSpPr>
        <p:spPr>
          <a:xfrm>
            <a:off x="1714500" y="1270000"/>
            <a:ext cx="11430000" cy="365760"/>
          </a:xfrm>
          <a:prstGeom prst="rect">
            <a:avLst/>
          </a:prstGeom>
          <a:noFill/>
        </p:spPr>
        <p:txBody>
          <a:bodyPr wrap="square" lIns="0" tIns="0" rIns="0" bIns="0">
            <a:spAutoFit/>
          </a:bodyPr>
          <a:lstStyle/>
          <a:p>
            <a:pPr>
              <a:spcAft>
                <a:spcPts val="700"/>
              </a:spcAft>
              <a:defRPr sz="1200" b="1">
                <a:solidFill>
                  <a:srgbClr val="4F6670"/>
                </a:solidFill>
                <a:latin typeface="Barlow"/>
              </a:defRPr>
            </a:pPr>
            <a:r>
              <a:t>FROM TRACKING TO COORDINATION</a:t>
            </a:r>
          </a:p>
        </p:txBody>
      </p:sp>
      <p:sp>
        <p:nvSpPr>
          <p:cNvPr id="5" name="TextBox 4"/>
          <p:cNvSpPr txBox="1"/>
          <p:nvPr/>
        </p:nvSpPr>
        <p:spPr>
          <a:xfrm>
            <a:off x="596900" y="304800"/>
            <a:ext cx="11430000" cy="400110"/>
          </a:xfrm>
          <a:prstGeom prst="rect">
            <a:avLst/>
          </a:prstGeom>
          <a:noFill/>
        </p:spPr>
        <p:txBody>
          <a:bodyPr wrap="square" lIns="0" tIns="0" rIns="0" bIns="0">
            <a:spAutoFit/>
          </a:bodyPr>
          <a:lstStyle/>
          <a:p>
            <a:pPr>
              <a:spcAft>
                <a:spcPts val="700"/>
              </a:spcAft>
              <a:defRPr sz="2600" b="1">
                <a:solidFill>
                  <a:srgbClr val="0B3C4C"/>
                </a:solidFill>
                <a:latin typeface="Barlow"/>
              </a:defRPr>
            </a:pPr>
            <a:r>
              <a:rPr sz="2600"/>
              <a:t>Move from logging changes to coordinating them.</a:t>
            </a:r>
          </a:p>
        </p:txBody>
      </p:sp>
      <p:sp>
        <p:nvSpPr>
          <p:cNvPr id="6" name="TextBox 5"/>
          <p:cNvSpPr txBox="1"/>
          <p:nvPr/>
        </p:nvSpPr>
        <p:spPr>
          <a:xfrm>
            <a:off x="596900" y="1625600"/>
            <a:ext cx="13436600" cy="307777"/>
          </a:xfrm>
          <a:prstGeom prst="rect">
            <a:avLst/>
          </a:prstGeom>
          <a:noFill/>
        </p:spPr>
        <p:txBody>
          <a:bodyPr wrap="square" lIns="0" tIns="0" rIns="0" bIns="0">
            <a:spAutoFit/>
          </a:bodyPr>
          <a:lstStyle/>
          <a:p>
            <a:pPr>
              <a:spcAft>
                <a:spcPts val="700"/>
              </a:spcAft>
              <a:defRPr sz="2000" b="0">
                <a:solidFill>
                  <a:srgbClr val="4F6670"/>
                </a:solidFill>
                <a:latin typeface="Barlow"/>
              </a:defRPr>
            </a:pPr>
            <a:r>
              <a:t>ServiceOps brings shared records, dependency context and change controls into the same workflow.</a:t>
            </a:r>
          </a:p>
        </p:txBody>
      </p:sp>
      <p:sp>
        <p:nvSpPr>
          <p:cNvPr id="7" name="Rectangle 6"/>
          <p:cNvSpPr/>
          <p:nvPr/>
        </p:nvSpPr>
        <p:spPr>
          <a:xfrm>
            <a:off x="594360" y="7754112"/>
            <a:ext cx="13441680" cy="10972"/>
          </a:xfrm>
          <a:prstGeom prst="rect">
            <a:avLst/>
          </a:prstGeom>
          <a:solidFill>
            <a:srgbClr val="D5D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7909560"/>
            <a:ext cx="10058400" cy="182880"/>
          </a:xfrm>
          <a:prstGeom prst="rect">
            <a:avLst/>
          </a:prstGeom>
          <a:noFill/>
        </p:spPr>
        <p:txBody>
          <a:bodyPr wrap="square" lIns="0" tIns="0" rIns="0" bIns="0">
            <a:spAutoFit/>
          </a:bodyPr>
          <a:lstStyle/>
          <a:p>
            <a:pPr>
              <a:spcAft>
                <a:spcPts val="700"/>
              </a:spcAft>
              <a:defRPr sz="900" b="0">
                <a:solidFill>
                  <a:srgbClr val="4F6670"/>
                </a:solidFill>
                <a:latin typeface="Barlow"/>
              </a:defRPr>
            </a:pPr>
            <a:r>
              <a:t>Anushka Wijesundara  /  Product overview</a:t>
            </a:r>
          </a:p>
        </p:txBody>
      </p:sp>
      <p:sp>
        <p:nvSpPr>
          <p:cNvPr id="9" name="TextBox 8"/>
          <p:cNvSpPr txBox="1"/>
          <p:nvPr/>
        </p:nvSpPr>
        <p:spPr>
          <a:xfrm>
            <a:off x="13487400" y="7854696"/>
            <a:ext cx="548640" cy="184666"/>
          </a:xfrm>
          <a:prstGeom prst="rect">
            <a:avLst/>
          </a:prstGeom>
          <a:noFill/>
        </p:spPr>
        <p:txBody>
          <a:bodyPr wrap="square" lIns="0" tIns="0" rIns="0" bIns="0">
            <a:spAutoFit/>
          </a:bodyPr>
          <a:lstStyle/>
          <a:p>
            <a:pPr>
              <a:spcAft>
                <a:spcPts val="700"/>
              </a:spcAft>
              <a:defRPr sz="1200" b="1">
                <a:solidFill>
                  <a:srgbClr val="00708A"/>
                </a:solidFill>
                <a:latin typeface="Barlow"/>
              </a:defRPr>
            </a:pPr>
            <a:r>
              <a:rPr lang="en-JP"/>
              <a:t>03</a:t>
            </a:r>
            <a:endParaRPr/>
          </a:p>
        </p:txBody>
      </p:sp>
      <p:sp>
        <p:nvSpPr>
          <p:cNvPr id="901" name="JNX Rule"/>
          <p:cNvSpPr/>
          <p:nvPr/>
        </p:nvSpPr>
        <p:spPr>
          <a:xfrm>
            <a:off x="596900" y="1016000"/>
            <a:ext cx="13436600" cy="19050"/>
          </a:xfrm>
          <a:prstGeom prst="rect">
            <a:avLst/>
          </a:prstGeom>
          <a:solidFill>
            <a:srgbClr val="0B3C4C"/>
          </a:solidFill>
          <a:ln>
            <a:noFill/>
          </a:ln>
        </p:spPr>
        <p:txBody>
          <a:bodyPr/>
          <a:lstStyle/>
          <a:p>
            <a:endParaRPr lang="en-JP"/>
          </a:p>
        </p:txBody>
      </p:sp>
      <p:pic>
        <p:nvPicPr>
          <p:cNvPr id="903" name="Copied Picture 903" descr="Japannext JNX logo">
            <a:extLst>
              <a:ext uri="{FF2B5EF4-FFF2-40B4-BE49-F238E27FC236}">
                <a16:creationId xmlns:a16="http://schemas.microsoft.com/office/drawing/2014/main" id="{429122C2-2B95-92FB-9A5C-2E92C9458AAC}"/>
              </a:ext>
            </a:extLst>
          </p:cNvPr>
          <p:cNvPicPr>
            <a:picLocks noChangeAspect="1"/>
          </p:cNvPicPr>
          <p:nvPr/>
        </p:nvPicPr>
        <p:blipFill>
          <a:blip r:embed="rId3">
            <a:clrChange>
              <a:clrFrom>
                <a:srgbClr val="FFFFFF"/>
              </a:clrFrom>
              <a:clrTo>
                <a:srgbClr val="FFFFFF">
                  <a:alpha val="0"/>
                </a:srgbClr>
              </a:clrTo>
            </a:clrChange>
          </a:blip>
          <a:srcRect l="13500" t="21500" r="13800" b="22500"/>
          <a:stretch>
            <a:fillRect/>
          </a:stretch>
        </p:blipFill>
        <p:spPr>
          <a:xfrm>
            <a:off x="12623800" y="254000"/>
            <a:ext cx="1409700" cy="660400"/>
          </a:xfrm>
          <a:prstGeom prst="rect">
            <a:avLst/>
          </a:prstGeom>
        </p:spPr>
      </p:pic>
      <p:sp>
        <p:nvSpPr>
          <p:cNvPr id="980" name="Diagram 981"/>
          <p:cNvSpPr/>
          <p:nvPr/>
        </p:nvSpPr>
        <p:spPr>
          <a:xfrm>
            <a:off x="596900" y="2984500"/>
            <a:ext cx="3810000" cy="2032000"/>
          </a:xfrm>
          <a:prstGeom prst="roundRect">
            <a:avLst/>
          </a:prstGeom>
          <a:solidFill>
            <a:srgbClr val="D5DDE0"/>
          </a:solidFill>
          <a:ln>
            <a:noFill/>
          </a:ln>
        </p:spPr>
        <p:txBody>
          <a:bodyPr wrap="square" lIns="279400" tIns="508000" rIns="279400" bIns="508000" anchor="t">
            <a:noAutofit/>
          </a:bodyPr>
          <a:lstStyle/>
          <a:p>
            <a:pPr algn="l">
              <a:spcBef>
                <a:spcPts val="0"/>
              </a:spcBef>
              <a:buNone/>
            </a:pPr>
            <a:r>
              <a:rPr lang="en-US" sz="1400" b="1" dirty="0">
                <a:solidFill>
                  <a:srgbClr val="4F6670"/>
                </a:solidFill>
                <a:latin typeface="Barlow"/>
              </a:rPr>
              <a:t>STEP 1</a:t>
            </a:r>
          </a:p>
          <a:p>
            <a:pPr algn="l">
              <a:spcBef>
                <a:spcPts val="300"/>
              </a:spcBef>
              <a:buNone/>
            </a:pPr>
            <a:r>
              <a:rPr lang="en-US" sz="2800" b="1" dirty="0">
                <a:solidFill>
                  <a:srgbClr val="0B3C4C"/>
                </a:solidFill>
                <a:latin typeface="Barlow"/>
              </a:rPr>
              <a:t>Share the plan</a:t>
            </a:r>
          </a:p>
        </p:txBody>
      </p:sp>
      <p:sp>
        <p:nvSpPr>
          <p:cNvPr id="981" name="Diagram 982"/>
          <p:cNvSpPr/>
          <p:nvPr/>
        </p:nvSpPr>
        <p:spPr>
          <a:xfrm>
            <a:off x="4559300" y="3492500"/>
            <a:ext cx="698500" cy="1016000"/>
          </a:xfrm>
          <a:prstGeom prst="rightArrow">
            <a:avLst/>
          </a:prstGeom>
          <a:solidFill>
            <a:srgbClr val="D5DDE0"/>
          </a:solidFill>
          <a:ln>
            <a:noFill/>
          </a:ln>
        </p:spPr>
        <p:txBody>
          <a:bodyPr wrap="square" lIns="0" tIns="0" rIns="0" bIns="0" anchor="t">
            <a:noAutofit/>
          </a:bodyPr>
          <a:lstStyle/>
          <a:p>
            <a:endParaRPr lang="en-US" sz="1000"/>
          </a:p>
        </p:txBody>
      </p:sp>
      <p:sp>
        <p:nvSpPr>
          <p:cNvPr id="982" name="Diagram 983"/>
          <p:cNvSpPr/>
          <p:nvPr/>
        </p:nvSpPr>
        <p:spPr>
          <a:xfrm>
            <a:off x="596900" y="5397500"/>
            <a:ext cx="3810000" cy="50800"/>
          </a:xfrm>
          <a:prstGeom prst="rect">
            <a:avLst/>
          </a:prstGeom>
          <a:solidFill>
            <a:srgbClr val="D5DDE0"/>
          </a:solidFill>
          <a:ln>
            <a:noFill/>
          </a:ln>
        </p:spPr>
        <p:txBody>
          <a:bodyPr wrap="square" lIns="0" tIns="0" rIns="0" bIns="0" anchor="t">
            <a:noAutofit/>
          </a:bodyPr>
          <a:lstStyle/>
          <a:p>
            <a:endParaRPr lang="en-US" sz="1000"/>
          </a:p>
        </p:txBody>
      </p:sp>
      <p:sp>
        <p:nvSpPr>
          <p:cNvPr id="983" name="Diagram 984"/>
          <p:cNvSpPr/>
          <p:nvPr/>
        </p:nvSpPr>
        <p:spPr>
          <a:xfrm>
            <a:off x="596900" y="5613400"/>
            <a:ext cx="3810000" cy="1905000"/>
          </a:xfrm>
          <a:prstGeom prst="rect">
            <a:avLst/>
          </a:prstGeom>
          <a:noFill/>
          <a:ln>
            <a:noFill/>
          </a:ln>
        </p:spPr>
        <p:txBody>
          <a:bodyPr wrap="square" lIns="0" tIns="0" rIns="0" bIns="0" anchor="t">
            <a:noAutofit/>
          </a:bodyPr>
          <a:lstStyle/>
          <a:p>
            <a:pPr algn="l">
              <a:spcBef>
                <a:spcPts val="0"/>
              </a:spcBef>
              <a:buNone/>
            </a:pPr>
            <a:r>
              <a:rPr lang="en-US" sz="2000" b="1" dirty="0">
                <a:solidFill>
                  <a:srgbClr val="0B3C4C"/>
                </a:solidFill>
                <a:latin typeface="Barlow"/>
              </a:rPr>
              <a:t>Make work visible</a:t>
            </a:r>
          </a:p>
          <a:p>
            <a:pPr algn="l">
              <a:spcBef>
                <a:spcPts val="400"/>
              </a:spcBef>
              <a:buNone/>
            </a:pPr>
            <a:r>
              <a:rPr lang="en-US" sz="1800" b="0" dirty="0">
                <a:solidFill>
                  <a:srgbClr val="4F6670"/>
                </a:solidFill>
                <a:latin typeface="Barlow"/>
              </a:rPr>
              <a:t>Record the scope, window and owner so teams do not plan in isolation.</a:t>
            </a:r>
          </a:p>
        </p:txBody>
      </p:sp>
      <p:sp>
        <p:nvSpPr>
          <p:cNvPr id="984" name="Diagram 985"/>
          <p:cNvSpPr/>
          <p:nvPr/>
        </p:nvSpPr>
        <p:spPr>
          <a:xfrm>
            <a:off x="5410200" y="2984500"/>
            <a:ext cx="3810000" cy="2032000"/>
          </a:xfrm>
          <a:prstGeom prst="roundRect">
            <a:avLst/>
          </a:prstGeom>
          <a:solidFill>
            <a:srgbClr val="00708A"/>
          </a:solidFill>
          <a:ln>
            <a:noFill/>
          </a:ln>
        </p:spPr>
        <p:txBody>
          <a:bodyPr wrap="square" lIns="279400" tIns="508000" rIns="279400" bIns="508000" anchor="t">
            <a:noAutofit/>
          </a:bodyPr>
          <a:lstStyle/>
          <a:p>
            <a:pPr algn="l">
              <a:spcBef>
                <a:spcPts val="0"/>
              </a:spcBef>
              <a:buNone/>
            </a:pPr>
            <a:r>
              <a:rPr lang="en-US" sz="1400" b="1" dirty="0">
                <a:solidFill>
                  <a:srgbClr val="F5A623"/>
                </a:solidFill>
                <a:latin typeface="Barlow"/>
              </a:rPr>
              <a:t>STEP 2</a:t>
            </a:r>
          </a:p>
          <a:p>
            <a:pPr algn="l">
              <a:spcBef>
                <a:spcPts val="300"/>
              </a:spcBef>
              <a:buNone/>
            </a:pPr>
            <a:r>
              <a:rPr lang="en-US" sz="2800" b="1" dirty="0">
                <a:solidFill>
                  <a:srgbClr val="FFFFFF"/>
                </a:solidFill>
                <a:latin typeface="Barlow"/>
              </a:rPr>
              <a:t>Check the impact</a:t>
            </a:r>
          </a:p>
        </p:txBody>
      </p:sp>
      <p:sp>
        <p:nvSpPr>
          <p:cNvPr id="985" name="Diagram 986"/>
          <p:cNvSpPr/>
          <p:nvPr/>
        </p:nvSpPr>
        <p:spPr>
          <a:xfrm>
            <a:off x="9372600" y="3492500"/>
            <a:ext cx="698500" cy="1016000"/>
          </a:xfrm>
          <a:prstGeom prst="rightArrow">
            <a:avLst/>
          </a:prstGeom>
          <a:solidFill>
            <a:srgbClr val="D5DDE0"/>
          </a:solidFill>
          <a:ln>
            <a:noFill/>
          </a:ln>
        </p:spPr>
        <p:txBody>
          <a:bodyPr wrap="square" lIns="0" tIns="0" rIns="0" bIns="0" anchor="t">
            <a:noAutofit/>
          </a:bodyPr>
          <a:lstStyle/>
          <a:p>
            <a:endParaRPr lang="en-US" sz="1000"/>
          </a:p>
        </p:txBody>
      </p:sp>
      <p:sp>
        <p:nvSpPr>
          <p:cNvPr id="986" name="Diagram 987"/>
          <p:cNvSpPr/>
          <p:nvPr/>
        </p:nvSpPr>
        <p:spPr>
          <a:xfrm>
            <a:off x="5410200" y="5397500"/>
            <a:ext cx="3810000" cy="50800"/>
          </a:xfrm>
          <a:prstGeom prst="rect">
            <a:avLst/>
          </a:prstGeom>
          <a:solidFill>
            <a:srgbClr val="F5A623"/>
          </a:solidFill>
          <a:ln>
            <a:noFill/>
          </a:ln>
        </p:spPr>
        <p:txBody>
          <a:bodyPr wrap="square" lIns="0" tIns="0" rIns="0" bIns="0" anchor="t">
            <a:noAutofit/>
          </a:bodyPr>
          <a:lstStyle/>
          <a:p>
            <a:endParaRPr lang="en-US" sz="1000"/>
          </a:p>
        </p:txBody>
      </p:sp>
      <p:sp>
        <p:nvSpPr>
          <p:cNvPr id="987" name="Diagram 988"/>
          <p:cNvSpPr/>
          <p:nvPr/>
        </p:nvSpPr>
        <p:spPr>
          <a:xfrm>
            <a:off x="5410200" y="5613400"/>
            <a:ext cx="3810000" cy="1905000"/>
          </a:xfrm>
          <a:prstGeom prst="rect">
            <a:avLst/>
          </a:prstGeom>
          <a:noFill/>
          <a:ln>
            <a:noFill/>
          </a:ln>
        </p:spPr>
        <p:txBody>
          <a:bodyPr wrap="square" lIns="0" tIns="0" rIns="0" bIns="0" anchor="t">
            <a:noAutofit/>
          </a:bodyPr>
          <a:lstStyle/>
          <a:p>
            <a:pPr algn="l">
              <a:spcBef>
                <a:spcPts val="0"/>
              </a:spcBef>
              <a:buNone/>
            </a:pPr>
            <a:r>
              <a:rPr lang="en-US" sz="2000" b="1" dirty="0">
                <a:solidFill>
                  <a:srgbClr val="0B3C4C"/>
                </a:solidFill>
                <a:latin typeface="Barlow"/>
              </a:rPr>
              <a:t>Find the collision early</a:t>
            </a:r>
          </a:p>
          <a:p>
            <a:pPr algn="l">
              <a:spcBef>
                <a:spcPts val="400"/>
              </a:spcBef>
              <a:buNone/>
            </a:pPr>
            <a:r>
              <a:rPr lang="en-US" sz="1800" b="0" dirty="0">
                <a:solidFill>
                  <a:srgbClr val="4F6670"/>
                </a:solidFill>
                <a:latin typeface="Barlow"/>
              </a:rPr>
              <a:t>Use maintained links, conflict checks and freeze rules before delivery.</a:t>
            </a:r>
          </a:p>
        </p:txBody>
      </p:sp>
      <p:sp>
        <p:nvSpPr>
          <p:cNvPr id="988" name="Diagram 989"/>
          <p:cNvSpPr/>
          <p:nvPr/>
        </p:nvSpPr>
        <p:spPr>
          <a:xfrm>
            <a:off x="10223500" y="2984500"/>
            <a:ext cx="3810000" cy="2032000"/>
          </a:xfrm>
          <a:prstGeom prst="roundRect">
            <a:avLst/>
          </a:prstGeom>
          <a:solidFill>
            <a:srgbClr val="0B3C4C"/>
          </a:solidFill>
          <a:ln>
            <a:noFill/>
          </a:ln>
        </p:spPr>
        <p:txBody>
          <a:bodyPr wrap="square" lIns="279400" tIns="508000" rIns="279400" bIns="508000" anchor="t">
            <a:noAutofit/>
          </a:bodyPr>
          <a:lstStyle/>
          <a:p>
            <a:pPr algn="l">
              <a:spcBef>
                <a:spcPts val="0"/>
              </a:spcBef>
              <a:buNone/>
            </a:pPr>
            <a:r>
              <a:rPr lang="en-US" sz="1400" b="1" dirty="0">
                <a:solidFill>
                  <a:srgbClr val="F5A623"/>
                </a:solidFill>
                <a:latin typeface="Barlow"/>
              </a:rPr>
              <a:t>STEP 3</a:t>
            </a:r>
          </a:p>
          <a:p>
            <a:pPr algn="l">
              <a:spcBef>
                <a:spcPts val="300"/>
              </a:spcBef>
              <a:buNone/>
            </a:pPr>
            <a:r>
              <a:rPr lang="en-US" sz="2800" b="1" dirty="0">
                <a:solidFill>
                  <a:srgbClr val="FFFFFF"/>
                </a:solidFill>
                <a:latin typeface="Barlow"/>
              </a:rPr>
              <a:t>Align the teams</a:t>
            </a:r>
          </a:p>
        </p:txBody>
      </p:sp>
      <p:sp>
        <p:nvSpPr>
          <p:cNvPr id="989" name="Diagram 990"/>
          <p:cNvSpPr/>
          <p:nvPr/>
        </p:nvSpPr>
        <p:spPr>
          <a:xfrm>
            <a:off x="10223500" y="5397500"/>
            <a:ext cx="3810000" cy="50800"/>
          </a:xfrm>
          <a:prstGeom prst="rect">
            <a:avLst/>
          </a:prstGeom>
          <a:solidFill>
            <a:srgbClr val="F5A623"/>
          </a:solidFill>
          <a:ln>
            <a:noFill/>
          </a:ln>
        </p:spPr>
        <p:txBody>
          <a:bodyPr wrap="square" lIns="0" tIns="0" rIns="0" bIns="0" anchor="t">
            <a:noAutofit/>
          </a:bodyPr>
          <a:lstStyle/>
          <a:p>
            <a:endParaRPr lang="en-US" sz="1000"/>
          </a:p>
        </p:txBody>
      </p:sp>
      <p:sp>
        <p:nvSpPr>
          <p:cNvPr id="990" name="Diagram 991"/>
          <p:cNvSpPr/>
          <p:nvPr/>
        </p:nvSpPr>
        <p:spPr>
          <a:xfrm>
            <a:off x="10223500" y="5613400"/>
            <a:ext cx="3810000" cy="1905000"/>
          </a:xfrm>
          <a:prstGeom prst="rect">
            <a:avLst/>
          </a:prstGeom>
          <a:noFill/>
          <a:ln>
            <a:noFill/>
          </a:ln>
        </p:spPr>
        <p:txBody>
          <a:bodyPr wrap="square" lIns="0" tIns="0" rIns="0" bIns="0" anchor="t">
            <a:noAutofit/>
          </a:bodyPr>
          <a:lstStyle/>
          <a:p>
            <a:pPr algn="l">
              <a:spcBef>
                <a:spcPts val="0"/>
              </a:spcBef>
              <a:buNone/>
            </a:pPr>
            <a:r>
              <a:rPr lang="en-US" sz="2000" b="1" dirty="0">
                <a:solidFill>
                  <a:srgbClr val="0B3C4C"/>
                </a:solidFill>
                <a:latin typeface="Barlow"/>
              </a:rPr>
              <a:t>Make the handover clear</a:t>
            </a:r>
          </a:p>
          <a:p>
            <a:pPr algn="l">
              <a:spcBef>
                <a:spcPts val="400"/>
              </a:spcBef>
              <a:buNone/>
            </a:pPr>
            <a:r>
              <a:rPr lang="en-US" sz="1800" b="0" dirty="0">
                <a:solidFill>
                  <a:srgbClr val="4F6670"/>
                </a:solidFill>
                <a:latin typeface="Barlow"/>
              </a:rPr>
              <a:t>Keep approvals, tasks and recovery plans attached to the change.</a:t>
            </a:r>
          </a:p>
        </p:txBody>
      </p:sp>
    </p:spTree>
    <p:extLst>
      <p:ext uri="{BB962C8B-B14F-4D97-AF65-F5344CB8AC3E}">
        <p14:creationId xmlns:p14="http://schemas.microsoft.com/office/powerpoint/2010/main" val="20994091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6900" y="1270000"/>
            <a:ext cx="965200" cy="274320"/>
          </a:xfrm>
          <a:prstGeom prst="rect">
            <a:avLst/>
          </a:prstGeom>
          <a:noFill/>
        </p:spPr>
        <p:txBody>
          <a:bodyPr wrap="square" lIns="0" tIns="0" rIns="0" bIns="0">
            <a:noAutofit/>
          </a:bodyPr>
          <a:lstStyle/>
          <a:p>
            <a:pPr>
              <a:spcAft>
                <a:spcPts val="700"/>
              </a:spcAft>
              <a:defRPr sz="1100" b="1">
                <a:solidFill>
                  <a:srgbClr val="00708A"/>
                </a:solidFill>
                <a:latin typeface="Barlow"/>
              </a:defRPr>
            </a:pPr>
            <a:r>
              <a:t>SERVICEOPS</a:t>
            </a:r>
          </a:p>
        </p:txBody>
      </p:sp>
      <p:sp>
        <p:nvSpPr>
          <p:cNvPr id="4" name="TextBox 3"/>
          <p:cNvSpPr txBox="1"/>
          <p:nvPr/>
        </p:nvSpPr>
        <p:spPr>
          <a:xfrm>
            <a:off x="1714500" y="1270000"/>
            <a:ext cx="11430000" cy="365760"/>
          </a:xfrm>
          <a:prstGeom prst="rect">
            <a:avLst/>
          </a:prstGeom>
          <a:noFill/>
        </p:spPr>
        <p:txBody>
          <a:bodyPr wrap="square" lIns="0" tIns="0" rIns="0" bIns="0">
            <a:spAutoFit/>
          </a:bodyPr>
          <a:lstStyle/>
          <a:p>
            <a:pPr>
              <a:spcAft>
                <a:spcPts val="700"/>
              </a:spcAft>
              <a:defRPr sz="1200" b="1">
                <a:solidFill>
                  <a:srgbClr val="4F6670"/>
                </a:solidFill>
                <a:latin typeface="Barlow"/>
              </a:defRPr>
            </a:pPr>
            <a:r>
              <a:t>ONE PLAN / SHARED RESPONSIBILITY</a:t>
            </a:r>
          </a:p>
        </p:txBody>
      </p:sp>
      <p:sp>
        <p:nvSpPr>
          <p:cNvPr id="5" name="TextBox 4"/>
          <p:cNvSpPr txBox="1"/>
          <p:nvPr/>
        </p:nvSpPr>
        <p:spPr>
          <a:xfrm>
            <a:off x="596900" y="304800"/>
            <a:ext cx="11430000" cy="400110"/>
          </a:xfrm>
          <a:prstGeom prst="rect">
            <a:avLst/>
          </a:prstGeom>
          <a:noFill/>
        </p:spPr>
        <p:txBody>
          <a:bodyPr wrap="square" lIns="0" tIns="0" rIns="0" bIns="0">
            <a:spAutoFit/>
          </a:bodyPr>
          <a:lstStyle/>
          <a:p>
            <a:pPr>
              <a:spcAft>
                <a:spcPts val="700"/>
              </a:spcAft>
              <a:defRPr sz="2600" b="1">
                <a:solidFill>
                  <a:srgbClr val="0B3C4C"/>
                </a:solidFill>
                <a:latin typeface="Barlow"/>
              </a:defRPr>
            </a:pPr>
            <a:r>
              <a:rPr sz="2600"/>
              <a:t>Keep every team working from the same change record.</a:t>
            </a:r>
          </a:p>
        </p:txBody>
      </p:sp>
      <p:sp>
        <p:nvSpPr>
          <p:cNvPr id="6" name="TextBox 5"/>
          <p:cNvSpPr txBox="1"/>
          <p:nvPr/>
        </p:nvSpPr>
        <p:spPr>
          <a:xfrm>
            <a:off x="596900" y="1625600"/>
            <a:ext cx="13436600" cy="307777"/>
          </a:xfrm>
          <a:prstGeom prst="rect">
            <a:avLst/>
          </a:prstGeom>
          <a:noFill/>
        </p:spPr>
        <p:txBody>
          <a:bodyPr wrap="square" lIns="0" tIns="0" rIns="0" bIns="0">
            <a:spAutoFit/>
          </a:bodyPr>
          <a:lstStyle/>
          <a:p>
            <a:pPr>
              <a:spcAft>
                <a:spcPts val="700"/>
              </a:spcAft>
              <a:defRPr sz="2000" b="0">
                <a:solidFill>
                  <a:srgbClr val="4F6670"/>
                </a:solidFill>
                <a:latin typeface="Barlow"/>
              </a:defRPr>
            </a:pPr>
            <a:r>
              <a:t>Requesters, approvers and engineers need the same scope, owner and decision—not separate versions.</a:t>
            </a:r>
          </a:p>
        </p:txBody>
      </p:sp>
      <p:sp>
        <p:nvSpPr>
          <p:cNvPr id="7" name="Rectangle 6"/>
          <p:cNvSpPr/>
          <p:nvPr/>
        </p:nvSpPr>
        <p:spPr>
          <a:xfrm>
            <a:off x="594360" y="7754112"/>
            <a:ext cx="13441680" cy="10972"/>
          </a:xfrm>
          <a:prstGeom prst="rect">
            <a:avLst/>
          </a:prstGeom>
          <a:solidFill>
            <a:srgbClr val="D5D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7909560"/>
            <a:ext cx="10058400" cy="182880"/>
          </a:xfrm>
          <a:prstGeom prst="rect">
            <a:avLst/>
          </a:prstGeom>
          <a:noFill/>
        </p:spPr>
        <p:txBody>
          <a:bodyPr wrap="square" lIns="0" tIns="0" rIns="0" bIns="0">
            <a:spAutoFit/>
          </a:bodyPr>
          <a:lstStyle/>
          <a:p>
            <a:pPr>
              <a:spcAft>
                <a:spcPts val="700"/>
              </a:spcAft>
              <a:defRPr sz="900" b="0">
                <a:solidFill>
                  <a:srgbClr val="4F6670"/>
                </a:solidFill>
                <a:latin typeface="Barlow"/>
              </a:defRPr>
            </a:pPr>
            <a:r>
              <a:t>Anushka Wijesundara  /  Product overview</a:t>
            </a:r>
          </a:p>
        </p:txBody>
      </p:sp>
      <p:sp>
        <p:nvSpPr>
          <p:cNvPr id="9" name="TextBox 8"/>
          <p:cNvSpPr txBox="1"/>
          <p:nvPr/>
        </p:nvSpPr>
        <p:spPr>
          <a:xfrm>
            <a:off x="13487400" y="7854696"/>
            <a:ext cx="548640" cy="184666"/>
          </a:xfrm>
          <a:prstGeom prst="rect">
            <a:avLst/>
          </a:prstGeom>
          <a:noFill/>
        </p:spPr>
        <p:txBody>
          <a:bodyPr wrap="square" lIns="0" tIns="0" rIns="0" bIns="0">
            <a:spAutoFit/>
          </a:bodyPr>
          <a:lstStyle/>
          <a:p>
            <a:pPr>
              <a:spcAft>
                <a:spcPts val="700"/>
              </a:spcAft>
              <a:defRPr sz="1200" b="1">
                <a:solidFill>
                  <a:srgbClr val="00708A"/>
                </a:solidFill>
                <a:latin typeface="Barlow"/>
              </a:defRPr>
            </a:pPr>
            <a:r>
              <a:rPr lang="en-JP"/>
              <a:t>04</a:t>
            </a:r>
            <a:endParaRPr/>
          </a:p>
        </p:txBody>
      </p:sp>
      <p:sp>
        <p:nvSpPr>
          <p:cNvPr id="901" name="JNX Rule"/>
          <p:cNvSpPr/>
          <p:nvPr/>
        </p:nvSpPr>
        <p:spPr>
          <a:xfrm>
            <a:off x="596900" y="1016000"/>
            <a:ext cx="13436600" cy="19050"/>
          </a:xfrm>
          <a:prstGeom prst="rect">
            <a:avLst/>
          </a:prstGeom>
          <a:solidFill>
            <a:srgbClr val="0B3C4C"/>
          </a:solidFill>
          <a:ln>
            <a:noFill/>
          </a:ln>
        </p:spPr>
        <p:txBody>
          <a:bodyPr/>
          <a:lstStyle/>
          <a:p>
            <a:endParaRPr lang="en-JP"/>
          </a:p>
        </p:txBody>
      </p:sp>
      <p:pic>
        <p:nvPicPr>
          <p:cNvPr id="903" name="Copied Picture 903" descr="Japannext JNX logo">
            <a:extLst>
              <a:ext uri="{FF2B5EF4-FFF2-40B4-BE49-F238E27FC236}">
                <a16:creationId xmlns:a16="http://schemas.microsoft.com/office/drawing/2014/main" id="{429122C2-2B95-92FB-9A5C-2E92C9458AAC}"/>
              </a:ext>
            </a:extLst>
          </p:cNvPr>
          <p:cNvPicPr>
            <a:picLocks noChangeAspect="1"/>
          </p:cNvPicPr>
          <p:nvPr/>
        </p:nvPicPr>
        <p:blipFill>
          <a:blip r:embed="rId3">
            <a:clrChange>
              <a:clrFrom>
                <a:srgbClr val="FFFFFF"/>
              </a:clrFrom>
              <a:clrTo>
                <a:srgbClr val="FFFFFF">
                  <a:alpha val="0"/>
                </a:srgbClr>
              </a:clrTo>
            </a:clrChange>
          </a:blip>
          <a:srcRect l="13500" t="21500" r="13800" b="22500"/>
          <a:stretch>
            <a:fillRect/>
          </a:stretch>
        </p:blipFill>
        <p:spPr>
          <a:xfrm>
            <a:off x="12623800" y="254000"/>
            <a:ext cx="1409700" cy="660400"/>
          </a:xfrm>
          <a:prstGeom prst="rect">
            <a:avLst/>
          </a:prstGeom>
        </p:spPr>
      </p:pic>
      <p:sp>
        <p:nvSpPr>
          <p:cNvPr id="980" name="Diagram 981"/>
          <p:cNvSpPr/>
          <p:nvPr/>
        </p:nvSpPr>
        <p:spPr>
          <a:xfrm>
            <a:off x="596900" y="3810000"/>
            <a:ext cx="13436600" cy="2032000"/>
          </a:xfrm>
          <a:prstGeom prst="rect">
            <a:avLst/>
          </a:prstGeom>
          <a:solidFill>
            <a:srgbClr val="00708A"/>
          </a:solidFill>
          <a:ln>
            <a:noFill/>
          </a:ln>
        </p:spPr>
        <p:txBody>
          <a:bodyPr wrap="square" lIns="0" tIns="0" rIns="0" bIns="0" anchor="ctr">
            <a:noAutofit/>
          </a:bodyPr>
          <a:lstStyle/>
          <a:p>
            <a:pPr algn="ctr">
              <a:spcBef>
                <a:spcPts val="0"/>
              </a:spcBef>
              <a:buNone/>
            </a:pPr>
            <a:r>
              <a:rPr lang="en-US" sz="1600" b="1" dirty="0">
                <a:solidFill>
                  <a:srgbClr val="F5A623"/>
                </a:solidFill>
                <a:latin typeface="Barlow"/>
              </a:rPr>
              <a:t>SERVICEOPS</a:t>
            </a:r>
          </a:p>
          <a:p>
            <a:pPr algn="ctr">
              <a:spcBef>
                <a:spcPts val="200"/>
              </a:spcBef>
              <a:buNone/>
            </a:pPr>
            <a:r>
              <a:rPr lang="en-US" sz="2200" b="1" dirty="0">
                <a:solidFill>
                  <a:srgbClr val="FFFFFF"/>
                </a:solidFill>
                <a:latin typeface="Barlow"/>
              </a:rPr>
              <a:t>One shared context for requests, changes, devices, decisions and delivery</a:t>
            </a:r>
          </a:p>
        </p:txBody>
      </p:sp>
      <p:sp>
        <p:nvSpPr>
          <p:cNvPr id="981" name="Diagram 982"/>
          <p:cNvSpPr/>
          <p:nvPr/>
        </p:nvSpPr>
        <p:spPr>
          <a:xfrm>
            <a:off x="596900" y="2794000"/>
            <a:ext cx="3035300" cy="1333500"/>
          </a:xfrm>
          <a:prstGeom prst="rect">
            <a:avLst/>
          </a:prstGeom>
          <a:solidFill>
            <a:srgbClr val="0B3C4C"/>
          </a:solidFill>
          <a:ln>
            <a:noFill/>
          </a:ln>
        </p:spPr>
        <p:txBody>
          <a:bodyPr wrap="square" lIns="203200" tIns="203200" rIns="203200" bIns="203200" anchor="t">
            <a:noAutofit/>
          </a:bodyPr>
          <a:lstStyle/>
          <a:p>
            <a:pPr algn="l">
              <a:spcBef>
                <a:spcPts val="0"/>
              </a:spcBef>
              <a:buNone/>
            </a:pPr>
            <a:r>
              <a:rPr lang="en-US" sz="2000" b="1" dirty="0">
                <a:solidFill>
                  <a:srgbClr val="FFFFFF"/>
                </a:solidFill>
                <a:latin typeface="Barlow"/>
              </a:rPr>
              <a:t>Employees</a:t>
            </a:r>
          </a:p>
          <a:p>
            <a:pPr algn="l">
              <a:spcBef>
                <a:spcPts val="300"/>
              </a:spcBef>
              <a:buNone/>
            </a:pPr>
            <a:r>
              <a:rPr lang="en-US" sz="1600" b="0" dirty="0">
                <a:solidFill>
                  <a:srgbClr val="D5DDE0"/>
                </a:solidFill>
                <a:latin typeface="Barlow"/>
              </a:rPr>
              <a:t>Make needs and impact visible</a:t>
            </a:r>
          </a:p>
        </p:txBody>
      </p:sp>
      <p:sp>
        <p:nvSpPr>
          <p:cNvPr id="982" name="Diagram 983"/>
          <p:cNvSpPr/>
          <p:nvPr/>
        </p:nvSpPr>
        <p:spPr>
          <a:xfrm>
            <a:off x="596900" y="5524500"/>
            <a:ext cx="3035300" cy="1333500"/>
          </a:xfrm>
          <a:prstGeom prst="rect">
            <a:avLst/>
          </a:prstGeom>
          <a:solidFill>
            <a:srgbClr val="0B3C4C"/>
          </a:solidFill>
          <a:ln>
            <a:noFill/>
          </a:ln>
        </p:spPr>
        <p:txBody>
          <a:bodyPr wrap="square" lIns="203200" tIns="203200" rIns="203200" bIns="203200" anchor="t">
            <a:noAutofit/>
          </a:bodyPr>
          <a:lstStyle/>
          <a:p>
            <a:pPr algn="l">
              <a:spcBef>
                <a:spcPts val="0"/>
              </a:spcBef>
              <a:buNone/>
            </a:pPr>
            <a:r>
              <a:rPr lang="en-US" sz="2000" b="1" dirty="0">
                <a:solidFill>
                  <a:srgbClr val="FFFFFF"/>
                </a:solidFill>
                <a:latin typeface="Barlow"/>
              </a:rPr>
              <a:t>Service desk</a:t>
            </a:r>
          </a:p>
          <a:p>
            <a:pPr algn="l">
              <a:spcBef>
                <a:spcPts val="300"/>
              </a:spcBef>
              <a:buNone/>
            </a:pPr>
            <a:r>
              <a:rPr lang="en-US" sz="1600" b="0" dirty="0">
                <a:solidFill>
                  <a:srgbClr val="D5DDE0"/>
                </a:solidFill>
                <a:latin typeface="Barlow"/>
              </a:rPr>
              <a:t>Coordinate the service response</a:t>
            </a:r>
          </a:p>
        </p:txBody>
      </p:sp>
      <p:sp>
        <p:nvSpPr>
          <p:cNvPr id="983" name="Diagram 984"/>
          <p:cNvSpPr/>
          <p:nvPr/>
        </p:nvSpPr>
        <p:spPr>
          <a:xfrm>
            <a:off x="4064000" y="2794000"/>
            <a:ext cx="3035300" cy="1333500"/>
          </a:xfrm>
          <a:prstGeom prst="rect">
            <a:avLst/>
          </a:prstGeom>
          <a:solidFill>
            <a:srgbClr val="0B3C4C"/>
          </a:solidFill>
          <a:ln>
            <a:noFill/>
          </a:ln>
        </p:spPr>
        <p:txBody>
          <a:bodyPr wrap="square" lIns="203200" tIns="203200" rIns="203200" bIns="203200" anchor="t">
            <a:noAutofit/>
          </a:bodyPr>
          <a:lstStyle/>
          <a:p>
            <a:pPr algn="l">
              <a:spcBef>
                <a:spcPts val="0"/>
              </a:spcBef>
              <a:buNone/>
            </a:pPr>
            <a:r>
              <a:rPr lang="en-US" sz="2000" b="1" dirty="0">
                <a:solidFill>
                  <a:srgbClr val="FFFFFF"/>
                </a:solidFill>
                <a:latin typeface="Barlow"/>
              </a:rPr>
              <a:t>Service owners</a:t>
            </a:r>
          </a:p>
          <a:p>
            <a:pPr algn="l">
              <a:spcBef>
                <a:spcPts val="300"/>
              </a:spcBef>
              <a:buNone/>
            </a:pPr>
            <a:r>
              <a:rPr lang="en-US" sz="1600" b="0" dirty="0">
                <a:solidFill>
                  <a:srgbClr val="D5DDE0"/>
                </a:solidFill>
                <a:latin typeface="Barlow"/>
              </a:rPr>
              <a:t>Review impact on their services</a:t>
            </a:r>
          </a:p>
        </p:txBody>
      </p:sp>
      <p:sp>
        <p:nvSpPr>
          <p:cNvPr id="984" name="Diagram 985"/>
          <p:cNvSpPr/>
          <p:nvPr/>
        </p:nvSpPr>
        <p:spPr>
          <a:xfrm>
            <a:off x="4064000" y="5524500"/>
            <a:ext cx="3035300" cy="1333500"/>
          </a:xfrm>
          <a:prstGeom prst="rect">
            <a:avLst/>
          </a:prstGeom>
          <a:solidFill>
            <a:srgbClr val="0B3C4C"/>
          </a:solidFill>
          <a:ln>
            <a:noFill/>
          </a:ln>
        </p:spPr>
        <p:txBody>
          <a:bodyPr wrap="square" lIns="203200" tIns="203200" rIns="203200" bIns="203200" anchor="t">
            <a:noAutofit/>
          </a:bodyPr>
          <a:lstStyle/>
          <a:p>
            <a:pPr algn="l">
              <a:spcBef>
                <a:spcPts val="0"/>
              </a:spcBef>
              <a:buNone/>
            </a:pPr>
            <a:r>
              <a:rPr lang="en-US" sz="2000" b="1" dirty="0">
                <a:solidFill>
                  <a:srgbClr val="FFFFFF"/>
                </a:solidFill>
                <a:latin typeface="Barlow"/>
              </a:rPr>
              <a:t>Unix and Network</a:t>
            </a:r>
          </a:p>
          <a:p>
            <a:pPr algn="l">
              <a:spcBef>
                <a:spcPts val="300"/>
              </a:spcBef>
              <a:buNone/>
            </a:pPr>
            <a:r>
              <a:rPr lang="en-US" sz="1600" b="0" dirty="0">
                <a:solidFill>
                  <a:srgbClr val="D5DDE0"/>
                </a:solidFill>
                <a:latin typeface="Barlow"/>
              </a:rPr>
              <a:t>Compare plans before delivery</a:t>
            </a:r>
          </a:p>
        </p:txBody>
      </p:sp>
      <p:sp>
        <p:nvSpPr>
          <p:cNvPr id="985" name="Diagram 986"/>
          <p:cNvSpPr/>
          <p:nvPr/>
        </p:nvSpPr>
        <p:spPr>
          <a:xfrm>
            <a:off x="7531100" y="2794000"/>
            <a:ext cx="3035300" cy="1333500"/>
          </a:xfrm>
          <a:prstGeom prst="rect">
            <a:avLst/>
          </a:prstGeom>
          <a:solidFill>
            <a:srgbClr val="0B3C4C"/>
          </a:solidFill>
          <a:ln>
            <a:noFill/>
          </a:ln>
        </p:spPr>
        <p:txBody>
          <a:bodyPr wrap="square" lIns="203200" tIns="203200" rIns="203200" bIns="203200" anchor="t">
            <a:noAutofit/>
          </a:bodyPr>
          <a:lstStyle/>
          <a:p>
            <a:pPr algn="l">
              <a:spcBef>
                <a:spcPts val="0"/>
              </a:spcBef>
              <a:buNone/>
            </a:pPr>
            <a:r>
              <a:rPr lang="en-US" sz="2000" b="1" dirty="0">
                <a:solidFill>
                  <a:srgbClr val="FFFFFF"/>
                </a:solidFill>
                <a:latin typeface="Barlow"/>
              </a:rPr>
              <a:t>Management</a:t>
            </a:r>
          </a:p>
          <a:p>
            <a:pPr algn="l">
              <a:spcBef>
                <a:spcPts val="300"/>
              </a:spcBef>
              <a:buNone/>
            </a:pPr>
            <a:r>
              <a:rPr lang="en-US" sz="1600" b="0" dirty="0">
                <a:solidFill>
                  <a:srgbClr val="D5DDE0"/>
                </a:solidFill>
                <a:latin typeface="Barlow"/>
              </a:rPr>
              <a:t>Review exceptions with context</a:t>
            </a:r>
          </a:p>
        </p:txBody>
      </p:sp>
      <p:sp>
        <p:nvSpPr>
          <p:cNvPr id="986" name="Diagram 987"/>
          <p:cNvSpPr/>
          <p:nvPr/>
        </p:nvSpPr>
        <p:spPr>
          <a:xfrm>
            <a:off x="7531100" y="5524500"/>
            <a:ext cx="3035300" cy="1333500"/>
          </a:xfrm>
          <a:prstGeom prst="rect">
            <a:avLst/>
          </a:prstGeom>
          <a:solidFill>
            <a:srgbClr val="0B3C4C"/>
          </a:solidFill>
          <a:ln>
            <a:noFill/>
          </a:ln>
        </p:spPr>
        <p:txBody>
          <a:bodyPr wrap="square" lIns="203200" tIns="203200" rIns="203200" bIns="203200" anchor="t">
            <a:noAutofit/>
          </a:bodyPr>
          <a:lstStyle/>
          <a:p>
            <a:pPr algn="l">
              <a:spcBef>
                <a:spcPts val="0"/>
              </a:spcBef>
              <a:buNone/>
            </a:pPr>
            <a:r>
              <a:rPr lang="en-US" sz="2000" b="1" dirty="0">
                <a:solidFill>
                  <a:srgbClr val="FFFFFF"/>
                </a:solidFill>
                <a:latin typeface="Barlow"/>
              </a:rPr>
              <a:t>Data centre</a:t>
            </a:r>
          </a:p>
          <a:p>
            <a:pPr algn="l">
              <a:spcBef>
                <a:spcPts val="300"/>
              </a:spcBef>
              <a:buNone/>
            </a:pPr>
            <a:r>
              <a:rPr lang="en-US" sz="1600" b="0" dirty="0">
                <a:solidFill>
                  <a:srgbClr val="D5DDE0"/>
                </a:solidFill>
                <a:latin typeface="Barlow"/>
              </a:rPr>
              <a:t>Act on the right rack and device</a:t>
            </a:r>
          </a:p>
        </p:txBody>
      </p:sp>
      <p:sp>
        <p:nvSpPr>
          <p:cNvPr id="987" name="Diagram 988"/>
          <p:cNvSpPr/>
          <p:nvPr/>
        </p:nvSpPr>
        <p:spPr>
          <a:xfrm>
            <a:off x="10998200" y="2794000"/>
            <a:ext cx="3035300" cy="1333500"/>
          </a:xfrm>
          <a:prstGeom prst="rect">
            <a:avLst/>
          </a:prstGeom>
          <a:solidFill>
            <a:srgbClr val="0B3C4C"/>
          </a:solidFill>
          <a:ln>
            <a:noFill/>
          </a:ln>
        </p:spPr>
        <p:txBody>
          <a:bodyPr wrap="square" lIns="203200" tIns="203200" rIns="203200" bIns="203200" anchor="t">
            <a:noAutofit/>
          </a:bodyPr>
          <a:lstStyle/>
          <a:p>
            <a:pPr algn="l">
              <a:spcBef>
                <a:spcPts val="0"/>
              </a:spcBef>
              <a:buNone/>
            </a:pPr>
            <a:r>
              <a:rPr lang="en-US" sz="2000" b="1" dirty="0">
                <a:solidFill>
                  <a:srgbClr val="FFFFFF"/>
                </a:solidFill>
                <a:latin typeface="Barlow"/>
              </a:rPr>
              <a:t>Audit and compliance</a:t>
            </a:r>
          </a:p>
          <a:p>
            <a:pPr algn="l">
              <a:spcBef>
                <a:spcPts val="300"/>
              </a:spcBef>
              <a:buNone/>
            </a:pPr>
            <a:r>
              <a:rPr lang="en-US" sz="1600" b="0" dirty="0">
                <a:solidFill>
                  <a:srgbClr val="D5DDE0"/>
                </a:solidFill>
                <a:latin typeface="Barlow"/>
              </a:rPr>
              <a:t>Trace decisions and ownership</a:t>
            </a:r>
          </a:p>
        </p:txBody>
      </p:sp>
      <p:sp>
        <p:nvSpPr>
          <p:cNvPr id="988" name="Diagram 989"/>
          <p:cNvSpPr/>
          <p:nvPr/>
        </p:nvSpPr>
        <p:spPr>
          <a:xfrm>
            <a:off x="10998200" y="5524500"/>
            <a:ext cx="3035300" cy="1333500"/>
          </a:xfrm>
          <a:prstGeom prst="rect">
            <a:avLst/>
          </a:prstGeom>
          <a:solidFill>
            <a:srgbClr val="0B3C4C"/>
          </a:solidFill>
          <a:ln>
            <a:noFill/>
          </a:ln>
        </p:spPr>
        <p:txBody>
          <a:bodyPr wrap="square" lIns="203200" tIns="203200" rIns="203200" bIns="203200" anchor="t">
            <a:noAutofit/>
          </a:bodyPr>
          <a:lstStyle/>
          <a:p>
            <a:pPr algn="l">
              <a:spcBef>
                <a:spcPts val="0"/>
              </a:spcBef>
              <a:buNone/>
            </a:pPr>
            <a:r>
              <a:rPr lang="en-US" sz="2000" b="1" dirty="0">
                <a:solidFill>
                  <a:srgbClr val="FFFFFF"/>
                </a:solidFill>
                <a:latin typeface="Barlow"/>
              </a:rPr>
              <a:t>Platform admins</a:t>
            </a:r>
          </a:p>
          <a:p>
            <a:pPr algn="l">
              <a:spcBef>
                <a:spcPts val="300"/>
              </a:spcBef>
              <a:buNone/>
            </a:pPr>
            <a:r>
              <a:rPr lang="en-US" sz="1600" b="0" dirty="0">
                <a:solidFill>
                  <a:srgbClr val="D5DDE0"/>
                </a:solidFill>
                <a:latin typeface="Barlow"/>
              </a:rPr>
              <a:t>Maintain policy, data and access</a:t>
            </a:r>
          </a:p>
        </p:txBody>
      </p:sp>
      <p:sp>
        <p:nvSpPr>
          <p:cNvPr id="989" name="Diagram 990"/>
          <p:cNvSpPr/>
          <p:nvPr/>
        </p:nvSpPr>
        <p:spPr>
          <a:xfrm>
            <a:off x="596900" y="7239000"/>
            <a:ext cx="11430000" cy="330200"/>
          </a:xfrm>
          <a:prstGeom prst="rect">
            <a:avLst/>
          </a:prstGeom>
          <a:noFill/>
          <a:ln>
            <a:noFill/>
          </a:ln>
        </p:spPr>
        <p:txBody>
          <a:bodyPr wrap="square" lIns="0" tIns="0" rIns="0" bIns="0" anchor="t">
            <a:noAutofit/>
          </a:bodyPr>
          <a:lstStyle/>
          <a:p>
            <a:pPr algn="l">
              <a:spcBef>
                <a:spcPts val="0"/>
              </a:spcBef>
              <a:buNone/>
            </a:pPr>
            <a:r>
              <a:rPr lang="en-US" sz="1600" b="0" dirty="0">
                <a:solidFill>
                  <a:srgbClr val="4F6670"/>
                </a:solidFill>
                <a:latin typeface="Barlow"/>
              </a:rPr>
              <a:t>Shared visibility supports coordination; named owners make the next action clear.</a:t>
            </a:r>
          </a:p>
        </p:txBody>
      </p:sp>
    </p:spTree>
    <p:extLst>
      <p:ext uri="{BB962C8B-B14F-4D97-AF65-F5344CB8AC3E}">
        <p14:creationId xmlns:p14="http://schemas.microsoft.com/office/powerpoint/2010/main" val="31411078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6900" y="1270000"/>
            <a:ext cx="965200" cy="274320"/>
          </a:xfrm>
          <a:prstGeom prst="rect">
            <a:avLst/>
          </a:prstGeom>
          <a:noFill/>
        </p:spPr>
        <p:txBody>
          <a:bodyPr wrap="square" lIns="0" tIns="0" rIns="0" bIns="0">
            <a:noAutofit/>
          </a:bodyPr>
          <a:lstStyle/>
          <a:p>
            <a:pPr>
              <a:spcAft>
                <a:spcPts val="700"/>
              </a:spcAft>
              <a:defRPr sz="1100" b="1">
                <a:solidFill>
                  <a:srgbClr val="00708A"/>
                </a:solidFill>
                <a:latin typeface="Barlow"/>
              </a:defRPr>
            </a:pPr>
            <a:r>
              <a:t>SERVICEOPS</a:t>
            </a:r>
          </a:p>
        </p:txBody>
      </p:sp>
      <p:sp>
        <p:nvSpPr>
          <p:cNvPr id="4" name="TextBox 3"/>
          <p:cNvSpPr txBox="1"/>
          <p:nvPr/>
        </p:nvSpPr>
        <p:spPr>
          <a:xfrm>
            <a:off x="1714500" y="1270000"/>
            <a:ext cx="11430000" cy="365760"/>
          </a:xfrm>
          <a:prstGeom prst="rect">
            <a:avLst/>
          </a:prstGeom>
          <a:noFill/>
        </p:spPr>
        <p:txBody>
          <a:bodyPr wrap="square" lIns="0" tIns="0" rIns="0" bIns="0">
            <a:spAutoFit/>
          </a:bodyPr>
          <a:lstStyle/>
          <a:p>
            <a:pPr>
              <a:spcAft>
                <a:spcPts val="700"/>
              </a:spcAft>
              <a:defRPr sz="1200" b="1">
                <a:solidFill>
                  <a:srgbClr val="4F6670"/>
                </a:solidFill>
                <a:latin typeface="Barlow"/>
              </a:defRPr>
            </a:pPr>
            <a:r>
              <a:t>HOW SERVICEOPS REDUCES COORDINATION GAPS</a:t>
            </a:r>
          </a:p>
        </p:txBody>
      </p:sp>
      <p:sp>
        <p:nvSpPr>
          <p:cNvPr id="5" name="TextBox 4"/>
          <p:cNvSpPr txBox="1"/>
          <p:nvPr/>
        </p:nvSpPr>
        <p:spPr>
          <a:xfrm>
            <a:off x="596900" y="304800"/>
            <a:ext cx="11430000" cy="400110"/>
          </a:xfrm>
          <a:prstGeom prst="rect">
            <a:avLst/>
          </a:prstGeom>
          <a:noFill/>
        </p:spPr>
        <p:txBody>
          <a:bodyPr wrap="square" lIns="0" tIns="0" rIns="0" bIns="0">
            <a:spAutoFit/>
          </a:bodyPr>
          <a:lstStyle/>
          <a:p>
            <a:pPr>
              <a:spcAft>
                <a:spcPts val="700"/>
              </a:spcAft>
              <a:defRPr sz="2600" b="1">
                <a:solidFill>
                  <a:srgbClr val="0B3C4C"/>
                </a:solidFill>
                <a:latin typeface="Barlow"/>
              </a:defRPr>
            </a:pPr>
            <a:r>
              <a:rPr sz="2600"/>
              <a:t>Four capabilities support one goal: coordinated change.</a:t>
            </a:r>
          </a:p>
        </p:txBody>
      </p:sp>
      <p:sp>
        <p:nvSpPr>
          <p:cNvPr id="6" name="TextBox 5"/>
          <p:cNvSpPr txBox="1"/>
          <p:nvPr/>
        </p:nvSpPr>
        <p:spPr>
          <a:xfrm>
            <a:off x="596900" y="1625600"/>
            <a:ext cx="13436600" cy="307777"/>
          </a:xfrm>
          <a:prstGeom prst="rect">
            <a:avLst/>
          </a:prstGeom>
          <a:noFill/>
        </p:spPr>
        <p:txBody>
          <a:bodyPr wrap="square" lIns="0" tIns="0" rIns="0" bIns="0">
            <a:spAutoFit/>
          </a:bodyPr>
          <a:lstStyle/>
          <a:p>
            <a:pPr>
              <a:spcAft>
                <a:spcPts val="700"/>
              </a:spcAft>
              <a:defRPr sz="2000" b="0">
                <a:solidFill>
                  <a:srgbClr val="4F6670"/>
                </a:solidFill>
                <a:latin typeface="Barlow"/>
              </a:defRPr>
            </a:pPr>
            <a:r>
              <a:t>Shared work, change controls, infrastructure context and decision history reinforce each other.</a:t>
            </a:r>
          </a:p>
        </p:txBody>
      </p:sp>
      <p:sp>
        <p:nvSpPr>
          <p:cNvPr id="7" name="Rectangle 6"/>
          <p:cNvSpPr/>
          <p:nvPr/>
        </p:nvSpPr>
        <p:spPr>
          <a:xfrm>
            <a:off x="594360" y="7754112"/>
            <a:ext cx="13441680" cy="10972"/>
          </a:xfrm>
          <a:prstGeom prst="rect">
            <a:avLst/>
          </a:prstGeom>
          <a:solidFill>
            <a:srgbClr val="D5D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7909560"/>
            <a:ext cx="10058400" cy="182880"/>
          </a:xfrm>
          <a:prstGeom prst="rect">
            <a:avLst/>
          </a:prstGeom>
          <a:noFill/>
        </p:spPr>
        <p:txBody>
          <a:bodyPr wrap="square" lIns="0" tIns="0" rIns="0" bIns="0">
            <a:spAutoFit/>
          </a:bodyPr>
          <a:lstStyle/>
          <a:p>
            <a:pPr>
              <a:spcAft>
                <a:spcPts val="700"/>
              </a:spcAft>
              <a:defRPr sz="900" b="0">
                <a:solidFill>
                  <a:srgbClr val="4F6670"/>
                </a:solidFill>
                <a:latin typeface="Barlow"/>
              </a:defRPr>
            </a:pPr>
            <a:r>
              <a:t>Anushka Wijesundara  /  Product overview</a:t>
            </a:r>
          </a:p>
        </p:txBody>
      </p:sp>
      <p:sp>
        <p:nvSpPr>
          <p:cNvPr id="9" name="TextBox 8"/>
          <p:cNvSpPr txBox="1"/>
          <p:nvPr/>
        </p:nvSpPr>
        <p:spPr>
          <a:xfrm>
            <a:off x="13487400" y="7854696"/>
            <a:ext cx="548640" cy="274320"/>
          </a:xfrm>
          <a:prstGeom prst="rect">
            <a:avLst/>
          </a:prstGeom>
          <a:noFill/>
        </p:spPr>
        <p:txBody>
          <a:bodyPr wrap="square" lIns="0" tIns="0" rIns="0" bIns="0">
            <a:spAutoFit/>
          </a:bodyPr>
          <a:lstStyle/>
          <a:p>
            <a:pPr>
              <a:spcAft>
                <a:spcPts val="700"/>
              </a:spcAft>
              <a:defRPr sz="1200" b="1">
                <a:solidFill>
                  <a:srgbClr val="00708A"/>
                </a:solidFill>
                <a:latin typeface="Barlow"/>
              </a:defRPr>
            </a:pPr>
            <a:r>
              <a:rPr lang="en-JP"/>
              <a:t>05</a:t>
            </a:r>
            <a:endParaRPr/>
          </a:p>
        </p:txBody>
      </p:sp>
      <p:sp>
        <p:nvSpPr>
          <p:cNvPr id="901" name="JNX Rule"/>
          <p:cNvSpPr/>
          <p:nvPr/>
        </p:nvSpPr>
        <p:spPr>
          <a:xfrm>
            <a:off x="596900" y="1016000"/>
            <a:ext cx="13436600" cy="19050"/>
          </a:xfrm>
          <a:prstGeom prst="rect">
            <a:avLst/>
          </a:prstGeom>
          <a:solidFill>
            <a:srgbClr val="0B3C4C"/>
          </a:solidFill>
          <a:ln>
            <a:noFill/>
          </a:ln>
        </p:spPr>
        <p:txBody>
          <a:bodyPr/>
          <a:lstStyle/>
          <a:p>
            <a:endParaRPr lang="en-JP"/>
          </a:p>
        </p:txBody>
      </p:sp>
      <p:pic>
        <p:nvPicPr>
          <p:cNvPr id="903" name="Copied Picture 903" descr="Japannext JNX logo">
            <a:extLst>
              <a:ext uri="{FF2B5EF4-FFF2-40B4-BE49-F238E27FC236}">
                <a16:creationId xmlns:a16="http://schemas.microsoft.com/office/drawing/2014/main" id="{429122C2-2B95-92FB-9A5C-2E92C9458AAC}"/>
              </a:ext>
            </a:extLst>
          </p:cNvPr>
          <p:cNvPicPr>
            <a:picLocks noChangeAspect="1"/>
          </p:cNvPicPr>
          <p:nvPr/>
        </p:nvPicPr>
        <p:blipFill>
          <a:blip r:embed="rId3">
            <a:clrChange>
              <a:clrFrom>
                <a:srgbClr val="FFFFFF"/>
              </a:clrFrom>
              <a:clrTo>
                <a:srgbClr val="FFFFFF">
                  <a:alpha val="0"/>
                </a:srgbClr>
              </a:clrTo>
            </a:clrChange>
          </a:blip>
          <a:srcRect l="13500" t="21500" r="13800" b="22500"/>
          <a:stretch>
            <a:fillRect/>
          </a:stretch>
        </p:blipFill>
        <p:spPr>
          <a:xfrm>
            <a:off x="12623800" y="254000"/>
            <a:ext cx="1409700" cy="660400"/>
          </a:xfrm>
          <a:prstGeom prst="rect">
            <a:avLst/>
          </a:prstGeom>
        </p:spPr>
      </p:pic>
      <p:sp>
        <p:nvSpPr>
          <p:cNvPr id="980" name="Diagram 981"/>
          <p:cNvSpPr/>
          <p:nvPr/>
        </p:nvSpPr>
        <p:spPr>
          <a:xfrm>
            <a:off x="596900" y="2603500"/>
            <a:ext cx="1524000" cy="2540000"/>
          </a:xfrm>
          <a:prstGeom prst="roundRect">
            <a:avLst/>
          </a:prstGeom>
          <a:solidFill>
            <a:srgbClr val="EFF4F6"/>
          </a:solidFill>
          <a:ln>
            <a:noFill/>
          </a:ln>
        </p:spPr>
        <p:txBody>
          <a:bodyPr wrap="square" lIns="127000" tIns="127000" rIns="127000" bIns="127000" anchor="b">
            <a:noAutofit/>
          </a:bodyPr>
          <a:lstStyle/>
          <a:p>
            <a:pPr algn="ctr">
              <a:spcBef>
                <a:spcPts val="0"/>
              </a:spcBef>
              <a:buNone/>
            </a:pPr>
            <a:r>
              <a:rPr lang="en-US" sz="1800" b="1" dirty="0">
                <a:solidFill>
                  <a:srgbClr val="0B3C4C"/>
                </a:solidFill>
                <a:latin typeface="Barlow"/>
              </a:rPr>
              <a:t>Requester</a:t>
            </a:r>
          </a:p>
        </p:txBody>
      </p:sp>
      <p:sp>
        <p:nvSpPr>
          <p:cNvPr id="981" name="Diagram 982"/>
          <p:cNvSpPr/>
          <p:nvPr/>
        </p:nvSpPr>
        <p:spPr>
          <a:xfrm>
            <a:off x="12636500" y="2603500"/>
            <a:ext cx="1397000" cy="2540000"/>
          </a:xfrm>
          <a:prstGeom prst="roundRect">
            <a:avLst/>
          </a:prstGeom>
          <a:solidFill>
            <a:srgbClr val="EFF4F6"/>
          </a:solidFill>
          <a:ln>
            <a:noFill/>
          </a:ln>
        </p:spPr>
        <p:txBody>
          <a:bodyPr wrap="square" lIns="127000" tIns="127000" rIns="127000" bIns="127000" anchor="b">
            <a:noAutofit/>
          </a:bodyPr>
          <a:lstStyle/>
          <a:p>
            <a:pPr algn="ctr">
              <a:spcBef>
                <a:spcPts val="0"/>
              </a:spcBef>
              <a:buNone/>
            </a:pPr>
            <a:r>
              <a:rPr lang="en-US" sz="1800" b="1" dirty="0">
                <a:solidFill>
                  <a:srgbClr val="0B3C4C"/>
                </a:solidFill>
                <a:latin typeface="Barlow"/>
              </a:rPr>
              <a:t>Provider</a:t>
            </a:r>
          </a:p>
        </p:txBody>
      </p:sp>
      <p:sp>
        <p:nvSpPr>
          <p:cNvPr id="982" name="Diagram 983"/>
          <p:cNvSpPr/>
          <p:nvPr/>
        </p:nvSpPr>
        <p:spPr>
          <a:xfrm>
            <a:off x="2501900" y="2603500"/>
            <a:ext cx="2286000" cy="2540000"/>
          </a:xfrm>
          <a:prstGeom prst="rect">
            <a:avLst/>
          </a:prstGeom>
          <a:solidFill>
            <a:srgbClr val="0B3C4C"/>
          </a:solidFill>
          <a:ln>
            <a:noFill/>
          </a:ln>
        </p:spPr>
        <p:txBody>
          <a:bodyPr wrap="square" lIns="177800" tIns="177800" rIns="177800" bIns="177800" anchor="b">
            <a:noAutofit/>
          </a:bodyPr>
          <a:lstStyle/>
          <a:p>
            <a:pPr algn="ctr">
              <a:spcBef>
                <a:spcPts val="0"/>
              </a:spcBef>
              <a:buNone/>
            </a:pPr>
            <a:r>
              <a:rPr lang="en-US" sz="2000" b="1" dirty="0">
                <a:solidFill>
                  <a:srgbClr val="FFFFFF"/>
                </a:solidFill>
                <a:latin typeface="Barlow"/>
              </a:rPr>
              <a:t>Service desk</a:t>
            </a:r>
          </a:p>
        </p:txBody>
      </p:sp>
      <p:sp>
        <p:nvSpPr>
          <p:cNvPr id="983" name="Diagram 984"/>
          <p:cNvSpPr/>
          <p:nvPr/>
        </p:nvSpPr>
        <p:spPr>
          <a:xfrm>
            <a:off x="2501900" y="5334000"/>
            <a:ext cx="2286000" cy="50800"/>
          </a:xfrm>
          <a:prstGeom prst="rect">
            <a:avLst/>
          </a:prstGeom>
          <a:solidFill>
            <a:srgbClr val="F5A623"/>
          </a:solidFill>
          <a:ln>
            <a:noFill/>
          </a:ln>
        </p:spPr>
        <p:txBody>
          <a:bodyPr wrap="square" lIns="0" tIns="0" rIns="0" bIns="0" anchor="t">
            <a:noAutofit/>
          </a:bodyPr>
          <a:lstStyle/>
          <a:p>
            <a:endParaRPr lang="en-US" sz="1000"/>
          </a:p>
        </p:txBody>
      </p:sp>
      <p:sp>
        <p:nvSpPr>
          <p:cNvPr id="984" name="Diagram 985"/>
          <p:cNvSpPr/>
          <p:nvPr/>
        </p:nvSpPr>
        <p:spPr>
          <a:xfrm>
            <a:off x="2501900" y="5486400"/>
            <a:ext cx="2286000" cy="1905000"/>
          </a:xfrm>
          <a:prstGeom prst="rect">
            <a:avLst/>
          </a:prstGeom>
          <a:noFill/>
          <a:ln>
            <a:noFill/>
          </a:ln>
        </p:spPr>
        <p:txBody>
          <a:bodyPr wrap="square" lIns="0" tIns="0" rIns="0" bIns="0" anchor="t">
            <a:noAutofit/>
          </a:bodyPr>
          <a:lstStyle/>
          <a:p>
            <a:pPr algn="l">
              <a:spcBef>
                <a:spcPts val="0"/>
              </a:spcBef>
              <a:buNone/>
            </a:pPr>
            <a:r>
              <a:rPr lang="en-US" sz="1800" b="1" dirty="0">
                <a:solidFill>
                  <a:srgbClr val="0B3C4C"/>
                </a:solidFill>
                <a:latin typeface="Barlow"/>
              </a:rPr>
              <a:t>Clear ownership</a:t>
            </a:r>
          </a:p>
          <a:p>
            <a:pPr algn="l">
              <a:spcBef>
                <a:spcPts val="300"/>
              </a:spcBef>
              <a:buNone/>
            </a:pPr>
            <a:r>
              <a:rPr lang="en-US" sz="1800" b="0" dirty="0">
                <a:solidFill>
                  <a:srgbClr val="4F6670"/>
                </a:solidFill>
                <a:latin typeface="Barlow"/>
              </a:rPr>
              <a:t>Give requests and incidents a record, an owner and a status.</a:t>
            </a:r>
          </a:p>
        </p:txBody>
      </p:sp>
      <p:sp>
        <p:nvSpPr>
          <p:cNvPr id="985" name="Diagram 986"/>
          <p:cNvSpPr/>
          <p:nvPr/>
        </p:nvSpPr>
        <p:spPr>
          <a:xfrm>
            <a:off x="4991100" y="2603500"/>
            <a:ext cx="2286000" cy="2540000"/>
          </a:xfrm>
          <a:prstGeom prst="rect">
            <a:avLst/>
          </a:prstGeom>
          <a:solidFill>
            <a:srgbClr val="0B3C4C"/>
          </a:solidFill>
          <a:ln>
            <a:noFill/>
          </a:ln>
        </p:spPr>
        <p:txBody>
          <a:bodyPr wrap="square" lIns="177800" tIns="177800" rIns="177800" bIns="177800" anchor="b">
            <a:noAutofit/>
          </a:bodyPr>
          <a:lstStyle/>
          <a:p>
            <a:pPr algn="ctr">
              <a:spcBef>
                <a:spcPts val="0"/>
              </a:spcBef>
              <a:buNone/>
            </a:pPr>
            <a:r>
              <a:rPr lang="en-US" sz="2000" b="1" dirty="0">
                <a:solidFill>
                  <a:srgbClr val="FFFFFF"/>
                </a:solidFill>
                <a:latin typeface="Barlow"/>
              </a:rPr>
              <a:t>Change control</a:t>
            </a:r>
          </a:p>
        </p:txBody>
      </p:sp>
      <p:sp>
        <p:nvSpPr>
          <p:cNvPr id="986" name="Diagram 987"/>
          <p:cNvSpPr/>
          <p:nvPr/>
        </p:nvSpPr>
        <p:spPr>
          <a:xfrm>
            <a:off x="4991100" y="5334000"/>
            <a:ext cx="2286000" cy="50800"/>
          </a:xfrm>
          <a:prstGeom prst="rect">
            <a:avLst/>
          </a:prstGeom>
          <a:solidFill>
            <a:srgbClr val="F5A623"/>
          </a:solidFill>
          <a:ln>
            <a:noFill/>
          </a:ln>
        </p:spPr>
        <p:txBody>
          <a:bodyPr wrap="square" lIns="0" tIns="0" rIns="0" bIns="0" anchor="t">
            <a:noAutofit/>
          </a:bodyPr>
          <a:lstStyle/>
          <a:p>
            <a:endParaRPr lang="en-US" sz="1000"/>
          </a:p>
        </p:txBody>
      </p:sp>
      <p:sp>
        <p:nvSpPr>
          <p:cNvPr id="987" name="Diagram 988"/>
          <p:cNvSpPr/>
          <p:nvPr/>
        </p:nvSpPr>
        <p:spPr>
          <a:xfrm>
            <a:off x="4991100" y="5486400"/>
            <a:ext cx="2286000" cy="1905000"/>
          </a:xfrm>
          <a:prstGeom prst="rect">
            <a:avLst/>
          </a:prstGeom>
          <a:noFill/>
          <a:ln>
            <a:noFill/>
          </a:ln>
        </p:spPr>
        <p:txBody>
          <a:bodyPr wrap="square" lIns="0" tIns="0" rIns="0" bIns="0" anchor="t">
            <a:noAutofit/>
          </a:bodyPr>
          <a:lstStyle/>
          <a:p>
            <a:pPr algn="l">
              <a:spcBef>
                <a:spcPts val="0"/>
              </a:spcBef>
              <a:buNone/>
            </a:pPr>
            <a:r>
              <a:rPr lang="en-US" sz="1800" b="1" dirty="0">
                <a:solidFill>
                  <a:srgbClr val="0B3C4C"/>
                </a:solidFill>
                <a:latin typeface="Barlow"/>
              </a:rPr>
              <a:t>Earlier checks</a:t>
            </a:r>
          </a:p>
          <a:p>
            <a:pPr algn="l">
              <a:spcBef>
                <a:spcPts val="300"/>
              </a:spcBef>
              <a:buNone/>
            </a:pPr>
            <a:r>
              <a:rPr lang="en-US" sz="1800" b="0" dirty="0">
                <a:solidFill>
                  <a:srgbClr val="4F6670"/>
                </a:solidFill>
                <a:latin typeface="Barlow"/>
              </a:rPr>
              <a:t>Review clashes, freezes and approval requirements before work.</a:t>
            </a:r>
          </a:p>
        </p:txBody>
      </p:sp>
      <p:sp>
        <p:nvSpPr>
          <p:cNvPr id="988" name="Diagram 989"/>
          <p:cNvSpPr/>
          <p:nvPr/>
        </p:nvSpPr>
        <p:spPr>
          <a:xfrm>
            <a:off x="7480300" y="2603500"/>
            <a:ext cx="2286000" cy="2540000"/>
          </a:xfrm>
          <a:prstGeom prst="rect">
            <a:avLst/>
          </a:prstGeom>
          <a:solidFill>
            <a:srgbClr val="0B3C4C"/>
          </a:solidFill>
          <a:ln>
            <a:noFill/>
          </a:ln>
        </p:spPr>
        <p:txBody>
          <a:bodyPr wrap="square" lIns="177800" tIns="177800" rIns="177800" bIns="177800" anchor="b">
            <a:noAutofit/>
          </a:bodyPr>
          <a:lstStyle/>
          <a:p>
            <a:pPr algn="ctr">
              <a:spcBef>
                <a:spcPts val="0"/>
              </a:spcBef>
              <a:buNone/>
            </a:pPr>
            <a:r>
              <a:rPr lang="en-US" sz="2000" b="1" dirty="0">
                <a:solidFill>
                  <a:srgbClr val="FFFFFF"/>
                </a:solidFill>
                <a:latin typeface="Barlow"/>
              </a:rPr>
              <a:t>CMDB</a:t>
            </a:r>
          </a:p>
        </p:txBody>
      </p:sp>
      <p:sp>
        <p:nvSpPr>
          <p:cNvPr id="989" name="Diagram 990"/>
          <p:cNvSpPr/>
          <p:nvPr/>
        </p:nvSpPr>
        <p:spPr>
          <a:xfrm>
            <a:off x="7480300" y="5334000"/>
            <a:ext cx="2286000" cy="50800"/>
          </a:xfrm>
          <a:prstGeom prst="rect">
            <a:avLst/>
          </a:prstGeom>
          <a:solidFill>
            <a:srgbClr val="F5A623"/>
          </a:solidFill>
          <a:ln>
            <a:noFill/>
          </a:ln>
        </p:spPr>
        <p:txBody>
          <a:bodyPr wrap="square" lIns="0" tIns="0" rIns="0" bIns="0" anchor="t">
            <a:noAutofit/>
          </a:bodyPr>
          <a:lstStyle/>
          <a:p>
            <a:endParaRPr lang="en-US" sz="1000"/>
          </a:p>
        </p:txBody>
      </p:sp>
      <p:sp>
        <p:nvSpPr>
          <p:cNvPr id="990" name="Diagram 991"/>
          <p:cNvSpPr/>
          <p:nvPr/>
        </p:nvSpPr>
        <p:spPr>
          <a:xfrm>
            <a:off x="7480300" y="5486400"/>
            <a:ext cx="2286000" cy="1905000"/>
          </a:xfrm>
          <a:prstGeom prst="rect">
            <a:avLst/>
          </a:prstGeom>
          <a:noFill/>
          <a:ln>
            <a:noFill/>
          </a:ln>
        </p:spPr>
        <p:txBody>
          <a:bodyPr wrap="square" lIns="0" tIns="0" rIns="0" bIns="0" anchor="t">
            <a:noAutofit/>
          </a:bodyPr>
          <a:lstStyle/>
          <a:p>
            <a:pPr algn="l">
              <a:spcBef>
                <a:spcPts val="0"/>
              </a:spcBef>
              <a:buNone/>
            </a:pPr>
            <a:r>
              <a:rPr lang="en-US" sz="1800" b="1" dirty="0">
                <a:solidFill>
                  <a:srgbClr val="0B3C4C"/>
                </a:solidFill>
                <a:latin typeface="Barlow"/>
              </a:rPr>
              <a:t>Shared impact</a:t>
            </a:r>
          </a:p>
          <a:p>
            <a:pPr algn="l">
              <a:spcBef>
                <a:spcPts val="300"/>
              </a:spcBef>
              <a:buNone/>
            </a:pPr>
            <a:r>
              <a:rPr lang="en-US" sz="1800" b="0" dirty="0">
                <a:solidFill>
                  <a:srgbClr val="4F6670"/>
                </a:solidFill>
                <a:latin typeface="Barlow"/>
              </a:rPr>
              <a:t>Use maintained device and service links to expose dependencies.</a:t>
            </a:r>
          </a:p>
        </p:txBody>
      </p:sp>
      <p:sp>
        <p:nvSpPr>
          <p:cNvPr id="991" name="Diagram 992"/>
          <p:cNvSpPr/>
          <p:nvPr/>
        </p:nvSpPr>
        <p:spPr>
          <a:xfrm>
            <a:off x="9969500" y="2603500"/>
            <a:ext cx="2286000" cy="2540000"/>
          </a:xfrm>
          <a:prstGeom prst="rect">
            <a:avLst/>
          </a:prstGeom>
          <a:solidFill>
            <a:srgbClr val="0B3C4C"/>
          </a:solidFill>
          <a:ln>
            <a:noFill/>
          </a:ln>
        </p:spPr>
        <p:txBody>
          <a:bodyPr wrap="square" lIns="177800" tIns="177800" rIns="177800" bIns="177800" anchor="b">
            <a:noAutofit/>
          </a:bodyPr>
          <a:lstStyle/>
          <a:p>
            <a:pPr algn="ctr">
              <a:spcBef>
                <a:spcPts val="0"/>
              </a:spcBef>
              <a:buNone/>
            </a:pPr>
            <a:r>
              <a:rPr lang="en-US" sz="2000" b="1" dirty="0">
                <a:solidFill>
                  <a:srgbClr val="FFFFFF"/>
                </a:solidFill>
                <a:latin typeface="Barlow"/>
              </a:rPr>
              <a:t>AI and audit</a:t>
            </a:r>
          </a:p>
        </p:txBody>
      </p:sp>
      <p:sp>
        <p:nvSpPr>
          <p:cNvPr id="992" name="Diagram 993"/>
          <p:cNvSpPr/>
          <p:nvPr/>
        </p:nvSpPr>
        <p:spPr>
          <a:xfrm>
            <a:off x="9969500" y="5334000"/>
            <a:ext cx="2286000" cy="50800"/>
          </a:xfrm>
          <a:prstGeom prst="rect">
            <a:avLst/>
          </a:prstGeom>
          <a:solidFill>
            <a:srgbClr val="F5A623"/>
          </a:solidFill>
          <a:ln>
            <a:noFill/>
          </a:ln>
        </p:spPr>
        <p:txBody>
          <a:bodyPr wrap="square" lIns="0" tIns="0" rIns="0" bIns="0" anchor="t">
            <a:noAutofit/>
          </a:bodyPr>
          <a:lstStyle/>
          <a:p>
            <a:endParaRPr lang="en-US" sz="1000"/>
          </a:p>
        </p:txBody>
      </p:sp>
      <p:sp>
        <p:nvSpPr>
          <p:cNvPr id="993" name="Diagram 994"/>
          <p:cNvSpPr/>
          <p:nvPr/>
        </p:nvSpPr>
        <p:spPr>
          <a:xfrm>
            <a:off x="9969500" y="5486400"/>
            <a:ext cx="2286000" cy="1905000"/>
          </a:xfrm>
          <a:prstGeom prst="rect">
            <a:avLst/>
          </a:prstGeom>
          <a:noFill/>
          <a:ln>
            <a:noFill/>
          </a:ln>
        </p:spPr>
        <p:txBody>
          <a:bodyPr wrap="square" lIns="0" tIns="0" rIns="0" bIns="0" anchor="t">
            <a:noAutofit/>
          </a:bodyPr>
          <a:lstStyle/>
          <a:p>
            <a:pPr algn="l">
              <a:spcBef>
                <a:spcPts val="0"/>
              </a:spcBef>
              <a:buNone/>
            </a:pPr>
            <a:r>
              <a:rPr lang="en-US" sz="1800" b="1" dirty="0">
                <a:solidFill>
                  <a:srgbClr val="0B3C4C"/>
                </a:solidFill>
                <a:latin typeface="Barlow"/>
              </a:rPr>
              <a:t>Reviewable decisions</a:t>
            </a:r>
          </a:p>
          <a:p>
            <a:pPr algn="l">
              <a:spcBef>
                <a:spcPts val="300"/>
              </a:spcBef>
              <a:buNone/>
            </a:pPr>
            <a:r>
              <a:rPr lang="en-US" sz="1800" b="0" dirty="0">
                <a:solidFill>
                  <a:srgbClr val="4F6670"/>
                </a:solidFill>
                <a:latin typeface="Barlow"/>
              </a:rPr>
              <a:t>Use optional AI with human review; retain named decision history.</a:t>
            </a:r>
          </a:p>
        </p:txBody>
      </p:sp>
      <p:cxnSp>
        <p:nvCxnSpPr>
          <p:cNvPr id="994" name="Link 995"/>
          <p:cNvCxnSpPr/>
          <p:nvPr/>
        </p:nvCxnSpPr>
        <p:spPr>
          <a:xfrm>
            <a:off x="2159000" y="3873500"/>
            <a:ext cx="304800" cy="0"/>
          </a:xfrm>
          <a:prstGeom prst="straightConnector1">
            <a:avLst/>
          </a:prstGeom>
          <a:ln w="25400">
            <a:solidFill>
              <a:srgbClr val="00708A"/>
            </a:solidFill>
            <a:tailEnd type="triangle" w="med" len="med"/>
          </a:ln>
        </p:spPr>
      </p:cxnSp>
      <p:cxnSp>
        <p:nvCxnSpPr>
          <p:cNvPr id="995" name="Link 996"/>
          <p:cNvCxnSpPr/>
          <p:nvPr/>
        </p:nvCxnSpPr>
        <p:spPr>
          <a:xfrm>
            <a:off x="12306300" y="3873500"/>
            <a:ext cx="279400" cy="0"/>
          </a:xfrm>
          <a:prstGeom prst="straightConnector1">
            <a:avLst/>
          </a:prstGeom>
          <a:ln w="25400">
            <a:solidFill>
              <a:srgbClr val="00708A"/>
            </a:solidFill>
            <a:tailEnd type="triangle" w="med" len="med"/>
          </a:ln>
        </p:spPr>
      </p:cxnSp>
      <p:pic>
        <p:nvPicPr>
          <p:cNvPr id="996" name="Graphic 996" descr="Service desk"/>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89300" y="3048000"/>
            <a:ext cx="711200" cy="711200"/>
          </a:xfrm>
          <a:prstGeom prst="rect">
            <a:avLst/>
          </a:prstGeom>
        </p:spPr>
      </p:pic>
      <p:pic>
        <p:nvPicPr>
          <p:cNvPr id="997" name="Graphic 997" descr="Change control"/>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778500" y="3048000"/>
            <a:ext cx="711200" cy="711200"/>
          </a:xfrm>
          <a:prstGeom prst="rect">
            <a:avLst/>
          </a:prstGeom>
        </p:spPr>
      </p:pic>
      <p:pic>
        <p:nvPicPr>
          <p:cNvPr id="998" name="Graphic 998" descr="CMDB"/>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67700" y="3048000"/>
            <a:ext cx="711200" cy="711200"/>
          </a:xfrm>
          <a:prstGeom prst="rect">
            <a:avLst/>
          </a:prstGeom>
        </p:spPr>
      </p:pic>
      <p:pic>
        <p:nvPicPr>
          <p:cNvPr id="999" name="Graphic 999" descr="AI and audit"/>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756900" y="3048000"/>
            <a:ext cx="711200" cy="711200"/>
          </a:xfrm>
          <a:prstGeom prst="rect">
            <a:avLst/>
          </a:prstGeom>
        </p:spPr>
      </p:pic>
      <p:pic>
        <p:nvPicPr>
          <p:cNvPr id="1000" name="Graphic 1000" descr="Provide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3030200" y="3238500"/>
            <a:ext cx="609600" cy="609600"/>
          </a:xfrm>
          <a:prstGeom prst="rect">
            <a:avLst/>
          </a:prstGeom>
        </p:spPr>
      </p:pic>
      <p:pic>
        <p:nvPicPr>
          <p:cNvPr id="1001" name="Graphic 1001" descr="Requeste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54100" y="3238500"/>
            <a:ext cx="609600" cy="609600"/>
          </a:xfrm>
          <a:prstGeom prst="rect">
            <a:avLst/>
          </a:prstGeom>
        </p:spPr>
      </p:pic>
    </p:spTree>
    <p:extLst>
      <p:ext uri="{BB962C8B-B14F-4D97-AF65-F5344CB8AC3E}">
        <p14:creationId xmlns:p14="http://schemas.microsoft.com/office/powerpoint/2010/main" val="10833600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6900" y="1270000"/>
            <a:ext cx="965200" cy="274320"/>
          </a:xfrm>
          <a:prstGeom prst="rect">
            <a:avLst/>
          </a:prstGeom>
          <a:noFill/>
        </p:spPr>
        <p:txBody>
          <a:bodyPr wrap="square" lIns="0" tIns="0" rIns="0" bIns="0">
            <a:noAutofit/>
          </a:bodyPr>
          <a:lstStyle/>
          <a:p>
            <a:pPr>
              <a:spcAft>
                <a:spcPts val="700"/>
              </a:spcAft>
              <a:defRPr sz="1100" b="1">
                <a:solidFill>
                  <a:srgbClr val="00708A"/>
                </a:solidFill>
                <a:latin typeface="Barlow"/>
              </a:defRPr>
            </a:pPr>
            <a:r>
              <a:t>SERVICEOPS</a:t>
            </a:r>
          </a:p>
        </p:txBody>
      </p:sp>
      <p:sp>
        <p:nvSpPr>
          <p:cNvPr id="4" name="TextBox 3"/>
          <p:cNvSpPr txBox="1"/>
          <p:nvPr/>
        </p:nvSpPr>
        <p:spPr>
          <a:xfrm>
            <a:off x="1714500" y="1270000"/>
            <a:ext cx="11430000" cy="365760"/>
          </a:xfrm>
          <a:prstGeom prst="rect">
            <a:avLst/>
          </a:prstGeom>
          <a:noFill/>
        </p:spPr>
        <p:txBody>
          <a:bodyPr wrap="square" lIns="0" tIns="0" rIns="0" bIns="0">
            <a:spAutoFit/>
          </a:bodyPr>
          <a:lstStyle/>
          <a:p>
            <a:pPr>
              <a:spcAft>
                <a:spcPts val="700"/>
              </a:spcAft>
              <a:defRPr sz="1200" b="1">
                <a:solidFill>
                  <a:srgbClr val="4F6670"/>
                </a:solidFill>
                <a:latin typeface="Barlow"/>
              </a:defRPr>
            </a:pPr>
            <a:r>
              <a:t>A CLEAR PATH FROM PLAN TO DELIVERY</a:t>
            </a:r>
          </a:p>
        </p:txBody>
      </p:sp>
      <p:sp>
        <p:nvSpPr>
          <p:cNvPr id="5" name="TextBox 4"/>
          <p:cNvSpPr txBox="1"/>
          <p:nvPr/>
        </p:nvSpPr>
        <p:spPr>
          <a:xfrm>
            <a:off x="596900" y="304800"/>
            <a:ext cx="11430000" cy="400110"/>
          </a:xfrm>
          <a:prstGeom prst="rect">
            <a:avLst/>
          </a:prstGeom>
          <a:noFill/>
        </p:spPr>
        <p:txBody>
          <a:bodyPr wrap="square" lIns="0" tIns="0" rIns="0" bIns="0">
            <a:spAutoFit/>
          </a:bodyPr>
          <a:lstStyle/>
          <a:p>
            <a:pPr>
              <a:spcAft>
                <a:spcPts val="700"/>
              </a:spcAft>
              <a:defRPr sz="2600" b="1">
                <a:solidFill>
                  <a:srgbClr val="0B3C4C"/>
                </a:solidFill>
                <a:latin typeface="Barlow"/>
              </a:defRPr>
            </a:pPr>
            <a:r>
              <a:rPr sz="2600"/>
              <a:t>Make coordination part of the change—not a side conversation.</a:t>
            </a:r>
          </a:p>
        </p:txBody>
      </p:sp>
      <p:sp>
        <p:nvSpPr>
          <p:cNvPr id="6" name="TextBox 5"/>
          <p:cNvSpPr txBox="1"/>
          <p:nvPr/>
        </p:nvSpPr>
        <p:spPr>
          <a:xfrm>
            <a:off x="596900" y="1625600"/>
            <a:ext cx="13436600" cy="307777"/>
          </a:xfrm>
          <a:prstGeom prst="rect">
            <a:avLst/>
          </a:prstGeom>
          <a:noFill/>
        </p:spPr>
        <p:txBody>
          <a:bodyPr wrap="square" lIns="0" tIns="0" rIns="0" bIns="0">
            <a:spAutoFit/>
          </a:bodyPr>
          <a:lstStyle/>
          <a:p>
            <a:pPr>
              <a:spcAft>
                <a:spcPts val="700"/>
              </a:spcAft>
              <a:defRPr sz="2000" b="0">
                <a:solidFill>
                  <a:srgbClr val="4F6670"/>
                </a:solidFill>
                <a:latin typeface="Barlow"/>
              </a:defRPr>
            </a:pPr>
            <a:r>
              <a:t>Capture the plan, check dependencies, align approvals and hand off the work in one recorded flow.</a:t>
            </a:r>
          </a:p>
        </p:txBody>
      </p:sp>
      <p:sp>
        <p:nvSpPr>
          <p:cNvPr id="7" name="Rectangle 6"/>
          <p:cNvSpPr/>
          <p:nvPr/>
        </p:nvSpPr>
        <p:spPr>
          <a:xfrm>
            <a:off x="594360" y="7754112"/>
            <a:ext cx="13441680" cy="10972"/>
          </a:xfrm>
          <a:prstGeom prst="rect">
            <a:avLst/>
          </a:prstGeom>
          <a:solidFill>
            <a:srgbClr val="D5D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7909560"/>
            <a:ext cx="10058400" cy="182880"/>
          </a:xfrm>
          <a:prstGeom prst="rect">
            <a:avLst/>
          </a:prstGeom>
          <a:noFill/>
        </p:spPr>
        <p:txBody>
          <a:bodyPr wrap="square" lIns="0" tIns="0" rIns="0" bIns="0">
            <a:spAutoFit/>
          </a:bodyPr>
          <a:lstStyle/>
          <a:p>
            <a:pPr>
              <a:spcAft>
                <a:spcPts val="700"/>
              </a:spcAft>
              <a:defRPr sz="900" b="0">
                <a:solidFill>
                  <a:srgbClr val="4F6670"/>
                </a:solidFill>
                <a:latin typeface="Barlow"/>
              </a:defRPr>
            </a:pPr>
            <a:r>
              <a:t>Anushka Wijesundara  /  Product overview</a:t>
            </a:r>
          </a:p>
        </p:txBody>
      </p:sp>
      <p:sp>
        <p:nvSpPr>
          <p:cNvPr id="9" name="TextBox 8"/>
          <p:cNvSpPr txBox="1"/>
          <p:nvPr/>
        </p:nvSpPr>
        <p:spPr>
          <a:xfrm>
            <a:off x="13487400" y="7854696"/>
            <a:ext cx="548640" cy="184666"/>
          </a:xfrm>
          <a:prstGeom prst="rect">
            <a:avLst/>
          </a:prstGeom>
          <a:noFill/>
        </p:spPr>
        <p:txBody>
          <a:bodyPr wrap="square" lIns="0" tIns="0" rIns="0" bIns="0">
            <a:spAutoFit/>
          </a:bodyPr>
          <a:lstStyle/>
          <a:p>
            <a:pPr>
              <a:spcAft>
                <a:spcPts val="700"/>
              </a:spcAft>
              <a:defRPr sz="1200" b="1">
                <a:solidFill>
                  <a:srgbClr val="00708A"/>
                </a:solidFill>
                <a:latin typeface="Barlow"/>
              </a:defRPr>
            </a:pPr>
            <a:r>
              <a:rPr lang="en-JP"/>
              <a:t>06</a:t>
            </a:r>
            <a:endParaRPr/>
          </a:p>
        </p:txBody>
      </p:sp>
      <p:sp>
        <p:nvSpPr>
          <p:cNvPr id="901" name="JNX Rule"/>
          <p:cNvSpPr/>
          <p:nvPr/>
        </p:nvSpPr>
        <p:spPr>
          <a:xfrm>
            <a:off x="596900" y="1016000"/>
            <a:ext cx="13436600" cy="19050"/>
          </a:xfrm>
          <a:prstGeom prst="rect">
            <a:avLst/>
          </a:prstGeom>
          <a:solidFill>
            <a:srgbClr val="0B3C4C"/>
          </a:solidFill>
          <a:ln>
            <a:noFill/>
          </a:ln>
        </p:spPr>
        <p:txBody>
          <a:bodyPr/>
          <a:lstStyle/>
          <a:p>
            <a:endParaRPr lang="en-JP"/>
          </a:p>
        </p:txBody>
      </p:sp>
      <p:pic>
        <p:nvPicPr>
          <p:cNvPr id="903" name="Copied Picture 903" descr="Japannext JNX logo">
            <a:extLst>
              <a:ext uri="{FF2B5EF4-FFF2-40B4-BE49-F238E27FC236}">
                <a16:creationId xmlns:a16="http://schemas.microsoft.com/office/drawing/2014/main" id="{429122C2-2B95-92FB-9A5C-2E92C9458AAC}"/>
              </a:ext>
            </a:extLst>
          </p:cNvPr>
          <p:cNvPicPr>
            <a:picLocks noChangeAspect="1"/>
          </p:cNvPicPr>
          <p:nvPr/>
        </p:nvPicPr>
        <p:blipFill>
          <a:blip r:embed="rId3">
            <a:clrChange>
              <a:clrFrom>
                <a:srgbClr val="FFFFFF"/>
              </a:clrFrom>
              <a:clrTo>
                <a:srgbClr val="FFFFFF">
                  <a:alpha val="0"/>
                </a:srgbClr>
              </a:clrTo>
            </a:clrChange>
          </a:blip>
          <a:srcRect l="13500" t="21500" r="13800" b="22500"/>
          <a:stretch>
            <a:fillRect/>
          </a:stretch>
        </p:blipFill>
        <p:spPr>
          <a:xfrm>
            <a:off x="12623800" y="254000"/>
            <a:ext cx="1409700" cy="660400"/>
          </a:xfrm>
          <a:prstGeom prst="rect">
            <a:avLst/>
          </a:prstGeom>
        </p:spPr>
      </p:pic>
      <p:sp>
        <p:nvSpPr>
          <p:cNvPr id="980" name="Diagram 981"/>
          <p:cNvSpPr/>
          <p:nvPr/>
        </p:nvSpPr>
        <p:spPr>
          <a:xfrm>
            <a:off x="596900" y="2857500"/>
            <a:ext cx="1270000" cy="2032000"/>
          </a:xfrm>
          <a:prstGeom prst="roundRect">
            <a:avLst/>
          </a:prstGeom>
          <a:solidFill>
            <a:srgbClr val="EFF4F6"/>
          </a:solidFill>
          <a:ln>
            <a:noFill/>
          </a:ln>
        </p:spPr>
        <p:txBody>
          <a:bodyPr wrap="square" lIns="76200" tIns="76200" rIns="76200" bIns="76200" anchor="ctr">
            <a:noAutofit/>
          </a:bodyPr>
          <a:lstStyle/>
          <a:p>
            <a:pPr algn="ctr">
              <a:spcBef>
                <a:spcPts val="0"/>
              </a:spcBef>
              <a:buNone/>
            </a:pPr>
            <a:r>
              <a:rPr lang="en-US" sz="1600" b="1" dirty="0">
                <a:solidFill>
                  <a:srgbClr val="0B3C4C"/>
                </a:solidFill>
                <a:latin typeface="Barlow"/>
              </a:rPr>
              <a:t>Requester</a:t>
            </a:r>
          </a:p>
        </p:txBody>
      </p:sp>
      <p:sp>
        <p:nvSpPr>
          <p:cNvPr id="981" name="Diagram 982"/>
          <p:cNvSpPr/>
          <p:nvPr/>
        </p:nvSpPr>
        <p:spPr>
          <a:xfrm>
            <a:off x="12382500" y="2857500"/>
            <a:ext cx="1651000" cy="2032000"/>
          </a:xfrm>
          <a:prstGeom prst="roundRect">
            <a:avLst/>
          </a:prstGeom>
          <a:solidFill>
            <a:srgbClr val="EFF4F6"/>
          </a:solidFill>
          <a:ln>
            <a:noFill/>
          </a:ln>
        </p:spPr>
        <p:txBody>
          <a:bodyPr wrap="square" lIns="76200" tIns="76200" rIns="76200" bIns="76200" anchor="ctr">
            <a:noAutofit/>
          </a:bodyPr>
          <a:lstStyle/>
          <a:p>
            <a:pPr algn="ctr">
              <a:spcBef>
                <a:spcPts val="0"/>
              </a:spcBef>
              <a:buNone/>
            </a:pPr>
            <a:r>
              <a:rPr lang="en-US" sz="1600" b="1" dirty="0">
                <a:solidFill>
                  <a:srgbClr val="0B3C4C"/>
                </a:solidFill>
                <a:latin typeface="Barlow"/>
              </a:rPr>
              <a:t>Delivery teams</a:t>
            </a:r>
          </a:p>
        </p:txBody>
      </p:sp>
      <p:sp>
        <p:nvSpPr>
          <p:cNvPr id="982" name="Diagram 983"/>
          <p:cNvSpPr/>
          <p:nvPr/>
        </p:nvSpPr>
        <p:spPr>
          <a:xfrm>
            <a:off x="2247900" y="2857500"/>
            <a:ext cx="2133600" cy="2032000"/>
          </a:xfrm>
          <a:prstGeom prst="rect">
            <a:avLst/>
          </a:prstGeom>
          <a:solidFill>
            <a:srgbClr val="0B3C4C"/>
          </a:solidFill>
          <a:ln>
            <a:noFill/>
          </a:ln>
        </p:spPr>
        <p:txBody>
          <a:bodyPr wrap="square" lIns="203200" tIns="203200" rIns="203200" bIns="203200" anchor="ctr">
            <a:noAutofit/>
          </a:bodyPr>
          <a:lstStyle/>
          <a:p>
            <a:pPr algn="l">
              <a:spcBef>
                <a:spcPts val="0"/>
              </a:spcBef>
              <a:buNone/>
            </a:pPr>
            <a:r>
              <a:rPr lang="en-US" sz="2800" b="1" dirty="0">
                <a:solidFill>
                  <a:srgbClr val="F5A623"/>
                </a:solidFill>
                <a:latin typeface="Barlow"/>
              </a:rPr>
              <a:t>1</a:t>
            </a:r>
          </a:p>
          <a:p>
            <a:pPr algn="l">
              <a:spcBef>
                <a:spcPts val="200"/>
              </a:spcBef>
              <a:buNone/>
            </a:pPr>
            <a:r>
              <a:rPr lang="en-US" sz="2200" b="1" dirty="0">
                <a:solidFill>
                  <a:srgbClr val="FFFFFF"/>
                </a:solidFill>
                <a:latin typeface="Barlow"/>
              </a:rPr>
              <a:t>Record</a:t>
            </a:r>
          </a:p>
        </p:txBody>
      </p:sp>
      <p:sp>
        <p:nvSpPr>
          <p:cNvPr id="983" name="Diagram 984"/>
          <p:cNvSpPr/>
          <p:nvPr/>
        </p:nvSpPr>
        <p:spPr>
          <a:xfrm>
            <a:off x="2247900" y="5080000"/>
            <a:ext cx="2133600" cy="1270000"/>
          </a:xfrm>
          <a:prstGeom prst="rect">
            <a:avLst/>
          </a:prstGeom>
          <a:noFill/>
          <a:ln>
            <a:noFill/>
          </a:ln>
        </p:spPr>
        <p:txBody>
          <a:bodyPr wrap="square" lIns="0" tIns="0" rIns="0" bIns="0" anchor="t">
            <a:noAutofit/>
          </a:bodyPr>
          <a:lstStyle/>
          <a:p>
            <a:pPr algn="l">
              <a:spcBef>
                <a:spcPts val="0"/>
              </a:spcBef>
              <a:buNone/>
            </a:pPr>
            <a:r>
              <a:rPr lang="en-US" sz="1600" b="0" dirty="0">
                <a:solidFill>
                  <a:srgbClr val="4F6670"/>
                </a:solidFill>
                <a:latin typeface="Barlow"/>
              </a:rPr>
              <a:t>Name the scope, affected devices, owner and window.</a:t>
            </a:r>
          </a:p>
        </p:txBody>
      </p:sp>
      <p:sp>
        <p:nvSpPr>
          <p:cNvPr id="984" name="Diagram 985"/>
          <p:cNvSpPr/>
          <p:nvPr/>
        </p:nvSpPr>
        <p:spPr>
          <a:xfrm>
            <a:off x="4787900" y="2857500"/>
            <a:ext cx="2133600" cy="2032000"/>
          </a:xfrm>
          <a:prstGeom prst="rect">
            <a:avLst/>
          </a:prstGeom>
          <a:solidFill>
            <a:srgbClr val="00708A"/>
          </a:solidFill>
          <a:ln>
            <a:noFill/>
          </a:ln>
        </p:spPr>
        <p:txBody>
          <a:bodyPr wrap="square" lIns="203200" tIns="203200" rIns="203200" bIns="203200" anchor="ctr">
            <a:noAutofit/>
          </a:bodyPr>
          <a:lstStyle/>
          <a:p>
            <a:pPr algn="l">
              <a:spcBef>
                <a:spcPts val="0"/>
              </a:spcBef>
              <a:buNone/>
            </a:pPr>
            <a:r>
              <a:rPr lang="en-US" sz="2800" b="1" dirty="0">
                <a:solidFill>
                  <a:srgbClr val="F5A623"/>
                </a:solidFill>
                <a:latin typeface="Barlow"/>
              </a:rPr>
              <a:t>2</a:t>
            </a:r>
          </a:p>
          <a:p>
            <a:pPr algn="l">
              <a:spcBef>
                <a:spcPts val="200"/>
              </a:spcBef>
              <a:buNone/>
            </a:pPr>
            <a:r>
              <a:rPr lang="en-US" sz="2200" b="1" dirty="0">
                <a:solidFill>
                  <a:srgbClr val="FFFFFF"/>
                </a:solidFill>
                <a:latin typeface="Barlow"/>
              </a:rPr>
              <a:t>Check</a:t>
            </a:r>
          </a:p>
        </p:txBody>
      </p:sp>
      <p:sp>
        <p:nvSpPr>
          <p:cNvPr id="985" name="Diagram 986"/>
          <p:cNvSpPr/>
          <p:nvPr/>
        </p:nvSpPr>
        <p:spPr>
          <a:xfrm>
            <a:off x="4787900" y="5080000"/>
            <a:ext cx="2133600" cy="1270000"/>
          </a:xfrm>
          <a:prstGeom prst="rect">
            <a:avLst/>
          </a:prstGeom>
          <a:noFill/>
          <a:ln>
            <a:noFill/>
          </a:ln>
        </p:spPr>
        <p:txBody>
          <a:bodyPr wrap="square" lIns="0" tIns="0" rIns="0" bIns="0" anchor="t">
            <a:noAutofit/>
          </a:bodyPr>
          <a:lstStyle/>
          <a:p>
            <a:pPr algn="l">
              <a:spcBef>
                <a:spcPts val="0"/>
              </a:spcBef>
              <a:buNone/>
            </a:pPr>
            <a:r>
              <a:rPr lang="en-US" sz="1600" b="0" dirty="0">
                <a:solidFill>
                  <a:srgbClr val="4F6670"/>
                </a:solidFill>
                <a:latin typeface="Barlow"/>
              </a:rPr>
              <a:t>Check linked changes and configured freeze dates.</a:t>
            </a:r>
          </a:p>
        </p:txBody>
      </p:sp>
      <p:sp>
        <p:nvSpPr>
          <p:cNvPr id="986" name="Diagram 987"/>
          <p:cNvSpPr/>
          <p:nvPr/>
        </p:nvSpPr>
        <p:spPr>
          <a:xfrm>
            <a:off x="7327900" y="2857500"/>
            <a:ext cx="2133600" cy="2032000"/>
          </a:xfrm>
          <a:prstGeom prst="rect">
            <a:avLst/>
          </a:prstGeom>
          <a:solidFill>
            <a:srgbClr val="0B3C4C"/>
          </a:solidFill>
          <a:ln>
            <a:noFill/>
          </a:ln>
        </p:spPr>
        <p:txBody>
          <a:bodyPr wrap="square" lIns="203200" tIns="203200" rIns="203200" bIns="203200" anchor="ctr">
            <a:noAutofit/>
          </a:bodyPr>
          <a:lstStyle/>
          <a:p>
            <a:pPr algn="l">
              <a:spcBef>
                <a:spcPts val="0"/>
              </a:spcBef>
              <a:buNone/>
            </a:pPr>
            <a:r>
              <a:rPr lang="en-US" sz="2800" b="1" dirty="0">
                <a:solidFill>
                  <a:srgbClr val="F5A623"/>
                </a:solidFill>
                <a:latin typeface="Barlow"/>
              </a:rPr>
              <a:t>3</a:t>
            </a:r>
          </a:p>
          <a:p>
            <a:pPr algn="l">
              <a:spcBef>
                <a:spcPts val="200"/>
              </a:spcBef>
              <a:buNone/>
            </a:pPr>
            <a:r>
              <a:rPr lang="en-US" sz="2200" b="1" dirty="0">
                <a:solidFill>
                  <a:srgbClr val="FFFFFF"/>
                </a:solidFill>
                <a:latin typeface="Barlow"/>
              </a:rPr>
              <a:t>Approve</a:t>
            </a:r>
          </a:p>
        </p:txBody>
      </p:sp>
      <p:sp>
        <p:nvSpPr>
          <p:cNvPr id="987" name="Diagram 988"/>
          <p:cNvSpPr/>
          <p:nvPr/>
        </p:nvSpPr>
        <p:spPr>
          <a:xfrm>
            <a:off x="7327900" y="5080000"/>
            <a:ext cx="2133600" cy="1270000"/>
          </a:xfrm>
          <a:prstGeom prst="rect">
            <a:avLst/>
          </a:prstGeom>
          <a:noFill/>
          <a:ln>
            <a:noFill/>
          </a:ln>
        </p:spPr>
        <p:txBody>
          <a:bodyPr wrap="square" lIns="0" tIns="0" rIns="0" bIns="0" anchor="t">
            <a:noAutofit/>
          </a:bodyPr>
          <a:lstStyle/>
          <a:p>
            <a:pPr algn="l">
              <a:spcBef>
                <a:spcPts val="0"/>
              </a:spcBef>
              <a:buNone/>
            </a:pPr>
            <a:r>
              <a:rPr lang="en-US" sz="1600" b="0" dirty="0">
                <a:solidFill>
                  <a:srgbClr val="4F6670"/>
                </a:solidFill>
                <a:latin typeface="Barlow"/>
              </a:rPr>
              <a:t>Route the decision through the configured approvers.</a:t>
            </a:r>
          </a:p>
        </p:txBody>
      </p:sp>
      <p:sp>
        <p:nvSpPr>
          <p:cNvPr id="988" name="Diagram 989"/>
          <p:cNvSpPr/>
          <p:nvPr/>
        </p:nvSpPr>
        <p:spPr>
          <a:xfrm>
            <a:off x="9867900" y="2857500"/>
            <a:ext cx="2133600" cy="2032000"/>
          </a:xfrm>
          <a:prstGeom prst="rect">
            <a:avLst/>
          </a:prstGeom>
          <a:solidFill>
            <a:srgbClr val="0B3C4C"/>
          </a:solidFill>
          <a:ln>
            <a:noFill/>
          </a:ln>
        </p:spPr>
        <p:txBody>
          <a:bodyPr wrap="square" lIns="203200" tIns="203200" rIns="203200" bIns="203200" anchor="ctr">
            <a:noAutofit/>
          </a:bodyPr>
          <a:lstStyle/>
          <a:p>
            <a:pPr algn="l">
              <a:spcBef>
                <a:spcPts val="0"/>
              </a:spcBef>
              <a:buNone/>
            </a:pPr>
            <a:r>
              <a:rPr lang="en-US" sz="2800" b="1" dirty="0">
                <a:solidFill>
                  <a:srgbClr val="F5A623"/>
                </a:solidFill>
                <a:latin typeface="Barlow"/>
              </a:rPr>
              <a:t>4</a:t>
            </a:r>
          </a:p>
          <a:p>
            <a:pPr algn="l">
              <a:spcBef>
                <a:spcPts val="200"/>
              </a:spcBef>
              <a:buNone/>
            </a:pPr>
            <a:r>
              <a:rPr lang="en-US" sz="2200" b="1" dirty="0">
                <a:solidFill>
                  <a:srgbClr val="FFFFFF"/>
                </a:solidFill>
                <a:latin typeface="Barlow"/>
              </a:rPr>
              <a:t>Deliver</a:t>
            </a:r>
          </a:p>
        </p:txBody>
      </p:sp>
      <p:sp>
        <p:nvSpPr>
          <p:cNvPr id="989" name="Diagram 990"/>
          <p:cNvSpPr/>
          <p:nvPr/>
        </p:nvSpPr>
        <p:spPr>
          <a:xfrm>
            <a:off x="9867900" y="5080000"/>
            <a:ext cx="2133600" cy="1270000"/>
          </a:xfrm>
          <a:prstGeom prst="rect">
            <a:avLst/>
          </a:prstGeom>
          <a:noFill/>
          <a:ln>
            <a:noFill/>
          </a:ln>
        </p:spPr>
        <p:txBody>
          <a:bodyPr wrap="square" lIns="0" tIns="0" rIns="0" bIns="0" anchor="t">
            <a:noAutofit/>
          </a:bodyPr>
          <a:lstStyle/>
          <a:p>
            <a:pPr algn="l">
              <a:spcBef>
                <a:spcPts val="0"/>
              </a:spcBef>
              <a:buNone/>
            </a:pPr>
            <a:r>
              <a:rPr lang="en-US" sz="1600" b="0" dirty="0">
                <a:solidFill>
                  <a:srgbClr val="4F6670"/>
                </a:solidFill>
                <a:latin typeface="Barlow"/>
              </a:rPr>
              <a:t>Give delivery teams the tasks and recovery context.</a:t>
            </a:r>
          </a:p>
        </p:txBody>
      </p:sp>
      <p:cxnSp>
        <p:nvCxnSpPr>
          <p:cNvPr id="990" name="Link 991"/>
          <p:cNvCxnSpPr/>
          <p:nvPr/>
        </p:nvCxnSpPr>
        <p:spPr>
          <a:xfrm>
            <a:off x="1917700" y="3873500"/>
            <a:ext cx="279400" cy="0"/>
          </a:xfrm>
          <a:prstGeom prst="straightConnector1">
            <a:avLst/>
          </a:prstGeom>
          <a:ln w="25400">
            <a:solidFill>
              <a:srgbClr val="00708A"/>
            </a:solidFill>
            <a:tailEnd type="triangle" w="med" len="med"/>
          </a:ln>
        </p:spPr>
      </p:cxnSp>
      <p:cxnSp>
        <p:nvCxnSpPr>
          <p:cNvPr id="991" name="Link 992"/>
          <p:cNvCxnSpPr/>
          <p:nvPr/>
        </p:nvCxnSpPr>
        <p:spPr>
          <a:xfrm>
            <a:off x="4432300" y="3873500"/>
            <a:ext cx="304800" cy="0"/>
          </a:xfrm>
          <a:prstGeom prst="straightConnector1">
            <a:avLst/>
          </a:prstGeom>
          <a:ln w="25400">
            <a:solidFill>
              <a:srgbClr val="00708A"/>
            </a:solidFill>
            <a:tailEnd type="triangle" w="med" len="med"/>
          </a:ln>
        </p:spPr>
      </p:cxnSp>
      <p:cxnSp>
        <p:nvCxnSpPr>
          <p:cNvPr id="992" name="Link 993"/>
          <p:cNvCxnSpPr/>
          <p:nvPr/>
        </p:nvCxnSpPr>
        <p:spPr>
          <a:xfrm>
            <a:off x="6972300" y="3873500"/>
            <a:ext cx="304800" cy="0"/>
          </a:xfrm>
          <a:prstGeom prst="straightConnector1">
            <a:avLst/>
          </a:prstGeom>
          <a:ln w="25400">
            <a:solidFill>
              <a:srgbClr val="00708A"/>
            </a:solidFill>
            <a:tailEnd type="triangle" w="med" len="med"/>
          </a:ln>
        </p:spPr>
      </p:cxnSp>
      <p:cxnSp>
        <p:nvCxnSpPr>
          <p:cNvPr id="993" name="Link 994"/>
          <p:cNvCxnSpPr/>
          <p:nvPr/>
        </p:nvCxnSpPr>
        <p:spPr>
          <a:xfrm>
            <a:off x="9512300" y="3873500"/>
            <a:ext cx="304800" cy="0"/>
          </a:xfrm>
          <a:prstGeom prst="straightConnector1">
            <a:avLst/>
          </a:prstGeom>
          <a:ln w="25400">
            <a:solidFill>
              <a:srgbClr val="00708A"/>
            </a:solidFill>
            <a:tailEnd type="triangle" w="med" len="med"/>
          </a:ln>
        </p:spPr>
      </p:cxnSp>
      <p:cxnSp>
        <p:nvCxnSpPr>
          <p:cNvPr id="994" name="Link 995"/>
          <p:cNvCxnSpPr/>
          <p:nvPr/>
        </p:nvCxnSpPr>
        <p:spPr>
          <a:xfrm>
            <a:off x="12052300" y="3873500"/>
            <a:ext cx="279400" cy="0"/>
          </a:xfrm>
          <a:prstGeom prst="straightConnector1">
            <a:avLst/>
          </a:prstGeom>
          <a:ln w="25400">
            <a:solidFill>
              <a:srgbClr val="00708A"/>
            </a:solidFill>
            <a:tailEnd type="triangle" w="med" len="med"/>
          </a:ln>
        </p:spPr>
      </p:cxnSp>
      <p:sp>
        <p:nvSpPr>
          <p:cNvPr id="995" name="Diagram 996"/>
          <p:cNvSpPr/>
          <p:nvPr/>
        </p:nvSpPr>
        <p:spPr>
          <a:xfrm>
            <a:off x="596900" y="6540500"/>
            <a:ext cx="13436600" cy="889000"/>
          </a:xfrm>
          <a:prstGeom prst="rect">
            <a:avLst/>
          </a:prstGeom>
          <a:solidFill>
            <a:srgbClr val="EFF4F6"/>
          </a:solidFill>
          <a:ln>
            <a:noFill/>
          </a:ln>
        </p:spPr>
        <p:txBody>
          <a:bodyPr wrap="square" lIns="228600" tIns="228600" rIns="228600" bIns="228600" anchor="ctr">
            <a:noAutofit/>
          </a:bodyPr>
          <a:lstStyle/>
          <a:p>
            <a:pPr algn="l">
              <a:spcBef>
                <a:spcPts val="0"/>
              </a:spcBef>
              <a:buNone/>
            </a:pPr>
            <a:r>
              <a:rPr lang="en-US" sz="1600" b="1" dirty="0">
                <a:solidFill>
                  <a:srgbClr val="0B3C4C"/>
                </a:solidFill>
                <a:latin typeface="Barlow"/>
              </a:rPr>
              <a:t>Shared history  Keep recorded checks, decisions and actions tied to the change and accountable people.</a:t>
            </a:r>
          </a:p>
        </p:txBody>
      </p:sp>
      <p:sp>
        <p:nvSpPr>
          <p:cNvPr id="996" name="Diagram 997"/>
          <p:cNvSpPr/>
          <p:nvPr/>
        </p:nvSpPr>
        <p:spPr>
          <a:xfrm>
            <a:off x="596900" y="6540500"/>
            <a:ext cx="63500" cy="889000"/>
          </a:xfrm>
          <a:prstGeom prst="rect">
            <a:avLst/>
          </a:prstGeom>
          <a:solidFill>
            <a:srgbClr val="F5A623"/>
          </a:solidFill>
          <a:ln>
            <a:noFill/>
          </a:ln>
        </p:spPr>
        <p:txBody>
          <a:bodyPr wrap="square" lIns="0" tIns="0" rIns="0" bIns="0" anchor="t">
            <a:noAutofit/>
          </a:bodyPr>
          <a:lstStyle/>
          <a:p>
            <a:endParaRPr lang="en-US" sz="1000"/>
          </a:p>
        </p:txBody>
      </p:sp>
    </p:spTree>
    <p:extLst>
      <p:ext uri="{BB962C8B-B14F-4D97-AF65-F5344CB8AC3E}">
        <p14:creationId xmlns:p14="http://schemas.microsoft.com/office/powerpoint/2010/main" val="32889136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0"/>
          </a:xfrm>
          <a:prstGeom prst="rect">
            <a:avLst/>
          </a:prstGeom>
          <a:solidFill>
            <a:srgbClr val="003C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6900" y="609600"/>
            <a:ext cx="6400800" cy="274320"/>
          </a:xfrm>
          <a:prstGeom prst="rect">
            <a:avLst/>
          </a:prstGeom>
          <a:noFill/>
        </p:spPr>
        <p:txBody>
          <a:bodyPr wrap="square" lIns="0" tIns="0" rIns="0" bIns="0">
            <a:spAutoFit/>
          </a:bodyPr>
          <a:lstStyle/>
          <a:p>
            <a:pPr>
              <a:spcAft>
                <a:spcPts val="700"/>
              </a:spcAft>
              <a:defRPr sz="1100" b="1">
                <a:solidFill>
                  <a:srgbClr val="F5A623"/>
                </a:solidFill>
                <a:latin typeface="Barlow"/>
              </a:defRPr>
            </a:pPr>
            <a:r>
              <a:t>SERVICEOPS</a:t>
            </a:r>
          </a:p>
        </p:txBody>
      </p:sp>
      <p:sp>
        <p:nvSpPr>
          <p:cNvPr id="4" name="TextBox 3"/>
          <p:cNvSpPr txBox="1"/>
          <p:nvPr/>
        </p:nvSpPr>
        <p:spPr>
          <a:xfrm>
            <a:off x="596900" y="914400"/>
            <a:ext cx="12801600" cy="365760"/>
          </a:xfrm>
          <a:prstGeom prst="rect">
            <a:avLst/>
          </a:prstGeom>
          <a:noFill/>
        </p:spPr>
        <p:txBody>
          <a:bodyPr wrap="square" lIns="0" tIns="0" rIns="0" bIns="0">
            <a:spAutoFit/>
          </a:bodyPr>
          <a:lstStyle/>
          <a:p>
            <a:pPr>
              <a:spcAft>
                <a:spcPts val="700"/>
              </a:spcAft>
              <a:defRPr sz="1200" b="1">
                <a:solidFill>
                  <a:srgbClr val="C9D6DB"/>
                </a:solidFill>
                <a:latin typeface="Barlow"/>
              </a:defRPr>
            </a:pPr>
            <a:r>
              <a:t>ILLUSTRATIVE WALKTHROUGH</a:t>
            </a:r>
          </a:p>
        </p:txBody>
      </p:sp>
      <p:sp>
        <p:nvSpPr>
          <p:cNvPr id="5" name="TextBox 4"/>
          <p:cNvSpPr txBox="1"/>
          <p:nvPr/>
        </p:nvSpPr>
        <p:spPr>
          <a:xfrm>
            <a:off x="596900" y="2997200"/>
            <a:ext cx="8890000" cy="1143000"/>
          </a:xfrm>
          <a:prstGeom prst="rect">
            <a:avLst/>
          </a:prstGeom>
          <a:noFill/>
        </p:spPr>
        <p:txBody>
          <a:bodyPr wrap="square" lIns="0" tIns="0" rIns="0" bIns="0">
            <a:spAutoFit/>
          </a:bodyPr>
          <a:lstStyle/>
          <a:p>
            <a:pPr>
              <a:spcAft>
                <a:spcPts val="700"/>
              </a:spcAft>
              <a:defRPr sz="2600" b="1">
                <a:solidFill>
                  <a:srgbClr val="FFFFFF"/>
                </a:solidFill>
                <a:latin typeface="Barlow"/>
              </a:defRPr>
            </a:pPr>
            <a:r>
              <a:t>Two teams. One service. A clash to catch early.</a:t>
            </a:r>
          </a:p>
        </p:txBody>
      </p:sp>
      <p:sp>
        <p:nvSpPr>
          <p:cNvPr id="6" name="Rectangle 5"/>
          <p:cNvSpPr/>
          <p:nvPr/>
        </p:nvSpPr>
        <p:spPr>
          <a:xfrm>
            <a:off x="594360" y="7754112"/>
            <a:ext cx="13441680" cy="10972"/>
          </a:xfrm>
          <a:prstGeom prst="rect">
            <a:avLst/>
          </a:prstGeom>
          <a:solidFill>
            <a:srgbClr val="2D5A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7909560"/>
            <a:ext cx="10058400" cy="182880"/>
          </a:xfrm>
          <a:prstGeom prst="rect">
            <a:avLst/>
          </a:prstGeom>
          <a:noFill/>
        </p:spPr>
        <p:txBody>
          <a:bodyPr wrap="square" lIns="0" tIns="0" rIns="0" bIns="0">
            <a:spAutoFit/>
          </a:bodyPr>
          <a:lstStyle/>
          <a:p>
            <a:pPr>
              <a:spcAft>
                <a:spcPts val="700"/>
              </a:spcAft>
              <a:defRPr sz="900" b="0">
                <a:solidFill>
                  <a:srgbClr val="C9D6DB"/>
                </a:solidFill>
                <a:latin typeface="Barlow"/>
              </a:defRPr>
            </a:pPr>
            <a:r>
              <a:t>Anushka Wijesundara  /  Product overview</a:t>
            </a:r>
          </a:p>
        </p:txBody>
      </p:sp>
      <p:sp>
        <p:nvSpPr>
          <p:cNvPr id="8" name="TextBox 7"/>
          <p:cNvSpPr txBox="1"/>
          <p:nvPr/>
        </p:nvSpPr>
        <p:spPr>
          <a:xfrm>
            <a:off x="13487400" y="7854696"/>
            <a:ext cx="548640" cy="274320"/>
          </a:xfrm>
          <a:prstGeom prst="rect">
            <a:avLst/>
          </a:prstGeom>
          <a:noFill/>
        </p:spPr>
        <p:txBody>
          <a:bodyPr wrap="square" lIns="0" tIns="0" rIns="0" bIns="0">
            <a:spAutoFit/>
          </a:bodyPr>
          <a:lstStyle/>
          <a:p>
            <a:pPr>
              <a:spcAft>
                <a:spcPts val="700"/>
              </a:spcAft>
              <a:defRPr sz="1200" b="1">
                <a:solidFill>
                  <a:srgbClr val="F5A623"/>
                </a:solidFill>
                <a:latin typeface="Barlow"/>
              </a:defRPr>
            </a:pPr>
            <a:r>
              <a:rPr lang="en-JP"/>
              <a:t>07</a:t>
            </a:r>
            <a:endParaRPr/>
          </a:p>
        </p:txBody>
      </p:sp>
      <p:sp>
        <p:nvSpPr>
          <p:cNvPr id="9" name="TextBox 8"/>
          <p:cNvSpPr txBox="1"/>
          <p:nvPr/>
        </p:nvSpPr>
        <p:spPr>
          <a:xfrm>
            <a:off x="596900" y="1651000"/>
            <a:ext cx="11430000" cy="1143000"/>
          </a:xfrm>
          <a:prstGeom prst="rect">
            <a:avLst/>
          </a:prstGeom>
          <a:noFill/>
        </p:spPr>
        <p:txBody>
          <a:bodyPr wrap="square" lIns="0" tIns="0" rIns="0" bIns="0">
            <a:spAutoFit/>
          </a:bodyPr>
          <a:lstStyle/>
          <a:p>
            <a:pPr>
              <a:spcAft>
                <a:spcPts val="700"/>
              </a:spcAft>
              <a:defRPr sz="6000" b="1">
                <a:solidFill>
                  <a:srgbClr val="F5A623"/>
                </a:solidFill>
                <a:latin typeface="Barlow"/>
              </a:defRPr>
            </a:pPr>
            <a:r>
              <a:t>Before the change window</a:t>
            </a:r>
          </a:p>
        </p:txBody>
      </p:sp>
      <p:sp>
        <p:nvSpPr>
          <p:cNvPr id="10" name="TextBox 9"/>
          <p:cNvSpPr txBox="1"/>
          <p:nvPr/>
        </p:nvSpPr>
        <p:spPr>
          <a:xfrm>
            <a:off x="596900" y="4318000"/>
            <a:ext cx="8890000" cy="889000"/>
          </a:xfrm>
          <a:prstGeom prst="rect">
            <a:avLst/>
          </a:prstGeom>
          <a:noFill/>
        </p:spPr>
        <p:txBody>
          <a:bodyPr wrap="square" lIns="0" tIns="0" rIns="0" bIns="0">
            <a:spAutoFit/>
          </a:bodyPr>
          <a:lstStyle/>
          <a:p>
            <a:pPr>
              <a:spcAft>
                <a:spcPts val="700"/>
              </a:spcAft>
              <a:defRPr sz="2500" b="0">
                <a:solidFill>
                  <a:srgbClr val="FFFFFF"/>
                </a:solidFill>
                <a:latin typeface="Barlow"/>
              </a:defRPr>
            </a:pPr>
            <a:r>
              <a:t>The CoreApps example shows why Unix and Network need shared context in Tokyo DC1, rack A12.</a:t>
            </a:r>
          </a:p>
        </p:txBody>
      </p:sp>
      <p:sp>
        <p:nvSpPr>
          <p:cNvPr id="12" name="TextBox 11"/>
          <p:cNvSpPr txBox="1"/>
          <p:nvPr/>
        </p:nvSpPr>
        <p:spPr>
          <a:xfrm>
            <a:off x="596900" y="5588000"/>
            <a:ext cx="9144000" cy="365760"/>
          </a:xfrm>
          <a:prstGeom prst="rect">
            <a:avLst/>
          </a:prstGeom>
          <a:noFill/>
        </p:spPr>
        <p:txBody>
          <a:bodyPr wrap="square" lIns="0" tIns="0" rIns="0" bIns="0">
            <a:spAutoFit/>
          </a:bodyPr>
          <a:lstStyle/>
          <a:p>
            <a:pPr>
              <a:spcAft>
                <a:spcPts val="700"/>
              </a:spcAft>
              <a:defRPr sz="1400" b="0">
                <a:solidFill>
                  <a:srgbClr val="C9D6DB"/>
                </a:solidFill>
                <a:latin typeface="Barlow"/>
              </a:defRPr>
            </a:pPr>
            <a:r>
              <a:t>Compare the plans  ·  Follow the links  ·  Agree the decision</a:t>
            </a:r>
          </a:p>
        </p:txBody>
      </p:sp>
      <p:pic>
        <p:nvPicPr>
          <p:cNvPr id="14" name="JNX Logo White">
            <a:extLst>
              <a:ext uri="{FF2B5EF4-FFF2-40B4-BE49-F238E27FC236}">
                <a16:creationId xmlns:a16="http://schemas.microsoft.com/office/drawing/2014/main" id="{A16E4864-BF96-B1A0-D091-CA77996E3842}"/>
              </a:ext>
            </a:extLst>
          </p:cNvPr>
          <p:cNvPicPr>
            <a:picLocks noChangeAspect="1"/>
          </p:cNvPicPr>
          <p:nvPr/>
        </p:nvPicPr>
        <p:blipFill>
          <a:blip r:embed="rId3"/>
          <a:stretch>
            <a:fillRect/>
          </a:stretch>
        </p:blipFill>
        <p:spPr>
          <a:xfrm>
            <a:off x="596900" y="6807200"/>
            <a:ext cx="3350049" cy="431800"/>
          </a:xfrm>
          <a:prstGeom prst="rect">
            <a:avLst/>
          </a:prstGeom>
        </p:spPr>
      </p:pic>
    </p:spTree>
    <p:extLst>
      <p:ext uri="{BB962C8B-B14F-4D97-AF65-F5344CB8AC3E}">
        <p14:creationId xmlns:p14="http://schemas.microsoft.com/office/powerpoint/2010/main" val="825941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6900" y="1270000"/>
            <a:ext cx="965200" cy="274320"/>
          </a:xfrm>
          <a:prstGeom prst="rect">
            <a:avLst/>
          </a:prstGeom>
          <a:noFill/>
        </p:spPr>
        <p:txBody>
          <a:bodyPr wrap="square" lIns="0" tIns="0" rIns="0" bIns="0">
            <a:noAutofit/>
          </a:bodyPr>
          <a:lstStyle/>
          <a:p>
            <a:pPr>
              <a:spcAft>
                <a:spcPts val="700"/>
              </a:spcAft>
              <a:defRPr sz="1100" b="1">
                <a:solidFill>
                  <a:srgbClr val="00708A"/>
                </a:solidFill>
                <a:latin typeface="Barlow"/>
              </a:defRPr>
            </a:pPr>
            <a:r>
              <a:t>SERVICEOPS</a:t>
            </a:r>
          </a:p>
        </p:txBody>
      </p:sp>
      <p:sp>
        <p:nvSpPr>
          <p:cNvPr id="4" name="TextBox 3"/>
          <p:cNvSpPr txBox="1"/>
          <p:nvPr/>
        </p:nvSpPr>
        <p:spPr>
          <a:xfrm>
            <a:off x="1714500" y="1270000"/>
            <a:ext cx="11430000" cy="184666"/>
          </a:xfrm>
          <a:prstGeom prst="rect">
            <a:avLst/>
          </a:prstGeom>
          <a:noFill/>
        </p:spPr>
        <p:txBody>
          <a:bodyPr wrap="square" lIns="0" tIns="0" rIns="0" bIns="0">
            <a:spAutoFit/>
          </a:bodyPr>
          <a:lstStyle/>
          <a:p>
            <a:pPr>
              <a:spcAft>
                <a:spcPts val="700"/>
              </a:spcAft>
              <a:defRPr sz="1200" b="1">
                <a:solidFill>
                  <a:srgbClr val="4F6670"/>
                </a:solidFill>
                <a:latin typeface="Barlow"/>
              </a:defRPr>
            </a:pPr>
            <a:r>
              <a:t>CATCH THE COLLISION BEFORE DELIVERY</a:t>
            </a:r>
          </a:p>
        </p:txBody>
      </p:sp>
      <p:sp>
        <p:nvSpPr>
          <p:cNvPr id="5" name="TextBox 4"/>
          <p:cNvSpPr txBox="1"/>
          <p:nvPr/>
        </p:nvSpPr>
        <p:spPr>
          <a:xfrm>
            <a:off x="596900" y="304800"/>
            <a:ext cx="11430000" cy="400110"/>
          </a:xfrm>
          <a:prstGeom prst="rect">
            <a:avLst/>
          </a:prstGeom>
          <a:noFill/>
        </p:spPr>
        <p:txBody>
          <a:bodyPr wrap="square" lIns="0" tIns="0" rIns="0" bIns="0">
            <a:spAutoFit/>
          </a:bodyPr>
          <a:lstStyle/>
          <a:p>
            <a:pPr>
              <a:spcAft>
                <a:spcPts val="700"/>
              </a:spcAft>
              <a:defRPr sz="2600" b="1">
                <a:solidFill>
                  <a:srgbClr val="0B3C4C"/>
                </a:solidFill>
                <a:latin typeface="Barlow"/>
              </a:defRPr>
            </a:pPr>
            <a:r>
              <a:rPr sz="2600"/>
              <a:t>Find the overlap while there is still time to coordinate.</a:t>
            </a:r>
          </a:p>
        </p:txBody>
      </p:sp>
      <p:sp>
        <p:nvSpPr>
          <p:cNvPr id="6" name="TextBox 5"/>
          <p:cNvSpPr txBox="1"/>
          <p:nvPr/>
        </p:nvSpPr>
        <p:spPr>
          <a:xfrm>
            <a:off x="596900" y="1625600"/>
            <a:ext cx="13436600" cy="307777"/>
          </a:xfrm>
          <a:prstGeom prst="rect">
            <a:avLst/>
          </a:prstGeom>
          <a:noFill/>
        </p:spPr>
        <p:txBody>
          <a:bodyPr wrap="square" lIns="0" tIns="0" rIns="0" bIns="0">
            <a:spAutoFit/>
          </a:bodyPr>
          <a:lstStyle/>
          <a:p>
            <a:pPr>
              <a:spcAft>
                <a:spcPts val="700"/>
              </a:spcAft>
              <a:defRPr sz="2000" b="0">
                <a:solidFill>
                  <a:srgbClr val="4F6670"/>
                </a:solidFill>
                <a:latin typeface="Barlow"/>
              </a:defRPr>
            </a:pPr>
            <a:r>
              <a:t>Illustrative scenario: linked Unix and Network changes overlap; detection needs maintained relationships.</a:t>
            </a:r>
          </a:p>
        </p:txBody>
      </p:sp>
      <p:sp>
        <p:nvSpPr>
          <p:cNvPr id="7" name="Rectangle 6"/>
          <p:cNvSpPr/>
          <p:nvPr/>
        </p:nvSpPr>
        <p:spPr>
          <a:xfrm>
            <a:off x="594360" y="7754112"/>
            <a:ext cx="13441680" cy="10972"/>
          </a:xfrm>
          <a:prstGeom prst="rect">
            <a:avLst/>
          </a:prstGeom>
          <a:solidFill>
            <a:srgbClr val="D5D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7909560"/>
            <a:ext cx="10058400" cy="182880"/>
          </a:xfrm>
          <a:prstGeom prst="rect">
            <a:avLst/>
          </a:prstGeom>
          <a:noFill/>
        </p:spPr>
        <p:txBody>
          <a:bodyPr wrap="square" lIns="0" tIns="0" rIns="0" bIns="0">
            <a:spAutoFit/>
          </a:bodyPr>
          <a:lstStyle/>
          <a:p>
            <a:pPr>
              <a:spcAft>
                <a:spcPts val="700"/>
              </a:spcAft>
              <a:defRPr sz="900" b="0">
                <a:solidFill>
                  <a:srgbClr val="4F6670"/>
                </a:solidFill>
                <a:latin typeface="Barlow"/>
              </a:defRPr>
            </a:pPr>
            <a:r>
              <a:t>Anushka Wijesundara  /  Product overview</a:t>
            </a:r>
          </a:p>
        </p:txBody>
      </p:sp>
      <p:sp>
        <p:nvSpPr>
          <p:cNvPr id="9" name="TextBox 8"/>
          <p:cNvSpPr txBox="1"/>
          <p:nvPr/>
        </p:nvSpPr>
        <p:spPr>
          <a:xfrm>
            <a:off x="13487400" y="7854696"/>
            <a:ext cx="548640" cy="274320"/>
          </a:xfrm>
          <a:prstGeom prst="rect">
            <a:avLst/>
          </a:prstGeom>
          <a:noFill/>
        </p:spPr>
        <p:txBody>
          <a:bodyPr wrap="square" lIns="0" tIns="0" rIns="0" bIns="0">
            <a:spAutoFit/>
          </a:bodyPr>
          <a:lstStyle/>
          <a:p>
            <a:pPr>
              <a:spcAft>
                <a:spcPts val="700"/>
              </a:spcAft>
              <a:defRPr sz="1200" b="1">
                <a:solidFill>
                  <a:srgbClr val="00708A"/>
                </a:solidFill>
                <a:latin typeface="Barlow"/>
              </a:defRPr>
            </a:pPr>
            <a:r>
              <a:rPr lang="en-JP"/>
              <a:t>08</a:t>
            </a:r>
            <a:endParaRPr/>
          </a:p>
        </p:txBody>
      </p:sp>
      <p:sp>
        <p:nvSpPr>
          <p:cNvPr id="901" name="JNX Rule"/>
          <p:cNvSpPr/>
          <p:nvPr/>
        </p:nvSpPr>
        <p:spPr>
          <a:xfrm>
            <a:off x="596900" y="1016000"/>
            <a:ext cx="13436600" cy="19050"/>
          </a:xfrm>
          <a:prstGeom prst="rect">
            <a:avLst/>
          </a:prstGeom>
          <a:solidFill>
            <a:srgbClr val="0B3C4C"/>
          </a:solidFill>
          <a:ln>
            <a:noFill/>
          </a:ln>
        </p:spPr>
        <p:txBody>
          <a:bodyPr/>
          <a:lstStyle/>
          <a:p>
            <a:endParaRPr lang="en-JP"/>
          </a:p>
        </p:txBody>
      </p:sp>
      <p:pic>
        <p:nvPicPr>
          <p:cNvPr id="903" name="Copied Picture 903" descr="Japannext JNX logo">
            <a:extLst>
              <a:ext uri="{FF2B5EF4-FFF2-40B4-BE49-F238E27FC236}">
                <a16:creationId xmlns:a16="http://schemas.microsoft.com/office/drawing/2014/main" id="{429122C2-2B95-92FB-9A5C-2E92C9458AAC}"/>
              </a:ext>
            </a:extLst>
          </p:cNvPr>
          <p:cNvPicPr>
            <a:picLocks noChangeAspect="1"/>
          </p:cNvPicPr>
          <p:nvPr/>
        </p:nvPicPr>
        <p:blipFill>
          <a:blip r:embed="rId3">
            <a:clrChange>
              <a:clrFrom>
                <a:srgbClr val="FFFFFF"/>
              </a:clrFrom>
              <a:clrTo>
                <a:srgbClr val="FFFFFF">
                  <a:alpha val="0"/>
                </a:srgbClr>
              </a:clrTo>
            </a:clrChange>
          </a:blip>
          <a:srcRect l="13500" t="21500" r="13800" b="22500"/>
          <a:stretch>
            <a:fillRect/>
          </a:stretch>
        </p:blipFill>
        <p:spPr>
          <a:xfrm>
            <a:off x="12623800" y="254000"/>
            <a:ext cx="1409700" cy="660400"/>
          </a:xfrm>
          <a:prstGeom prst="rect">
            <a:avLst/>
          </a:prstGeom>
        </p:spPr>
      </p:pic>
      <p:pic>
        <p:nvPicPr>
          <p:cNvPr id="10" name="Screenshot 1">
            <a:extLst>
              <a:ext uri="{FF2B5EF4-FFF2-40B4-BE49-F238E27FC236}">
                <a16:creationId xmlns:a16="http://schemas.microsoft.com/office/drawing/2014/main" id="{E3F82077-087D-531A-603E-790F929E8F0C}"/>
              </a:ext>
            </a:extLst>
          </p:cNvPr>
          <p:cNvPicPr>
            <a:picLocks noChangeAspect="1"/>
          </p:cNvPicPr>
          <p:nvPr/>
        </p:nvPicPr>
        <p:blipFill>
          <a:blip r:embed="rId4"/>
          <a:srcRect l="14948" t="5161" r="8854" b="90771"/>
          <a:stretch>
            <a:fillRect/>
          </a:stretch>
        </p:blipFill>
        <p:spPr>
          <a:xfrm>
            <a:off x="596900" y="2782605"/>
            <a:ext cx="13436600" cy="615339"/>
          </a:xfrm>
          <a:prstGeom prst="rect">
            <a:avLst/>
          </a:prstGeom>
          <a:ln w="9525">
            <a:solidFill>
              <a:srgbClr val="C5D0D5"/>
            </a:solidFill>
          </a:ln>
        </p:spPr>
      </p:pic>
      <p:pic>
        <p:nvPicPr>
          <p:cNvPr id="11" name="Screenshot 2">
            <a:extLst>
              <a:ext uri="{FF2B5EF4-FFF2-40B4-BE49-F238E27FC236}">
                <a16:creationId xmlns:a16="http://schemas.microsoft.com/office/drawing/2014/main" id="{88614912-51E5-6C2D-36AF-8466B811EC5F}"/>
              </a:ext>
            </a:extLst>
          </p:cNvPr>
          <p:cNvPicPr>
            <a:picLocks noChangeAspect="1"/>
          </p:cNvPicPr>
          <p:nvPr/>
        </p:nvPicPr>
        <p:blipFill>
          <a:blip r:embed="rId4"/>
          <a:srcRect l="14948" t="29022" r="8854" b="68427"/>
          <a:stretch>
            <a:fillRect/>
          </a:stretch>
        </p:blipFill>
        <p:spPr>
          <a:xfrm>
            <a:off x="596900" y="3524944"/>
            <a:ext cx="13436600" cy="385740"/>
          </a:xfrm>
          <a:prstGeom prst="rect">
            <a:avLst/>
          </a:prstGeom>
          <a:ln w="9525">
            <a:solidFill>
              <a:srgbClr val="C5D0D5"/>
            </a:solidFill>
          </a:ln>
        </p:spPr>
      </p:pic>
      <p:pic>
        <p:nvPicPr>
          <p:cNvPr id="12" name="Screenshot 3">
            <a:extLst>
              <a:ext uri="{FF2B5EF4-FFF2-40B4-BE49-F238E27FC236}">
                <a16:creationId xmlns:a16="http://schemas.microsoft.com/office/drawing/2014/main" id="{37ACDD93-8A34-24B7-8325-9D4BB7ED0030}"/>
              </a:ext>
            </a:extLst>
          </p:cNvPr>
          <p:cNvPicPr>
            <a:picLocks noChangeAspect="1"/>
          </p:cNvPicPr>
          <p:nvPr/>
        </p:nvPicPr>
        <p:blipFill>
          <a:blip r:embed="rId4"/>
          <a:srcRect l="14948" t="58591" r="8854" b="34730"/>
          <a:stretch>
            <a:fillRect/>
          </a:stretch>
        </p:blipFill>
        <p:spPr>
          <a:xfrm>
            <a:off x="596900" y="4037684"/>
            <a:ext cx="13436600" cy="1010272"/>
          </a:xfrm>
          <a:prstGeom prst="rect">
            <a:avLst/>
          </a:prstGeom>
          <a:ln w="9525">
            <a:solidFill>
              <a:srgbClr val="C5D0D5"/>
            </a:solidFill>
          </a:ln>
        </p:spPr>
      </p:pic>
      <p:sp>
        <p:nvSpPr>
          <p:cNvPr id="950" name="Body 950"/>
          <p:cNvSpPr/>
          <p:nvPr/>
        </p:nvSpPr>
        <p:spPr>
          <a:xfrm>
            <a:off x="596900" y="5969000"/>
            <a:ext cx="4275667" cy="31750"/>
          </a:xfrm>
          <a:prstGeom prst="rect">
            <a:avLst/>
          </a:prstGeom>
          <a:solidFill>
            <a:srgbClr val="F5A623"/>
          </a:solidFill>
          <a:ln>
            <a:noFill/>
          </a:ln>
        </p:spPr>
        <p:txBody>
          <a:bodyPr wrap="square" lIns="0" tIns="0" rIns="0" bIns="0" anchor="t">
            <a:noAutofit/>
          </a:bodyPr>
          <a:lstStyle/>
          <a:p>
            <a:endParaRPr lang="en-US" sz="100"/>
          </a:p>
        </p:txBody>
      </p:sp>
      <p:sp>
        <p:nvSpPr>
          <p:cNvPr id="951" name="Body 951"/>
          <p:cNvSpPr txBox="1"/>
          <p:nvPr/>
        </p:nvSpPr>
        <p:spPr>
          <a:xfrm>
            <a:off x="596900" y="6121400"/>
            <a:ext cx="4275667" cy="1435100"/>
          </a:xfrm>
          <a:prstGeom prst="rect">
            <a:avLst/>
          </a:prstGeom>
          <a:noFill/>
        </p:spPr>
        <p:txBody>
          <a:bodyPr wrap="square" lIns="0" tIns="0" rIns="0" bIns="0" anchor="t">
            <a:noAutofit/>
          </a:bodyPr>
          <a:lstStyle/>
          <a:p>
            <a:pPr>
              <a:spcBef>
                <a:spcPts val="0"/>
              </a:spcBef>
              <a:buNone/>
            </a:pPr>
            <a:r>
              <a:rPr lang="en-US" sz="1600" b="1" dirty="0">
                <a:solidFill>
                  <a:srgbClr val="0B3C4C"/>
                </a:solidFill>
                <a:latin typeface="Barlow"/>
              </a:rPr>
              <a:t>Unix plans server work</a:t>
            </a:r>
          </a:p>
          <a:p>
            <a:pPr>
              <a:spcBef>
                <a:spcPts val="300"/>
              </a:spcBef>
              <a:buNone/>
            </a:pPr>
            <a:r>
              <a:rPr lang="en-US" sz="1500" b="0" dirty="0">
                <a:solidFill>
                  <a:srgbClr val="4F6670"/>
                </a:solidFill>
                <a:latin typeface="Barlow"/>
              </a:rPr>
              <a:t>CoreApps server upgrade: Saturday, 1–5 pm.</a:t>
            </a:r>
          </a:p>
        </p:txBody>
      </p:sp>
      <p:sp>
        <p:nvSpPr>
          <p:cNvPr id="952" name="Body 952"/>
          <p:cNvSpPr/>
          <p:nvPr/>
        </p:nvSpPr>
        <p:spPr>
          <a:xfrm>
            <a:off x="5177367" y="5969000"/>
            <a:ext cx="4275667" cy="31750"/>
          </a:xfrm>
          <a:prstGeom prst="rect">
            <a:avLst/>
          </a:prstGeom>
          <a:solidFill>
            <a:srgbClr val="F5A623"/>
          </a:solidFill>
          <a:ln>
            <a:noFill/>
          </a:ln>
        </p:spPr>
        <p:txBody>
          <a:bodyPr wrap="square" lIns="0" tIns="0" rIns="0" bIns="0" anchor="t">
            <a:noAutofit/>
          </a:bodyPr>
          <a:lstStyle/>
          <a:p>
            <a:endParaRPr lang="en-US" sz="100"/>
          </a:p>
        </p:txBody>
      </p:sp>
      <p:sp>
        <p:nvSpPr>
          <p:cNvPr id="953" name="Body 953"/>
          <p:cNvSpPr txBox="1"/>
          <p:nvPr/>
        </p:nvSpPr>
        <p:spPr>
          <a:xfrm>
            <a:off x="5177367" y="6121400"/>
            <a:ext cx="4275667" cy="1435100"/>
          </a:xfrm>
          <a:prstGeom prst="rect">
            <a:avLst/>
          </a:prstGeom>
          <a:noFill/>
        </p:spPr>
        <p:txBody>
          <a:bodyPr wrap="square" lIns="0" tIns="0" rIns="0" bIns="0" anchor="t">
            <a:noAutofit/>
          </a:bodyPr>
          <a:lstStyle/>
          <a:p>
            <a:pPr>
              <a:spcBef>
                <a:spcPts val="0"/>
              </a:spcBef>
              <a:buNone/>
            </a:pPr>
            <a:r>
              <a:rPr lang="en-US" sz="1600" b="1" dirty="0">
                <a:solidFill>
                  <a:srgbClr val="0B3C4C"/>
                </a:solidFill>
                <a:latin typeface="Barlow"/>
              </a:rPr>
              <a:t>Network plans switch work</a:t>
            </a:r>
          </a:p>
          <a:p>
            <a:pPr>
              <a:spcBef>
                <a:spcPts val="300"/>
              </a:spcBef>
              <a:buNone/>
            </a:pPr>
            <a:r>
              <a:rPr lang="en-US" sz="1500" b="0" dirty="0">
                <a:solidFill>
                  <a:srgbClr val="4F6670"/>
                </a:solidFill>
                <a:latin typeface="Barlow"/>
              </a:rPr>
              <a:t>Connected switch update: Saturday, 2–4 pm.</a:t>
            </a:r>
          </a:p>
        </p:txBody>
      </p:sp>
      <p:sp>
        <p:nvSpPr>
          <p:cNvPr id="954" name="Body 954"/>
          <p:cNvSpPr/>
          <p:nvPr/>
        </p:nvSpPr>
        <p:spPr>
          <a:xfrm>
            <a:off x="9757833" y="5969000"/>
            <a:ext cx="4275667" cy="31750"/>
          </a:xfrm>
          <a:prstGeom prst="rect">
            <a:avLst/>
          </a:prstGeom>
          <a:solidFill>
            <a:srgbClr val="F5A623"/>
          </a:solidFill>
          <a:ln>
            <a:noFill/>
          </a:ln>
        </p:spPr>
        <p:txBody>
          <a:bodyPr wrap="square" lIns="0" tIns="0" rIns="0" bIns="0" anchor="t">
            <a:noAutofit/>
          </a:bodyPr>
          <a:lstStyle/>
          <a:p>
            <a:endParaRPr lang="en-US" sz="100"/>
          </a:p>
        </p:txBody>
      </p:sp>
      <p:sp>
        <p:nvSpPr>
          <p:cNvPr id="955" name="Body 955"/>
          <p:cNvSpPr txBox="1"/>
          <p:nvPr/>
        </p:nvSpPr>
        <p:spPr>
          <a:xfrm>
            <a:off x="9757833" y="6121400"/>
            <a:ext cx="4275667" cy="746358"/>
          </a:xfrm>
          <a:prstGeom prst="rect">
            <a:avLst/>
          </a:prstGeom>
          <a:noFill/>
        </p:spPr>
        <p:txBody>
          <a:bodyPr wrap="square" lIns="0" tIns="0" rIns="0" bIns="0" anchor="t">
            <a:spAutoFit/>
          </a:bodyPr>
          <a:lstStyle/>
          <a:p>
            <a:pPr>
              <a:spcBef>
                <a:spcPts val="0"/>
              </a:spcBef>
              <a:buNone/>
            </a:pPr>
            <a:r>
              <a:rPr lang="en-US" sz="1600" b="1" dirty="0">
                <a:solidFill>
                  <a:srgbClr val="0B3C4C"/>
                </a:solidFill>
                <a:latin typeface="Barlow"/>
              </a:rPr>
              <a:t>Resolve the conflict first</a:t>
            </a:r>
          </a:p>
          <a:p>
            <a:pPr>
              <a:spcBef>
                <a:spcPts val="300"/>
              </a:spcBef>
              <a:buNone/>
            </a:pPr>
            <a:r>
              <a:rPr lang="en-US" sz="1500" b="0" dirty="0">
                <a:solidFill>
                  <a:srgbClr val="4F6670"/>
                </a:solidFill>
                <a:latin typeface="Barlow"/>
              </a:rPr>
              <a:t>Choose a non-overlapping window before booking.</a:t>
            </a:r>
          </a:p>
        </p:txBody>
      </p:sp>
    </p:spTree>
    <p:extLst>
      <p:ext uri="{BB962C8B-B14F-4D97-AF65-F5344CB8AC3E}">
        <p14:creationId xmlns:p14="http://schemas.microsoft.com/office/powerpoint/2010/main" val="24598105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6900" y="1270000"/>
            <a:ext cx="965200" cy="274320"/>
          </a:xfrm>
          <a:prstGeom prst="rect">
            <a:avLst/>
          </a:prstGeom>
          <a:noFill/>
        </p:spPr>
        <p:txBody>
          <a:bodyPr wrap="square" lIns="0" tIns="0" rIns="0" bIns="0">
            <a:noAutofit/>
          </a:bodyPr>
          <a:lstStyle/>
          <a:p>
            <a:pPr>
              <a:spcAft>
                <a:spcPts val="700"/>
              </a:spcAft>
              <a:defRPr sz="1100" b="1">
                <a:solidFill>
                  <a:srgbClr val="00708A"/>
                </a:solidFill>
                <a:latin typeface="Barlow"/>
              </a:defRPr>
            </a:pPr>
            <a:r>
              <a:t>SERVICEOPS</a:t>
            </a:r>
          </a:p>
        </p:txBody>
      </p:sp>
      <p:sp>
        <p:nvSpPr>
          <p:cNvPr id="4" name="TextBox 3"/>
          <p:cNvSpPr txBox="1"/>
          <p:nvPr/>
        </p:nvSpPr>
        <p:spPr>
          <a:xfrm>
            <a:off x="1714500" y="1270000"/>
            <a:ext cx="11430000" cy="365760"/>
          </a:xfrm>
          <a:prstGeom prst="rect">
            <a:avLst/>
          </a:prstGeom>
          <a:noFill/>
        </p:spPr>
        <p:txBody>
          <a:bodyPr wrap="square" lIns="0" tIns="0" rIns="0" bIns="0">
            <a:spAutoFit/>
          </a:bodyPr>
          <a:lstStyle/>
          <a:p>
            <a:pPr>
              <a:spcAft>
                <a:spcPts val="700"/>
              </a:spcAft>
              <a:defRPr sz="1200" b="1">
                <a:solidFill>
                  <a:srgbClr val="4F6670"/>
                </a:solidFill>
                <a:latin typeface="Barlow"/>
              </a:defRPr>
            </a:pPr>
            <a:r>
              <a:t>THE CMDB / SHARED CHANGE IMPACT</a:t>
            </a:r>
          </a:p>
        </p:txBody>
      </p:sp>
      <p:sp>
        <p:nvSpPr>
          <p:cNvPr id="5" name="TextBox 4"/>
          <p:cNvSpPr txBox="1"/>
          <p:nvPr/>
        </p:nvSpPr>
        <p:spPr>
          <a:xfrm>
            <a:off x="596900" y="304800"/>
            <a:ext cx="11430000" cy="400110"/>
          </a:xfrm>
          <a:prstGeom prst="rect">
            <a:avLst/>
          </a:prstGeom>
          <a:noFill/>
        </p:spPr>
        <p:txBody>
          <a:bodyPr wrap="square" lIns="0" tIns="0" rIns="0" bIns="0">
            <a:spAutoFit/>
          </a:bodyPr>
          <a:lstStyle/>
          <a:p>
            <a:pPr>
              <a:spcAft>
                <a:spcPts val="700"/>
              </a:spcAft>
              <a:defRPr sz="2600" b="1">
                <a:solidFill>
                  <a:srgbClr val="0B3C4C"/>
                </a:solidFill>
                <a:latin typeface="Barlow"/>
              </a:defRPr>
            </a:pPr>
            <a:r>
              <a:rPr sz="2600"/>
              <a:t>The missing link: a switch change is also a service change.</a:t>
            </a:r>
          </a:p>
        </p:txBody>
      </p:sp>
      <p:sp>
        <p:nvSpPr>
          <p:cNvPr id="6" name="TextBox 5"/>
          <p:cNvSpPr txBox="1"/>
          <p:nvPr/>
        </p:nvSpPr>
        <p:spPr>
          <a:xfrm>
            <a:off x="596900" y="1625600"/>
            <a:ext cx="13436600" cy="307777"/>
          </a:xfrm>
          <a:prstGeom prst="rect">
            <a:avLst/>
          </a:prstGeom>
          <a:noFill/>
        </p:spPr>
        <p:txBody>
          <a:bodyPr wrap="square" lIns="0" tIns="0" rIns="0" bIns="0">
            <a:spAutoFit/>
          </a:bodyPr>
          <a:lstStyle/>
          <a:p>
            <a:pPr>
              <a:spcAft>
                <a:spcPts val="700"/>
              </a:spcAft>
              <a:defRPr sz="2000" b="0">
                <a:solidFill>
                  <a:srgbClr val="4F6670"/>
                </a:solidFill>
                <a:latin typeface="Barlow"/>
              </a:defRPr>
            </a:pPr>
            <a:r>
              <a:t>A maintained configuration management database connects the device, the dependent server and the service.</a:t>
            </a:r>
          </a:p>
        </p:txBody>
      </p:sp>
      <p:sp>
        <p:nvSpPr>
          <p:cNvPr id="7" name="Rectangle 6"/>
          <p:cNvSpPr/>
          <p:nvPr/>
        </p:nvSpPr>
        <p:spPr>
          <a:xfrm>
            <a:off x="594360" y="7754112"/>
            <a:ext cx="13441680" cy="10972"/>
          </a:xfrm>
          <a:prstGeom prst="rect">
            <a:avLst/>
          </a:prstGeom>
          <a:solidFill>
            <a:srgbClr val="D5D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7909560"/>
            <a:ext cx="10058400" cy="182880"/>
          </a:xfrm>
          <a:prstGeom prst="rect">
            <a:avLst/>
          </a:prstGeom>
          <a:noFill/>
        </p:spPr>
        <p:txBody>
          <a:bodyPr wrap="square" lIns="0" tIns="0" rIns="0" bIns="0">
            <a:spAutoFit/>
          </a:bodyPr>
          <a:lstStyle/>
          <a:p>
            <a:pPr>
              <a:spcAft>
                <a:spcPts val="700"/>
              </a:spcAft>
              <a:defRPr sz="900" b="0">
                <a:solidFill>
                  <a:srgbClr val="4F6670"/>
                </a:solidFill>
                <a:latin typeface="Barlow"/>
              </a:defRPr>
            </a:pPr>
            <a:r>
              <a:t>Anushka Wijesundara  /  Product overview</a:t>
            </a:r>
          </a:p>
        </p:txBody>
      </p:sp>
      <p:sp>
        <p:nvSpPr>
          <p:cNvPr id="9" name="TextBox 8"/>
          <p:cNvSpPr txBox="1"/>
          <p:nvPr/>
        </p:nvSpPr>
        <p:spPr>
          <a:xfrm>
            <a:off x="13487400" y="7854696"/>
            <a:ext cx="548640" cy="274320"/>
          </a:xfrm>
          <a:prstGeom prst="rect">
            <a:avLst/>
          </a:prstGeom>
          <a:noFill/>
        </p:spPr>
        <p:txBody>
          <a:bodyPr wrap="square" lIns="0" tIns="0" rIns="0" bIns="0">
            <a:spAutoFit/>
          </a:bodyPr>
          <a:lstStyle/>
          <a:p>
            <a:pPr>
              <a:spcAft>
                <a:spcPts val="700"/>
              </a:spcAft>
              <a:defRPr sz="1200" b="1">
                <a:solidFill>
                  <a:srgbClr val="00708A"/>
                </a:solidFill>
                <a:latin typeface="Barlow"/>
              </a:defRPr>
            </a:pPr>
            <a:r>
              <a:rPr lang="en-JP"/>
              <a:t>09</a:t>
            </a:r>
            <a:endParaRPr/>
          </a:p>
        </p:txBody>
      </p:sp>
      <p:sp>
        <p:nvSpPr>
          <p:cNvPr id="901" name="JNX Rule"/>
          <p:cNvSpPr/>
          <p:nvPr/>
        </p:nvSpPr>
        <p:spPr>
          <a:xfrm>
            <a:off x="596900" y="1016000"/>
            <a:ext cx="13436600" cy="19050"/>
          </a:xfrm>
          <a:prstGeom prst="rect">
            <a:avLst/>
          </a:prstGeom>
          <a:solidFill>
            <a:srgbClr val="0B3C4C"/>
          </a:solidFill>
          <a:ln>
            <a:noFill/>
          </a:ln>
        </p:spPr>
        <p:txBody>
          <a:bodyPr/>
          <a:lstStyle/>
          <a:p>
            <a:endParaRPr lang="en-JP"/>
          </a:p>
        </p:txBody>
      </p:sp>
      <p:pic>
        <p:nvPicPr>
          <p:cNvPr id="903" name="Copied Picture 903" descr="Japannext JNX logo">
            <a:extLst>
              <a:ext uri="{FF2B5EF4-FFF2-40B4-BE49-F238E27FC236}">
                <a16:creationId xmlns:a16="http://schemas.microsoft.com/office/drawing/2014/main" id="{429122C2-2B95-92FB-9A5C-2E92C9458AAC}"/>
              </a:ext>
            </a:extLst>
          </p:cNvPr>
          <p:cNvPicPr>
            <a:picLocks noChangeAspect="1"/>
          </p:cNvPicPr>
          <p:nvPr/>
        </p:nvPicPr>
        <p:blipFill>
          <a:blip r:embed="rId3">
            <a:clrChange>
              <a:clrFrom>
                <a:srgbClr val="FFFFFF"/>
              </a:clrFrom>
              <a:clrTo>
                <a:srgbClr val="FFFFFF">
                  <a:alpha val="0"/>
                </a:srgbClr>
              </a:clrTo>
            </a:clrChange>
          </a:blip>
          <a:srcRect l="13500" t="21500" r="13800" b="22500"/>
          <a:stretch>
            <a:fillRect/>
          </a:stretch>
        </p:blipFill>
        <p:spPr>
          <a:xfrm>
            <a:off x="12623800" y="254000"/>
            <a:ext cx="1409700" cy="660400"/>
          </a:xfrm>
          <a:prstGeom prst="rect">
            <a:avLst/>
          </a:prstGeom>
        </p:spPr>
      </p:pic>
      <p:sp>
        <p:nvSpPr>
          <p:cNvPr id="960" name="CMDB 961"/>
          <p:cNvSpPr/>
          <p:nvPr/>
        </p:nvSpPr>
        <p:spPr>
          <a:xfrm>
            <a:off x="596900" y="2819400"/>
            <a:ext cx="3429000" cy="1905000"/>
          </a:xfrm>
          <a:prstGeom prst="rect">
            <a:avLst/>
          </a:prstGeom>
          <a:solidFill>
            <a:srgbClr val="EFF4F6"/>
          </a:solidFill>
          <a:ln w="25400">
            <a:solidFill>
              <a:srgbClr val="F5A623"/>
            </a:solidFill>
          </a:ln>
        </p:spPr>
        <p:txBody>
          <a:bodyPr wrap="square" lIns="203200" tIns="177800" rIns="203200" bIns="177800" anchor="t">
            <a:noAutofit/>
          </a:bodyPr>
          <a:lstStyle/>
          <a:p>
            <a:pPr algn="l">
              <a:spcBef>
                <a:spcPts val="0"/>
              </a:spcBef>
              <a:buNone/>
            </a:pPr>
            <a:r>
              <a:rPr lang="en-US" sz="1400" b="1" dirty="0">
                <a:solidFill>
                  <a:srgbClr val="4F6670"/>
                </a:solidFill>
                <a:latin typeface="Barlow"/>
              </a:rPr>
              <a:t>NETWORK TEAM</a:t>
            </a:r>
          </a:p>
          <a:p>
            <a:pPr algn="l">
              <a:spcBef>
                <a:spcPts val="400"/>
              </a:spcBef>
              <a:buNone/>
            </a:pPr>
            <a:r>
              <a:rPr lang="en-US" sz="2400" b="1" dirty="0">
                <a:solidFill>
                  <a:srgbClr val="0B3C4C"/>
                </a:solidFill>
                <a:latin typeface="Barlow"/>
              </a:rPr>
              <a:t>tor-sw-a12</a:t>
            </a:r>
          </a:p>
          <a:p>
            <a:pPr algn="l">
              <a:spcBef>
                <a:spcPts val="200"/>
              </a:spcBef>
              <a:buNone/>
            </a:pPr>
            <a:r>
              <a:rPr lang="en-US" sz="1600" b="0" dirty="0">
                <a:solidFill>
                  <a:srgbClr val="4F6670"/>
                </a:solidFill>
                <a:latin typeface="Barlow"/>
              </a:rPr>
              <a:t>Switch · rack A12, U42</a:t>
            </a:r>
          </a:p>
          <a:p>
            <a:pPr algn="l">
              <a:spcBef>
                <a:spcPts val="800"/>
              </a:spcBef>
              <a:buNone/>
            </a:pPr>
            <a:r>
              <a:rPr lang="en-US" sz="1600" b="1" dirty="0">
                <a:solidFill>
                  <a:srgbClr val="00708A"/>
                </a:solidFill>
                <a:latin typeface="Barlow"/>
              </a:rPr>
              <a:t>Update requested Sat 2–4 pm</a:t>
            </a:r>
          </a:p>
        </p:txBody>
      </p:sp>
      <p:sp>
        <p:nvSpPr>
          <p:cNvPr id="961" name="CMDB 962"/>
          <p:cNvSpPr/>
          <p:nvPr/>
        </p:nvSpPr>
        <p:spPr>
          <a:xfrm>
            <a:off x="5600700" y="2819400"/>
            <a:ext cx="3429000" cy="1905000"/>
          </a:xfrm>
          <a:prstGeom prst="rect">
            <a:avLst/>
          </a:prstGeom>
          <a:solidFill>
            <a:srgbClr val="EFF4F6"/>
          </a:solidFill>
          <a:ln>
            <a:noFill/>
          </a:ln>
        </p:spPr>
        <p:txBody>
          <a:bodyPr wrap="square" lIns="203200" tIns="177800" rIns="203200" bIns="177800" anchor="t">
            <a:noAutofit/>
          </a:bodyPr>
          <a:lstStyle/>
          <a:p>
            <a:pPr algn="l">
              <a:spcBef>
                <a:spcPts val="0"/>
              </a:spcBef>
              <a:buNone/>
            </a:pPr>
            <a:r>
              <a:rPr lang="en-US" sz="1400" b="1" dirty="0">
                <a:solidFill>
                  <a:srgbClr val="4F6670"/>
                </a:solidFill>
                <a:latin typeface="Barlow"/>
              </a:rPr>
              <a:t>UNIX TEAM</a:t>
            </a:r>
          </a:p>
          <a:p>
            <a:pPr algn="l">
              <a:spcBef>
                <a:spcPts val="400"/>
              </a:spcBef>
              <a:buNone/>
            </a:pPr>
            <a:r>
              <a:rPr lang="en-US" sz="2400" b="1" dirty="0">
                <a:solidFill>
                  <a:srgbClr val="0B3C4C"/>
                </a:solidFill>
                <a:latin typeface="Barlow"/>
              </a:rPr>
              <a:t>coreapps-01</a:t>
            </a:r>
          </a:p>
          <a:p>
            <a:pPr algn="l">
              <a:spcBef>
                <a:spcPts val="200"/>
              </a:spcBef>
              <a:buNone/>
            </a:pPr>
            <a:r>
              <a:rPr lang="en-US" sz="1600" b="0" dirty="0">
                <a:solidFill>
                  <a:srgbClr val="4F6670"/>
                </a:solidFill>
                <a:latin typeface="Barlow"/>
              </a:rPr>
              <a:t>Server · rack A12, U20</a:t>
            </a:r>
          </a:p>
          <a:p>
            <a:pPr algn="l">
              <a:spcBef>
                <a:spcPts val="800"/>
              </a:spcBef>
              <a:buNone/>
            </a:pPr>
            <a:r>
              <a:rPr lang="en-US" sz="1600" b="1" dirty="0">
                <a:solidFill>
                  <a:srgbClr val="00708A"/>
                </a:solidFill>
                <a:latin typeface="Barlow"/>
              </a:rPr>
              <a:t>Upgrade booked Sat 1–5 pm</a:t>
            </a:r>
          </a:p>
        </p:txBody>
      </p:sp>
      <p:sp>
        <p:nvSpPr>
          <p:cNvPr id="962" name="CMDB 963"/>
          <p:cNvSpPr/>
          <p:nvPr/>
        </p:nvSpPr>
        <p:spPr>
          <a:xfrm>
            <a:off x="10604500" y="2819400"/>
            <a:ext cx="3429000" cy="1905000"/>
          </a:xfrm>
          <a:prstGeom prst="rect">
            <a:avLst/>
          </a:prstGeom>
          <a:solidFill>
            <a:srgbClr val="EFF4F6"/>
          </a:solidFill>
          <a:ln>
            <a:noFill/>
          </a:ln>
        </p:spPr>
        <p:txBody>
          <a:bodyPr wrap="square" lIns="203200" tIns="177800" rIns="203200" bIns="177800" anchor="t">
            <a:noAutofit/>
          </a:bodyPr>
          <a:lstStyle/>
          <a:p>
            <a:pPr algn="l">
              <a:spcBef>
                <a:spcPts val="0"/>
              </a:spcBef>
              <a:buNone/>
            </a:pPr>
            <a:r>
              <a:rPr lang="en-US" sz="1400" b="1" dirty="0">
                <a:solidFill>
                  <a:srgbClr val="4F6670"/>
                </a:solidFill>
                <a:latin typeface="Barlow"/>
              </a:rPr>
              <a:t>BUSINESS SERVICE</a:t>
            </a:r>
          </a:p>
          <a:p>
            <a:pPr algn="l">
              <a:spcBef>
                <a:spcPts val="400"/>
              </a:spcBef>
              <a:buNone/>
            </a:pPr>
            <a:r>
              <a:rPr lang="en-US" sz="2400" b="1" dirty="0">
                <a:solidFill>
                  <a:srgbClr val="0B3C4C"/>
                </a:solidFill>
                <a:latin typeface="Barlow"/>
              </a:rPr>
              <a:t>CoreApps</a:t>
            </a:r>
          </a:p>
          <a:p>
            <a:pPr algn="l">
              <a:spcBef>
                <a:spcPts val="200"/>
              </a:spcBef>
              <a:buNone/>
            </a:pPr>
            <a:r>
              <a:rPr lang="en-US" sz="1600" b="0" dirty="0">
                <a:solidFill>
                  <a:srgbClr val="4F6670"/>
                </a:solidFill>
                <a:latin typeface="Barlow"/>
              </a:rPr>
              <a:t>Critical business application</a:t>
            </a:r>
          </a:p>
          <a:p>
            <a:pPr algn="l">
              <a:spcBef>
                <a:spcPts val="800"/>
              </a:spcBef>
              <a:buNone/>
            </a:pPr>
            <a:r>
              <a:rPr lang="en-US" sz="1600" b="1" dirty="0">
                <a:solidFill>
                  <a:srgbClr val="00708A"/>
                </a:solidFill>
                <a:latin typeface="Barlow"/>
              </a:rPr>
              <a:t>Linked to coreapps-01</a:t>
            </a:r>
          </a:p>
        </p:txBody>
      </p:sp>
      <p:cxnSp>
        <p:nvCxnSpPr>
          <p:cNvPr id="963" name="CMDB link 964"/>
          <p:cNvCxnSpPr/>
          <p:nvPr/>
        </p:nvCxnSpPr>
        <p:spPr>
          <a:xfrm>
            <a:off x="4127500" y="3771900"/>
            <a:ext cx="1371600" cy="0"/>
          </a:xfrm>
          <a:prstGeom prst="straightConnector1">
            <a:avLst/>
          </a:prstGeom>
          <a:ln w="25400">
            <a:solidFill>
              <a:srgbClr val="00708A"/>
            </a:solidFill>
            <a:tailEnd type="triangle" w="med" len="med"/>
          </a:ln>
        </p:spPr>
      </p:cxnSp>
      <p:sp>
        <p:nvSpPr>
          <p:cNvPr id="964" name="CMDB 965"/>
          <p:cNvSpPr/>
          <p:nvPr/>
        </p:nvSpPr>
        <p:spPr>
          <a:xfrm>
            <a:off x="4025900" y="3340100"/>
            <a:ext cx="1574800" cy="330200"/>
          </a:xfrm>
          <a:prstGeom prst="rect">
            <a:avLst/>
          </a:prstGeom>
          <a:noFill/>
          <a:ln>
            <a:noFill/>
          </a:ln>
        </p:spPr>
        <p:txBody>
          <a:bodyPr wrap="square" lIns="0" tIns="0" rIns="0" bIns="0" anchor="b">
            <a:noAutofit/>
          </a:bodyPr>
          <a:lstStyle/>
          <a:p>
            <a:pPr algn="ctr">
              <a:spcBef>
                <a:spcPts val="0"/>
              </a:spcBef>
              <a:buNone/>
            </a:pPr>
            <a:r>
              <a:rPr lang="en-US" sz="1400" b="0" dirty="0">
                <a:solidFill>
                  <a:srgbClr val="00708A"/>
                </a:solidFill>
                <a:latin typeface="Barlow"/>
              </a:rPr>
              <a:t>Port 1/12</a:t>
            </a:r>
          </a:p>
        </p:txBody>
      </p:sp>
      <p:cxnSp>
        <p:nvCxnSpPr>
          <p:cNvPr id="965" name="CMDB link 966"/>
          <p:cNvCxnSpPr/>
          <p:nvPr/>
        </p:nvCxnSpPr>
        <p:spPr>
          <a:xfrm>
            <a:off x="9131300" y="3771900"/>
            <a:ext cx="1371600" cy="0"/>
          </a:xfrm>
          <a:prstGeom prst="straightConnector1">
            <a:avLst/>
          </a:prstGeom>
          <a:ln w="25400">
            <a:solidFill>
              <a:srgbClr val="00708A"/>
            </a:solidFill>
            <a:tailEnd type="triangle" w="med" len="med"/>
          </a:ln>
        </p:spPr>
      </p:cxnSp>
      <p:sp>
        <p:nvSpPr>
          <p:cNvPr id="966" name="CMDB 967"/>
          <p:cNvSpPr/>
          <p:nvPr/>
        </p:nvSpPr>
        <p:spPr>
          <a:xfrm>
            <a:off x="9029700" y="3340100"/>
            <a:ext cx="1574800" cy="330200"/>
          </a:xfrm>
          <a:prstGeom prst="rect">
            <a:avLst/>
          </a:prstGeom>
          <a:noFill/>
          <a:ln>
            <a:noFill/>
          </a:ln>
        </p:spPr>
        <p:txBody>
          <a:bodyPr wrap="square" lIns="0" tIns="0" rIns="0" bIns="0" anchor="b">
            <a:noAutofit/>
          </a:bodyPr>
          <a:lstStyle/>
          <a:p>
            <a:pPr algn="ctr">
              <a:spcBef>
                <a:spcPts val="0"/>
              </a:spcBef>
              <a:buNone/>
            </a:pPr>
            <a:r>
              <a:rPr lang="en-US" sz="1400" b="0" dirty="0">
                <a:solidFill>
                  <a:srgbClr val="00708A"/>
                </a:solidFill>
                <a:latin typeface="Barlow"/>
              </a:rPr>
              <a:t>Hosts</a:t>
            </a:r>
          </a:p>
        </p:txBody>
      </p:sp>
      <p:sp>
        <p:nvSpPr>
          <p:cNvPr id="967" name="CMDB 968"/>
          <p:cNvSpPr/>
          <p:nvPr/>
        </p:nvSpPr>
        <p:spPr>
          <a:xfrm>
            <a:off x="596900" y="5842000"/>
            <a:ext cx="3429000" cy="31750"/>
          </a:xfrm>
          <a:prstGeom prst="rect">
            <a:avLst/>
          </a:prstGeom>
          <a:solidFill>
            <a:srgbClr val="F5A623"/>
          </a:solidFill>
          <a:ln>
            <a:noFill/>
          </a:ln>
        </p:spPr>
        <p:txBody>
          <a:bodyPr wrap="square" lIns="203200" tIns="177800" rIns="203200" bIns="177800" anchor="t">
            <a:noAutofit/>
          </a:bodyPr>
          <a:lstStyle/>
          <a:p>
            <a:endParaRPr lang="en-US" sz="100"/>
          </a:p>
        </p:txBody>
      </p:sp>
      <p:sp>
        <p:nvSpPr>
          <p:cNvPr id="968" name="CMDB 969"/>
          <p:cNvSpPr/>
          <p:nvPr/>
        </p:nvSpPr>
        <p:spPr>
          <a:xfrm>
            <a:off x="596900" y="5994400"/>
            <a:ext cx="3429000" cy="820738"/>
          </a:xfrm>
          <a:prstGeom prst="rect">
            <a:avLst/>
          </a:prstGeom>
          <a:noFill/>
          <a:ln>
            <a:noFill/>
          </a:ln>
        </p:spPr>
        <p:txBody>
          <a:bodyPr wrap="square" lIns="0" tIns="0" rIns="0" bIns="0" anchor="t">
            <a:spAutoFit/>
          </a:bodyPr>
          <a:lstStyle/>
          <a:p>
            <a:pPr algn="l">
              <a:spcBef>
                <a:spcPts val="0"/>
              </a:spcBef>
              <a:buNone/>
            </a:pPr>
            <a:r>
              <a:rPr lang="en-US" sz="1800" b="1" dirty="0">
                <a:solidFill>
                  <a:srgbClr val="0B3C4C"/>
                </a:solidFill>
                <a:latin typeface="Barlow"/>
              </a:rPr>
              <a:t>1  Maintain the map</a:t>
            </a:r>
          </a:p>
          <a:p>
            <a:pPr algn="l">
              <a:spcBef>
                <a:spcPts val="400"/>
              </a:spcBef>
              <a:buNone/>
            </a:pPr>
            <a:r>
              <a:rPr lang="en-US" sz="1600" b="0" dirty="0">
                <a:solidFill>
                  <a:srgbClr val="4F6670"/>
                </a:solidFill>
                <a:latin typeface="Barlow"/>
              </a:rPr>
              <a:t>Sync inventory from NetBox and verify service relationships.</a:t>
            </a:r>
          </a:p>
        </p:txBody>
      </p:sp>
      <p:sp>
        <p:nvSpPr>
          <p:cNvPr id="969" name="CMDB 970"/>
          <p:cNvSpPr/>
          <p:nvPr/>
        </p:nvSpPr>
        <p:spPr>
          <a:xfrm>
            <a:off x="5600700" y="5842000"/>
            <a:ext cx="3429000" cy="31750"/>
          </a:xfrm>
          <a:prstGeom prst="rect">
            <a:avLst/>
          </a:prstGeom>
          <a:solidFill>
            <a:srgbClr val="F5A623"/>
          </a:solidFill>
          <a:ln>
            <a:noFill/>
          </a:ln>
        </p:spPr>
        <p:txBody>
          <a:bodyPr wrap="square" lIns="203200" tIns="177800" rIns="203200" bIns="177800" anchor="t">
            <a:noAutofit/>
          </a:bodyPr>
          <a:lstStyle/>
          <a:p>
            <a:endParaRPr lang="en-US" sz="100"/>
          </a:p>
        </p:txBody>
      </p:sp>
      <p:sp>
        <p:nvSpPr>
          <p:cNvPr id="970" name="CMDB 971"/>
          <p:cNvSpPr/>
          <p:nvPr/>
        </p:nvSpPr>
        <p:spPr>
          <a:xfrm>
            <a:off x="5600700" y="5994400"/>
            <a:ext cx="3429000" cy="820738"/>
          </a:xfrm>
          <a:prstGeom prst="rect">
            <a:avLst/>
          </a:prstGeom>
          <a:noFill/>
          <a:ln>
            <a:noFill/>
          </a:ln>
        </p:spPr>
        <p:txBody>
          <a:bodyPr wrap="square" lIns="0" tIns="0" rIns="0" bIns="0" anchor="t">
            <a:spAutoFit/>
          </a:bodyPr>
          <a:lstStyle/>
          <a:p>
            <a:pPr algn="l">
              <a:spcBef>
                <a:spcPts val="0"/>
              </a:spcBef>
              <a:buNone/>
            </a:pPr>
            <a:r>
              <a:rPr lang="en-US" sz="1800" b="1" dirty="0">
                <a:solidFill>
                  <a:srgbClr val="0B3C4C"/>
                </a:solidFill>
                <a:latin typeface="Barlow"/>
              </a:rPr>
              <a:t>2  Identify the change</a:t>
            </a:r>
          </a:p>
          <a:p>
            <a:pPr algn="l">
              <a:spcBef>
                <a:spcPts val="400"/>
              </a:spcBef>
              <a:buNone/>
            </a:pPr>
            <a:r>
              <a:rPr lang="en-US" sz="1600" b="0" dirty="0">
                <a:solidFill>
                  <a:srgbClr val="4F6670"/>
                </a:solidFill>
                <a:latin typeface="Barlow"/>
              </a:rPr>
              <a:t>The Network team selects tor-sw-a12 and its window.</a:t>
            </a:r>
          </a:p>
        </p:txBody>
      </p:sp>
      <p:sp>
        <p:nvSpPr>
          <p:cNvPr id="971" name="CMDB 972"/>
          <p:cNvSpPr/>
          <p:nvPr/>
        </p:nvSpPr>
        <p:spPr>
          <a:xfrm>
            <a:off x="10604500" y="5842000"/>
            <a:ext cx="3429000" cy="31750"/>
          </a:xfrm>
          <a:prstGeom prst="rect">
            <a:avLst/>
          </a:prstGeom>
          <a:solidFill>
            <a:srgbClr val="F5A623"/>
          </a:solidFill>
          <a:ln>
            <a:noFill/>
          </a:ln>
        </p:spPr>
        <p:txBody>
          <a:bodyPr wrap="square" lIns="203200" tIns="177800" rIns="203200" bIns="177800" anchor="t">
            <a:noAutofit/>
          </a:bodyPr>
          <a:lstStyle/>
          <a:p>
            <a:endParaRPr lang="en-US" sz="100"/>
          </a:p>
        </p:txBody>
      </p:sp>
      <p:sp>
        <p:nvSpPr>
          <p:cNvPr id="972" name="CMDB 973"/>
          <p:cNvSpPr/>
          <p:nvPr/>
        </p:nvSpPr>
        <p:spPr>
          <a:xfrm>
            <a:off x="10604500" y="5994400"/>
            <a:ext cx="3429000" cy="1066959"/>
          </a:xfrm>
          <a:prstGeom prst="rect">
            <a:avLst/>
          </a:prstGeom>
          <a:noFill/>
          <a:ln>
            <a:noFill/>
          </a:ln>
        </p:spPr>
        <p:txBody>
          <a:bodyPr wrap="square" lIns="0" tIns="0" rIns="0" bIns="0" anchor="t">
            <a:spAutoFit/>
          </a:bodyPr>
          <a:lstStyle/>
          <a:p>
            <a:pPr algn="l">
              <a:spcBef>
                <a:spcPts val="0"/>
              </a:spcBef>
              <a:buNone/>
            </a:pPr>
            <a:r>
              <a:rPr lang="en-US" sz="1800" b="1" dirty="0">
                <a:solidFill>
                  <a:srgbClr val="0B3C4C"/>
                </a:solidFill>
                <a:latin typeface="Barlow"/>
              </a:rPr>
              <a:t>3  Expose the shared impact</a:t>
            </a:r>
          </a:p>
          <a:p>
            <a:pPr algn="l">
              <a:spcBef>
                <a:spcPts val="400"/>
              </a:spcBef>
              <a:buNone/>
            </a:pPr>
            <a:r>
              <a:rPr lang="en-US" sz="1600" b="0" dirty="0">
                <a:solidFill>
                  <a:srgbClr val="4F6670"/>
                </a:solidFill>
                <a:latin typeface="Barlow"/>
              </a:rPr>
              <a:t>Follow recorded links to overlapping server work, so teams can resolve the clash.</a:t>
            </a:r>
          </a:p>
        </p:txBody>
      </p:sp>
    </p:spTree>
    <p:extLst>
      <p:ext uri="{BB962C8B-B14F-4D97-AF65-F5344CB8AC3E}">
        <p14:creationId xmlns:p14="http://schemas.microsoft.com/office/powerpoint/2010/main" val="34066704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6900" y="1270000"/>
            <a:ext cx="965200" cy="274320"/>
          </a:xfrm>
          <a:prstGeom prst="rect">
            <a:avLst/>
          </a:prstGeom>
          <a:noFill/>
        </p:spPr>
        <p:txBody>
          <a:bodyPr wrap="square" lIns="0" tIns="0" rIns="0" bIns="0">
            <a:noAutofit/>
          </a:bodyPr>
          <a:lstStyle/>
          <a:p>
            <a:pPr>
              <a:spcAft>
                <a:spcPts val="700"/>
              </a:spcAft>
              <a:defRPr sz="1100" b="1">
                <a:solidFill>
                  <a:srgbClr val="00708A"/>
                </a:solidFill>
                <a:latin typeface="Barlow"/>
              </a:defRPr>
            </a:pPr>
            <a:r>
              <a:t>SERVICEOPS</a:t>
            </a:r>
          </a:p>
        </p:txBody>
      </p:sp>
      <p:sp>
        <p:nvSpPr>
          <p:cNvPr id="4" name="TextBox 3"/>
          <p:cNvSpPr txBox="1"/>
          <p:nvPr/>
        </p:nvSpPr>
        <p:spPr>
          <a:xfrm>
            <a:off x="1714500" y="1270000"/>
            <a:ext cx="11430000" cy="184666"/>
          </a:xfrm>
          <a:prstGeom prst="rect">
            <a:avLst/>
          </a:prstGeom>
          <a:noFill/>
        </p:spPr>
        <p:txBody>
          <a:bodyPr wrap="square" lIns="0" tIns="0" rIns="0" bIns="0">
            <a:spAutoFit/>
          </a:bodyPr>
          <a:lstStyle/>
          <a:p>
            <a:pPr>
              <a:spcAft>
                <a:spcPts val="700"/>
              </a:spcAft>
              <a:defRPr sz="1200" b="1">
                <a:solidFill>
                  <a:srgbClr val="4F6670"/>
                </a:solidFill>
                <a:latin typeface="Barlow"/>
              </a:defRPr>
            </a:pPr>
            <a:r>
              <a:t>POLICY TEAMS CANNOT MISS</a:t>
            </a:r>
          </a:p>
        </p:txBody>
      </p:sp>
      <p:sp>
        <p:nvSpPr>
          <p:cNvPr id="5" name="TextBox 4"/>
          <p:cNvSpPr txBox="1"/>
          <p:nvPr/>
        </p:nvSpPr>
        <p:spPr>
          <a:xfrm>
            <a:off x="596900" y="304800"/>
            <a:ext cx="11430000" cy="400110"/>
          </a:xfrm>
          <a:prstGeom prst="rect">
            <a:avLst/>
          </a:prstGeom>
          <a:noFill/>
        </p:spPr>
        <p:txBody>
          <a:bodyPr wrap="square" lIns="0" tIns="0" rIns="0" bIns="0">
            <a:spAutoFit/>
          </a:bodyPr>
          <a:lstStyle/>
          <a:p>
            <a:pPr>
              <a:spcAft>
                <a:spcPts val="700"/>
              </a:spcAft>
              <a:defRPr sz="2600" b="1">
                <a:solidFill>
                  <a:srgbClr val="0B3C4C"/>
                </a:solidFill>
                <a:latin typeface="Barlow"/>
              </a:defRPr>
            </a:pPr>
            <a:r>
              <a:rPr sz="2600"/>
              <a:t>Make the freeze a workflow control—not an email reminder.</a:t>
            </a:r>
          </a:p>
        </p:txBody>
      </p:sp>
      <p:sp>
        <p:nvSpPr>
          <p:cNvPr id="6" name="TextBox 5"/>
          <p:cNvSpPr txBox="1"/>
          <p:nvPr/>
        </p:nvSpPr>
        <p:spPr>
          <a:xfrm>
            <a:off x="596900" y="1625600"/>
            <a:ext cx="13436600" cy="307777"/>
          </a:xfrm>
          <a:prstGeom prst="rect">
            <a:avLst/>
          </a:prstGeom>
          <a:noFill/>
        </p:spPr>
        <p:txBody>
          <a:bodyPr wrap="square" lIns="0" tIns="0" rIns="0" bIns="0">
            <a:spAutoFit/>
          </a:bodyPr>
          <a:lstStyle/>
          <a:p>
            <a:pPr>
              <a:spcAft>
                <a:spcPts val="700"/>
              </a:spcAft>
              <a:defRPr sz="2000" b="0">
                <a:solidFill>
                  <a:srgbClr val="4F6670"/>
                </a:solidFill>
                <a:latin typeface="Barlow"/>
              </a:defRPr>
            </a:pPr>
            <a:r>
              <a:t>Illustrative scenario: a configured freeze prevents routine work; emergencies follow configured approvals.</a:t>
            </a:r>
          </a:p>
        </p:txBody>
      </p:sp>
      <p:sp>
        <p:nvSpPr>
          <p:cNvPr id="7" name="Rectangle 6"/>
          <p:cNvSpPr/>
          <p:nvPr/>
        </p:nvSpPr>
        <p:spPr>
          <a:xfrm>
            <a:off x="594360" y="7754112"/>
            <a:ext cx="13441680" cy="10972"/>
          </a:xfrm>
          <a:prstGeom prst="rect">
            <a:avLst/>
          </a:prstGeom>
          <a:solidFill>
            <a:srgbClr val="D5D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7909560"/>
            <a:ext cx="10058400" cy="182880"/>
          </a:xfrm>
          <a:prstGeom prst="rect">
            <a:avLst/>
          </a:prstGeom>
          <a:noFill/>
        </p:spPr>
        <p:txBody>
          <a:bodyPr wrap="square" lIns="0" tIns="0" rIns="0" bIns="0">
            <a:spAutoFit/>
          </a:bodyPr>
          <a:lstStyle/>
          <a:p>
            <a:pPr>
              <a:spcAft>
                <a:spcPts val="700"/>
              </a:spcAft>
              <a:defRPr sz="900" b="0">
                <a:solidFill>
                  <a:srgbClr val="4F6670"/>
                </a:solidFill>
                <a:latin typeface="Barlow"/>
              </a:defRPr>
            </a:pPr>
            <a:r>
              <a:t>Anushka Wijesundara  /  Product overview</a:t>
            </a:r>
          </a:p>
        </p:txBody>
      </p:sp>
      <p:sp>
        <p:nvSpPr>
          <p:cNvPr id="9" name="TextBox 8"/>
          <p:cNvSpPr txBox="1"/>
          <p:nvPr/>
        </p:nvSpPr>
        <p:spPr>
          <a:xfrm>
            <a:off x="13487400" y="7854696"/>
            <a:ext cx="548640" cy="184666"/>
          </a:xfrm>
          <a:prstGeom prst="rect">
            <a:avLst/>
          </a:prstGeom>
          <a:noFill/>
        </p:spPr>
        <p:txBody>
          <a:bodyPr wrap="square" lIns="0" tIns="0" rIns="0" bIns="0">
            <a:spAutoFit/>
          </a:bodyPr>
          <a:lstStyle/>
          <a:p>
            <a:pPr>
              <a:spcAft>
                <a:spcPts val="700"/>
              </a:spcAft>
              <a:defRPr sz="1200" b="1">
                <a:solidFill>
                  <a:srgbClr val="00708A"/>
                </a:solidFill>
                <a:latin typeface="Barlow"/>
              </a:defRPr>
            </a:pPr>
            <a:r>
              <a:rPr lang="en-JP"/>
              <a:t>11</a:t>
            </a:r>
            <a:endParaRPr/>
          </a:p>
        </p:txBody>
      </p:sp>
      <p:sp>
        <p:nvSpPr>
          <p:cNvPr id="901" name="JNX Rule"/>
          <p:cNvSpPr/>
          <p:nvPr/>
        </p:nvSpPr>
        <p:spPr>
          <a:xfrm>
            <a:off x="596900" y="1016000"/>
            <a:ext cx="13436600" cy="19050"/>
          </a:xfrm>
          <a:prstGeom prst="rect">
            <a:avLst/>
          </a:prstGeom>
          <a:solidFill>
            <a:srgbClr val="0B3C4C"/>
          </a:solidFill>
          <a:ln>
            <a:noFill/>
          </a:ln>
        </p:spPr>
        <p:txBody>
          <a:bodyPr/>
          <a:lstStyle/>
          <a:p>
            <a:endParaRPr lang="en-JP"/>
          </a:p>
        </p:txBody>
      </p:sp>
      <p:pic>
        <p:nvPicPr>
          <p:cNvPr id="903" name="Copied Picture 903" descr="Japannext JNX logo">
            <a:extLst>
              <a:ext uri="{FF2B5EF4-FFF2-40B4-BE49-F238E27FC236}">
                <a16:creationId xmlns:a16="http://schemas.microsoft.com/office/drawing/2014/main" id="{429122C2-2B95-92FB-9A5C-2E92C9458AAC}"/>
              </a:ext>
            </a:extLst>
          </p:cNvPr>
          <p:cNvPicPr>
            <a:picLocks noChangeAspect="1"/>
          </p:cNvPicPr>
          <p:nvPr/>
        </p:nvPicPr>
        <p:blipFill>
          <a:blip r:embed="rId3">
            <a:clrChange>
              <a:clrFrom>
                <a:srgbClr val="FFFFFF"/>
              </a:clrFrom>
              <a:clrTo>
                <a:srgbClr val="FFFFFF">
                  <a:alpha val="0"/>
                </a:srgbClr>
              </a:clrTo>
            </a:clrChange>
          </a:blip>
          <a:srcRect l="13500" t="21500" r="13800" b="22500"/>
          <a:stretch>
            <a:fillRect/>
          </a:stretch>
        </p:blipFill>
        <p:spPr>
          <a:xfrm>
            <a:off x="12623800" y="254000"/>
            <a:ext cx="1409700" cy="660400"/>
          </a:xfrm>
          <a:prstGeom prst="rect">
            <a:avLst/>
          </a:prstGeom>
        </p:spPr>
      </p:pic>
      <p:pic>
        <p:nvPicPr>
          <p:cNvPr id="10" name="Screenshot 1">
            <a:extLst>
              <a:ext uri="{FF2B5EF4-FFF2-40B4-BE49-F238E27FC236}">
                <a16:creationId xmlns:a16="http://schemas.microsoft.com/office/drawing/2014/main" id="{2C3CF0B1-286E-9034-894F-C9AA6DDD46B0}"/>
              </a:ext>
            </a:extLst>
          </p:cNvPr>
          <p:cNvPicPr>
            <a:picLocks noChangeAspect="1"/>
          </p:cNvPicPr>
          <p:nvPr/>
        </p:nvPicPr>
        <p:blipFill>
          <a:blip r:embed="rId4"/>
          <a:srcRect l="14948" t="4919" r="8854" b="90046"/>
          <a:stretch>
            <a:fillRect/>
          </a:stretch>
        </p:blipFill>
        <p:spPr>
          <a:xfrm>
            <a:off x="596900" y="2699205"/>
            <a:ext cx="13436600" cy="799024"/>
          </a:xfrm>
          <a:prstGeom prst="rect">
            <a:avLst/>
          </a:prstGeom>
          <a:ln w="9525">
            <a:solidFill>
              <a:srgbClr val="C5D0D5"/>
            </a:solidFill>
          </a:ln>
        </p:spPr>
      </p:pic>
      <p:pic>
        <p:nvPicPr>
          <p:cNvPr id="11" name="Screenshot 2">
            <a:extLst>
              <a:ext uri="{FF2B5EF4-FFF2-40B4-BE49-F238E27FC236}">
                <a16:creationId xmlns:a16="http://schemas.microsoft.com/office/drawing/2014/main" id="{CD9A90C5-6CE3-8866-791B-C444C516F15D}"/>
              </a:ext>
            </a:extLst>
          </p:cNvPr>
          <p:cNvPicPr>
            <a:picLocks noChangeAspect="1"/>
          </p:cNvPicPr>
          <p:nvPr/>
        </p:nvPicPr>
        <p:blipFill>
          <a:blip r:embed="rId4"/>
          <a:srcRect l="14948" t="28935" r="8854" b="68750"/>
          <a:stretch>
            <a:fillRect/>
          </a:stretch>
        </p:blipFill>
        <p:spPr>
          <a:xfrm>
            <a:off x="596900" y="3625229"/>
            <a:ext cx="13436600" cy="367372"/>
          </a:xfrm>
          <a:prstGeom prst="rect">
            <a:avLst/>
          </a:prstGeom>
          <a:ln w="9525">
            <a:solidFill>
              <a:srgbClr val="C5D0D5"/>
            </a:solidFill>
          </a:ln>
        </p:spPr>
      </p:pic>
      <p:pic>
        <p:nvPicPr>
          <p:cNvPr id="12" name="Screenshot 3">
            <a:extLst>
              <a:ext uri="{FF2B5EF4-FFF2-40B4-BE49-F238E27FC236}">
                <a16:creationId xmlns:a16="http://schemas.microsoft.com/office/drawing/2014/main" id="{59E0271F-A5B5-768D-7976-3C4875C865D7}"/>
              </a:ext>
            </a:extLst>
          </p:cNvPr>
          <p:cNvPicPr>
            <a:picLocks noChangeAspect="1"/>
          </p:cNvPicPr>
          <p:nvPr/>
        </p:nvPicPr>
        <p:blipFill>
          <a:blip r:embed="rId4"/>
          <a:srcRect l="14948" t="57002" r="8854" b="36632"/>
          <a:stretch>
            <a:fillRect/>
          </a:stretch>
        </p:blipFill>
        <p:spPr>
          <a:xfrm>
            <a:off x="596900" y="4119601"/>
            <a:ext cx="13436600" cy="1010272"/>
          </a:xfrm>
          <a:prstGeom prst="rect">
            <a:avLst/>
          </a:prstGeom>
          <a:ln w="9525">
            <a:solidFill>
              <a:srgbClr val="C5D0D5"/>
            </a:solidFill>
          </a:ln>
        </p:spPr>
      </p:pic>
      <p:sp>
        <p:nvSpPr>
          <p:cNvPr id="950" name="Body 950"/>
          <p:cNvSpPr/>
          <p:nvPr/>
        </p:nvSpPr>
        <p:spPr>
          <a:xfrm>
            <a:off x="596900" y="5969000"/>
            <a:ext cx="4275667" cy="31750"/>
          </a:xfrm>
          <a:prstGeom prst="rect">
            <a:avLst/>
          </a:prstGeom>
          <a:solidFill>
            <a:srgbClr val="F5A623"/>
          </a:solidFill>
          <a:ln>
            <a:noFill/>
          </a:ln>
        </p:spPr>
        <p:txBody>
          <a:bodyPr wrap="square" lIns="0" tIns="0" rIns="0" bIns="0" anchor="t">
            <a:noAutofit/>
          </a:bodyPr>
          <a:lstStyle/>
          <a:p>
            <a:endParaRPr lang="en-US" sz="100"/>
          </a:p>
        </p:txBody>
      </p:sp>
      <p:sp>
        <p:nvSpPr>
          <p:cNvPr id="951" name="Body 951"/>
          <p:cNvSpPr txBox="1"/>
          <p:nvPr/>
        </p:nvSpPr>
        <p:spPr>
          <a:xfrm>
            <a:off x="596900" y="6121400"/>
            <a:ext cx="4275667" cy="1435100"/>
          </a:xfrm>
          <a:prstGeom prst="rect">
            <a:avLst/>
          </a:prstGeom>
          <a:noFill/>
        </p:spPr>
        <p:txBody>
          <a:bodyPr wrap="square" lIns="0" tIns="0" rIns="0" bIns="0" anchor="t">
            <a:noAutofit/>
          </a:bodyPr>
          <a:lstStyle/>
          <a:p>
            <a:pPr>
              <a:spcBef>
                <a:spcPts val="0"/>
              </a:spcBef>
              <a:buNone/>
            </a:pPr>
            <a:r>
              <a:rPr lang="en-US" sz="1600" b="1" dirty="0">
                <a:solidFill>
                  <a:srgbClr val="0B3C4C"/>
                </a:solidFill>
                <a:latin typeface="Barlow"/>
              </a:rPr>
              <a:t>Publish the boundary</a:t>
            </a:r>
          </a:p>
          <a:p>
            <a:pPr>
              <a:spcBef>
                <a:spcPts val="300"/>
              </a:spcBef>
              <a:buNone/>
            </a:pPr>
            <a:r>
              <a:rPr lang="en-US" sz="1500" b="0" dirty="0">
                <a:solidFill>
                  <a:srgbClr val="4F6670"/>
                </a:solidFill>
                <a:latin typeface="Barlow"/>
              </a:rPr>
              <a:t>Set the dates and the reason in the shared system.</a:t>
            </a:r>
          </a:p>
        </p:txBody>
      </p:sp>
      <p:sp>
        <p:nvSpPr>
          <p:cNvPr id="952" name="Body 952"/>
          <p:cNvSpPr/>
          <p:nvPr/>
        </p:nvSpPr>
        <p:spPr>
          <a:xfrm>
            <a:off x="5177367" y="5969000"/>
            <a:ext cx="4275667" cy="31750"/>
          </a:xfrm>
          <a:prstGeom prst="rect">
            <a:avLst/>
          </a:prstGeom>
          <a:solidFill>
            <a:srgbClr val="F5A623"/>
          </a:solidFill>
          <a:ln>
            <a:noFill/>
          </a:ln>
        </p:spPr>
        <p:txBody>
          <a:bodyPr wrap="square" lIns="0" tIns="0" rIns="0" bIns="0" anchor="t">
            <a:noAutofit/>
          </a:bodyPr>
          <a:lstStyle/>
          <a:p>
            <a:endParaRPr lang="en-US" sz="100"/>
          </a:p>
        </p:txBody>
      </p:sp>
      <p:sp>
        <p:nvSpPr>
          <p:cNvPr id="953" name="Body 953"/>
          <p:cNvSpPr txBox="1"/>
          <p:nvPr/>
        </p:nvSpPr>
        <p:spPr>
          <a:xfrm>
            <a:off x="5177367" y="6121400"/>
            <a:ext cx="4275667" cy="1435100"/>
          </a:xfrm>
          <a:prstGeom prst="rect">
            <a:avLst/>
          </a:prstGeom>
          <a:noFill/>
        </p:spPr>
        <p:txBody>
          <a:bodyPr wrap="square" lIns="0" tIns="0" rIns="0" bIns="0" anchor="t">
            <a:noAutofit/>
          </a:bodyPr>
          <a:lstStyle/>
          <a:p>
            <a:pPr>
              <a:spcBef>
                <a:spcPts val="0"/>
              </a:spcBef>
              <a:buNone/>
            </a:pPr>
            <a:r>
              <a:rPr lang="en-US" sz="1600" b="1" dirty="0">
                <a:solidFill>
                  <a:srgbClr val="0B3C4C"/>
                </a:solidFill>
                <a:latin typeface="Barlow"/>
              </a:rPr>
              <a:t>Make it visible at planning</a:t>
            </a:r>
          </a:p>
          <a:p>
            <a:pPr>
              <a:spcBef>
                <a:spcPts val="300"/>
              </a:spcBef>
              <a:buNone/>
            </a:pPr>
            <a:r>
              <a:rPr lang="en-US" sz="1500" b="0" dirty="0">
                <a:solidFill>
                  <a:srgbClr val="4F6670"/>
                </a:solidFill>
                <a:latin typeface="Barlow"/>
              </a:rPr>
              <a:t>Show the freeze where teams book a change.</a:t>
            </a:r>
          </a:p>
        </p:txBody>
      </p:sp>
      <p:sp>
        <p:nvSpPr>
          <p:cNvPr id="954" name="Body 954"/>
          <p:cNvSpPr/>
          <p:nvPr/>
        </p:nvSpPr>
        <p:spPr>
          <a:xfrm>
            <a:off x="9757833" y="5969000"/>
            <a:ext cx="4275667" cy="31750"/>
          </a:xfrm>
          <a:prstGeom prst="rect">
            <a:avLst/>
          </a:prstGeom>
          <a:solidFill>
            <a:srgbClr val="F5A623"/>
          </a:solidFill>
          <a:ln>
            <a:noFill/>
          </a:ln>
        </p:spPr>
        <p:txBody>
          <a:bodyPr wrap="square" lIns="0" tIns="0" rIns="0" bIns="0" anchor="t">
            <a:noAutofit/>
          </a:bodyPr>
          <a:lstStyle/>
          <a:p>
            <a:endParaRPr lang="en-US" sz="100"/>
          </a:p>
        </p:txBody>
      </p:sp>
      <p:sp>
        <p:nvSpPr>
          <p:cNvPr id="955" name="Body 955"/>
          <p:cNvSpPr txBox="1"/>
          <p:nvPr/>
        </p:nvSpPr>
        <p:spPr>
          <a:xfrm>
            <a:off x="9757833" y="6121400"/>
            <a:ext cx="4275667" cy="1435100"/>
          </a:xfrm>
          <a:prstGeom prst="rect">
            <a:avLst/>
          </a:prstGeom>
          <a:noFill/>
        </p:spPr>
        <p:txBody>
          <a:bodyPr wrap="square" lIns="0" tIns="0" rIns="0" bIns="0" anchor="t">
            <a:noAutofit/>
          </a:bodyPr>
          <a:lstStyle/>
          <a:p>
            <a:pPr>
              <a:spcBef>
                <a:spcPts val="0"/>
              </a:spcBef>
              <a:buNone/>
            </a:pPr>
            <a:r>
              <a:rPr lang="en-US" sz="1600" b="1" dirty="0">
                <a:solidFill>
                  <a:srgbClr val="0B3C4C"/>
                </a:solidFill>
                <a:latin typeface="Barlow"/>
              </a:rPr>
              <a:t>Record the exception</a:t>
            </a:r>
          </a:p>
          <a:p>
            <a:pPr>
              <a:spcBef>
                <a:spcPts val="300"/>
              </a:spcBef>
              <a:buNone/>
            </a:pPr>
            <a:r>
              <a:rPr lang="en-US" sz="1500" b="0" dirty="0">
                <a:solidFill>
                  <a:srgbClr val="4F6670"/>
                </a:solidFill>
                <a:latin typeface="Barlow"/>
              </a:rPr>
              <a:t>Route emergencies through configured approvals.</a:t>
            </a:r>
          </a:p>
        </p:txBody>
      </p:sp>
    </p:spTree>
    <p:extLst>
      <p:ext uri="{BB962C8B-B14F-4D97-AF65-F5344CB8AC3E}">
        <p14:creationId xmlns:p14="http://schemas.microsoft.com/office/powerpoint/2010/main" val="42063538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6900" y="1270000"/>
            <a:ext cx="965200" cy="274320"/>
          </a:xfrm>
          <a:prstGeom prst="rect">
            <a:avLst/>
          </a:prstGeom>
          <a:noFill/>
        </p:spPr>
        <p:txBody>
          <a:bodyPr wrap="square" lIns="0" tIns="0" rIns="0" bIns="0">
            <a:noAutofit/>
          </a:bodyPr>
          <a:lstStyle/>
          <a:p>
            <a:pPr>
              <a:spcAft>
                <a:spcPts val="700"/>
              </a:spcAft>
              <a:defRPr sz="1100" b="1">
                <a:solidFill>
                  <a:srgbClr val="00708A"/>
                </a:solidFill>
                <a:latin typeface="Barlow"/>
              </a:defRPr>
            </a:pPr>
            <a:r>
              <a:t>SERVICEOPS</a:t>
            </a:r>
          </a:p>
        </p:txBody>
      </p:sp>
      <p:sp>
        <p:nvSpPr>
          <p:cNvPr id="4" name="TextBox 3"/>
          <p:cNvSpPr txBox="1"/>
          <p:nvPr/>
        </p:nvSpPr>
        <p:spPr>
          <a:xfrm>
            <a:off x="1714500" y="1270000"/>
            <a:ext cx="11430000" cy="365760"/>
          </a:xfrm>
          <a:prstGeom prst="rect">
            <a:avLst/>
          </a:prstGeom>
          <a:noFill/>
        </p:spPr>
        <p:txBody>
          <a:bodyPr wrap="square" lIns="0" tIns="0" rIns="0" bIns="0">
            <a:spAutoFit/>
          </a:bodyPr>
          <a:lstStyle/>
          <a:p>
            <a:pPr>
              <a:spcAft>
                <a:spcPts val="700"/>
              </a:spcAft>
              <a:defRPr sz="1200" b="1">
                <a:solidFill>
                  <a:srgbClr val="4F6670"/>
                </a:solidFill>
                <a:latin typeface="Barlow"/>
              </a:defRPr>
            </a:pPr>
            <a:r>
              <a:t>TRUST THE COORDINATION LAYER</a:t>
            </a:r>
          </a:p>
        </p:txBody>
      </p:sp>
      <p:sp>
        <p:nvSpPr>
          <p:cNvPr id="5" name="TextBox 4"/>
          <p:cNvSpPr txBox="1"/>
          <p:nvPr/>
        </p:nvSpPr>
        <p:spPr>
          <a:xfrm>
            <a:off x="596900" y="304800"/>
            <a:ext cx="11430000" cy="400110"/>
          </a:xfrm>
          <a:prstGeom prst="rect">
            <a:avLst/>
          </a:prstGeom>
          <a:noFill/>
        </p:spPr>
        <p:txBody>
          <a:bodyPr wrap="square" lIns="0" tIns="0" rIns="0" bIns="0">
            <a:spAutoFit/>
          </a:bodyPr>
          <a:lstStyle/>
          <a:p>
            <a:pPr>
              <a:spcAft>
                <a:spcPts val="700"/>
              </a:spcAft>
              <a:defRPr sz="2600" b="1">
                <a:solidFill>
                  <a:srgbClr val="0B3C4C"/>
                </a:solidFill>
                <a:latin typeface="Barlow"/>
              </a:defRPr>
            </a:pPr>
            <a:r>
              <a:rPr sz="2600"/>
              <a:t>Make safer coordination something teams can verify.</a:t>
            </a:r>
          </a:p>
        </p:txBody>
      </p:sp>
      <p:sp>
        <p:nvSpPr>
          <p:cNvPr id="6" name="TextBox 5"/>
          <p:cNvSpPr txBox="1"/>
          <p:nvPr/>
        </p:nvSpPr>
        <p:spPr>
          <a:xfrm>
            <a:off x="596900" y="1625600"/>
            <a:ext cx="13436600" cy="307777"/>
          </a:xfrm>
          <a:prstGeom prst="rect">
            <a:avLst/>
          </a:prstGeom>
          <a:noFill/>
        </p:spPr>
        <p:txBody>
          <a:bodyPr wrap="square" lIns="0" tIns="0" rIns="0" bIns="0">
            <a:spAutoFit/>
          </a:bodyPr>
          <a:lstStyle/>
          <a:p>
            <a:pPr>
              <a:spcAft>
                <a:spcPts val="700"/>
              </a:spcAft>
              <a:defRPr sz="2000" b="0">
                <a:solidFill>
                  <a:srgbClr val="4F6670"/>
                </a:solidFill>
                <a:latin typeface="Barlow"/>
              </a:defRPr>
            </a:pPr>
            <a:r>
              <a:t>Pilot the decision history, data boundaries and exception path before expanding operational use.</a:t>
            </a:r>
          </a:p>
        </p:txBody>
      </p:sp>
      <p:sp>
        <p:nvSpPr>
          <p:cNvPr id="7" name="Rectangle 6"/>
          <p:cNvSpPr/>
          <p:nvPr/>
        </p:nvSpPr>
        <p:spPr>
          <a:xfrm>
            <a:off x="594360" y="7754112"/>
            <a:ext cx="13441680" cy="10972"/>
          </a:xfrm>
          <a:prstGeom prst="rect">
            <a:avLst/>
          </a:prstGeom>
          <a:solidFill>
            <a:srgbClr val="D5D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7909560"/>
            <a:ext cx="10058400" cy="182880"/>
          </a:xfrm>
          <a:prstGeom prst="rect">
            <a:avLst/>
          </a:prstGeom>
          <a:noFill/>
        </p:spPr>
        <p:txBody>
          <a:bodyPr wrap="square" lIns="0" tIns="0" rIns="0" bIns="0">
            <a:spAutoFit/>
          </a:bodyPr>
          <a:lstStyle/>
          <a:p>
            <a:pPr>
              <a:spcAft>
                <a:spcPts val="700"/>
              </a:spcAft>
              <a:defRPr sz="900" b="0">
                <a:solidFill>
                  <a:srgbClr val="4F6670"/>
                </a:solidFill>
                <a:latin typeface="Barlow"/>
              </a:defRPr>
            </a:pPr>
            <a:r>
              <a:t>Anushka Wijesundara  /  Product overview</a:t>
            </a:r>
          </a:p>
        </p:txBody>
      </p:sp>
      <p:sp>
        <p:nvSpPr>
          <p:cNvPr id="9" name="TextBox 8"/>
          <p:cNvSpPr txBox="1"/>
          <p:nvPr/>
        </p:nvSpPr>
        <p:spPr>
          <a:xfrm>
            <a:off x="13487400" y="7854696"/>
            <a:ext cx="548640" cy="184666"/>
          </a:xfrm>
          <a:prstGeom prst="rect">
            <a:avLst/>
          </a:prstGeom>
          <a:noFill/>
        </p:spPr>
        <p:txBody>
          <a:bodyPr wrap="square" lIns="0" tIns="0" rIns="0" bIns="0">
            <a:spAutoFit/>
          </a:bodyPr>
          <a:lstStyle/>
          <a:p>
            <a:pPr>
              <a:spcAft>
                <a:spcPts val="700"/>
              </a:spcAft>
              <a:defRPr sz="1200" b="1">
                <a:solidFill>
                  <a:srgbClr val="00708A"/>
                </a:solidFill>
                <a:latin typeface="Barlow"/>
              </a:defRPr>
            </a:pPr>
            <a:r>
              <a:rPr lang="en-JP"/>
              <a:t>13</a:t>
            </a:r>
            <a:endParaRPr/>
          </a:p>
        </p:txBody>
      </p:sp>
      <p:sp>
        <p:nvSpPr>
          <p:cNvPr id="901" name="JNX Rule"/>
          <p:cNvSpPr/>
          <p:nvPr/>
        </p:nvSpPr>
        <p:spPr>
          <a:xfrm>
            <a:off x="596900" y="1016000"/>
            <a:ext cx="13436600" cy="19050"/>
          </a:xfrm>
          <a:prstGeom prst="rect">
            <a:avLst/>
          </a:prstGeom>
          <a:solidFill>
            <a:srgbClr val="0B3C4C"/>
          </a:solidFill>
          <a:ln>
            <a:noFill/>
          </a:ln>
        </p:spPr>
        <p:txBody>
          <a:bodyPr/>
          <a:lstStyle/>
          <a:p>
            <a:endParaRPr lang="en-JP"/>
          </a:p>
        </p:txBody>
      </p:sp>
      <p:pic>
        <p:nvPicPr>
          <p:cNvPr id="903" name="Copied Picture 903" descr="Japannext JNX logo">
            <a:extLst>
              <a:ext uri="{FF2B5EF4-FFF2-40B4-BE49-F238E27FC236}">
                <a16:creationId xmlns:a16="http://schemas.microsoft.com/office/drawing/2014/main" id="{429122C2-2B95-92FB-9A5C-2E92C9458AAC}"/>
              </a:ext>
            </a:extLst>
          </p:cNvPr>
          <p:cNvPicPr>
            <a:picLocks noChangeAspect="1"/>
          </p:cNvPicPr>
          <p:nvPr/>
        </p:nvPicPr>
        <p:blipFill>
          <a:blip r:embed="rId3">
            <a:clrChange>
              <a:clrFrom>
                <a:srgbClr val="FFFFFF"/>
              </a:clrFrom>
              <a:clrTo>
                <a:srgbClr val="FFFFFF">
                  <a:alpha val="0"/>
                </a:srgbClr>
              </a:clrTo>
            </a:clrChange>
          </a:blip>
          <a:srcRect l="13500" t="21500" r="13800" b="22500"/>
          <a:stretch>
            <a:fillRect/>
          </a:stretch>
        </p:blipFill>
        <p:spPr>
          <a:xfrm>
            <a:off x="12623800" y="254000"/>
            <a:ext cx="1409700" cy="660400"/>
          </a:xfrm>
          <a:prstGeom prst="rect">
            <a:avLst/>
          </a:prstGeom>
        </p:spPr>
      </p:pic>
      <p:pic>
        <p:nvPicPr>
          <p:cNvPr id="10" name="Screenshot 1">
            <a:extLst>
              <a:ext uri="{FF2B5EF4-FFF2-40B4-BE49-F238E27FC236}">
                <a16:creationId xmlns:a16="http://schemas.microsoft.com/office/drawing/2014/main" id="{A389DED8-BB8D-CC32-81EC-C0727B7437C2}"/>
              </a:ext>
            </a:extLst>
          </p:cNvPr>
          <p:cNvPicPr>
            <a:picLocks noChangeAspect="1"/>
          </p:cNvPicPr>
          <p:nvPr/>
        </p:nvPicPr>
        <p:blipFill>
          <a:blip r:embed="rId4"/>
          <a:srcRect l="14063" t="40278" r="1302" b="9722"/>
          <a:stretch>
            <a:fillRect/>
          </a:stretch>
        </p:blipFill>
        <p:spPr>
          <a:xfrm>
            <a:off x="596900" y="2435938"/>
            <a:ext cx="13436600" cy="2976724"/>
          </a:xfrm>
          <a:prstGeom prst="rect">
            <a:avLst/>
          </a:prstGeom>
          <a:ln w="9525">
            <a:solidFill>
              <a:srgbClr val="C5D0D5"/>
            </a:solidFill>
          </a:ln>
        </p:spPr>
      </p:pic>
      <p:sp>
        <p:nvSpPr>
          <p:cNvPr id="950" name="Body 950"/>
          <p:cNvSpPr/>
          <p:nvPr/>
        </p:nvSpPr>
        <p:spPr>
          <a:xfrm>
            <a:off x="596900" y="5969000"/>
            <a:ext cx="4275667" cy="31750"/>
          </a:xfrm>
          <a:prstGeom prst="rect">
            <a:avLst/>
          </a:prstGeom>
          <a:solidFill>
            <a:srgbClr val="F5A623"/>
          </a:solidFill>
          <a:ln>
            <a:noFill/>
          </a:ln>
        </p:spPr>
        <p:txBody>
          <a:bodyPr wrap="square" lIns="0" tIns="0" rIns="0" bIns="0" anchor="t">
            <a:noAutofit/>
          </a:bodyPr>
          <a:lstStyle/>
          <a:p>
            <a:endParaRPr lang="en-US" sz="100"/>
          </a:p>
        </p:txBody>
      </p:sp>
      <p:sp>
        <p:nvSpPr>
          <p:cNvPr id="951" name="Body 951"/>
          <p:cNvSpPr txBox="1"/>
          <p:nvPr/>
        </p:nvSpPr>
        <p:spPr>
          <a:xfrm>
            <a:off x="596900" y="6121400"/>
            <a:ext cx="4275667" cy="1435100"/>
          </a:xfrm>
          <a:prstGeom prst="rect">
            <a:avLst/>
          </a:prstGeom>
          <a:noFill/>
        </p:spPr>
        <p:txBody>
          <a:bodyPr wrap="square" lIns="0" tIns="0" rIns="0" bIns="0" anchor="t">
            <a:noAutofit/>
          </a:bodyPr>
          <a:lstStyle/>
          <a:p>
            <a:pPr>
              <a:spcBef>
                <a:spcPts val="0"/>
              </a:spcBef>
              <a:buNone/>
            </a:pPr>
            <a:r>
              <a:rPr lang="en-US" sz="1600" b="1" dirty="0">
                <a:solidFill>
                  <a:srgbClr val="0B3C4C"/>
                </a:solidFill>
                <a:latin typeface="Barlow"/>
              </a:rPr>
              <a:t>Reviewable history</a:t>
            </a:r>
          </a:p>
          <a:p>
            <a:pPr>
              <a:spcBef>
                <a:spcPts val="300"/>
              </a:spcBef>
              <a:buNone/>
            </a:pPr>
            <a:r>
              <a:rPr lang="en-US" sz="1500" b="0" dirty="0">
                <a:solidFill>
                  <a:srgbClr val="4F6670"/>
                </a:solidFill>
                <a:latin typeface="Barlow"/>
              </a:rPr>
              <a:t>Confirm decisions, retention and exportable evidence.</a:t>
            </a:r>
          </a:p>
        </p:txBody>
      </p:sp>
      <p:sp>
        <p:nvSpPr>
          <p:cNvPr id="952" name="Body 952"/>
          <p:cNvSpPr/>
          <p:nvPr/>
        </p:nvSpPr>
        <p:spPr>
          <a:xfrm>
            <a:off x="5177367" y="5969000"/>
            <a:ext cx="4275667" cy="31750"/>
          </a:xfrm>
          <a:prstGeom prst="rect">
            <a:avLst/>
          </a:prstGeom>
          <a:solidFill>
            <a:srgbClr val="F5A623"/>
          </a:solidFill>
          <a:ln>
            <a:noFill/>
          </a:ln>
        </p:spPr>
        <p:txBody>
          <a:bodyPr wrap="square" lIns="0" tIns="0" rIns="0" bIns="0" anchor="t">
            <a:noAutofit/>
          </a:bodyPr>
          <a:lstStyle/>
          <a:p>
            <a:endParaRPr lang="en-US" sz="100"/>
          </a:p>
        </p:txBody>
      </p:sp>
      <p:sp>
        <p:nvSpPr>
          <p:cNvPr id="953" name="Body 953"/>
          <p:cNvSpPr txBox="1"/>
          <p:nvPr/>
        </p:nvSpPr>
        <p:spPr>
          <a:xfrm>
            <a:off x="5177367" y="6121400"/>
            <a:ext cx="4275667" cy="1435100"/>
          </a:xfrm>
          <a:prstGeom prst="rect">
            <a:avLst/>
          </a:prstGeom>
          <a:noFill/>
        </p:spPr>
        <p:txBody>
          <a:bodyPr wrap="square" lIns="0" tIns="0" rIns="0" bIns="0" anchor="t">
            <a:noAutofit/>
          </a:bodyPr>
          <a:lstStyle/>
          <a:p>
            <a:pPr>
              <a:spcBef>
                <a:spcPts val="0"/>
              </a:spcBef>
              <a:buNone/>
            </a:pPr>
            <a:r>
              <a:rPr lang="en-US" sz="1600" b="1" dirty="0">
                <a:solidFill>
                  <a:srgbClr val="0B3C4C"/>
                </a:solidFill>
                <a:latin typeface="Barlow"/>
              </a:rPr>
              <a:t>Controlled AI data</a:t>
            </a:r>
          </a:p>
          <a:p>
            <a:pPr>
              <a:spcBef>
                <a:spcPts val="300"/>
              </a:spcBef>
              <a:buNone/>
            </a:pPr>
            <a:r>
              <a:rPr lang="en-US" sz="1500" b="0" dirty="0">
                <a:solidFill>
                  <a:srgbClr val="4F6670"/>
                </a:solidFill>
                <a:latin typeface="Barlow"/>
              </a:rPr>
              <a:t>Verify model endpoints and outbound data paths.</a:t>
            </a:r>
          </a:p>
        </p:txBody>
      </p:sp>
      <p:sp>
        <p:nvSpPr>
          <p:cNvPr id="954" name="Body 954"/>
          <p:cNvSpPr/>
          <p:nvPr/>
        </p:nvSpPr>
        <p:spPr>
          <a:xfrm>
            <a:off x="9757833" y="5969000"/>
            <a:ext cx="4275667" cy="31750"/>
          </a:xfrm>
          <a:prstGeom prst="rect">
            <a:avLst/>
          </a:prstGeom>
          <a:solidFill>
            <a:srgbClr val="F5A623"/>
          </a:solidFill>
          <a:ln>
            <a:noFill/>
          </a:ln>
        </p:spPr>
        <p:txBody>
          <a:bodyPr wrap="square" lIns="0" tIns="0" rIns="0" bIns="0" anchor="t">
            <a:noAutofit/>
          </a:bodyPr>
          <a:lstStyle/>
          <a:p>
            <a:endParaRPr lang="en-US" sz="100"/>
          </a:p>
        </p:txBody>
      </p:sp>
      <p:sp>
        <p:nvSpPr>
          <p:cNvPr id="955" name="Body 955"/>
          <p:cNvSpPr txBox="1"/>
          <p:nvPr/>
        </p:nvSpPr>
        <p:spPr>
          <a:xfrm>
            <a:off x="9757833" y="6121400"/>
            <a:ext cx="4275667" cy="1435100"/>
          </a:xfrm>
          <a:prstGeom prst="rect">
            <a:avLst/>
          </a:prstGeom>
          <a:noFill/>
        </p:spPr>
        <p:txBody>
          <a:bodyPr wrap="square" lIns="0" tIns="0" rIns="0" bIns="0" anchor="t">
            <a:noAutofit/>
          </a:bodyPr>
          <a:lstStyle/>
          <a:p>
            <a:pPr>
              <a:spcBef>
                <a:spcPts val="0"/>
              </a:spcBef>
              <a:buNone/>
            </a:pPr>
            <a:r>
              <a:rPr lang="en-US" sz="1600" b="1" dirty="0">
                <a:solidFill>
                  <a:srgbClr val="0B3C4C"/>
                </a:solidFill>
                <a:latin typeface="Barlow"/>
              </a:rPr>
              <a:t>Clear emergency ownership</a:t>
            </a:r>
          </a:p>
          <a:p>
            <a:pPr>
              <a:spcBef>
                <a:spcPts val="300"/>
              </a:spcBef>
              <a:buNone/>
            </a:pPr>
            <a:r>
              <a:rPr lang="en-US" sz="1500" b="0" dirty="0">
                <a:solidFill>
                  <a:srgbClr val="4F6670"/>
                </a:solidFill>
                <a:latin typeface="Barlow"/>
              </a:rPr>
              <a:t>Test the approver chain and recorded reasons.</a:t>
            </a:r>
          </a:p>
        </p:txBody>
      </p:sp>
    </p:spTree>
    <p:extLst>
      <p:ext uri="{BB962C8B-B14F-4D97-AF65-F5344CB8AC3E}">
        <p14:creationId xmlns:p14="http://schemas.microsoft.com/office/powerpoint/2010/main" val="26762026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6900" y="1270000"/>
            <a:ext cx="965200" cy="274320"/>
          </a:xfrm>
          <a:prstGeom prst="rect">
            <a:avLst/>
          </a:prstGeom>
          <a:noFill/>
        </p:spPr>
        <p:txBody>
          <a:bodyPr wrap="square" lIns="0" tIns="0" rIns="0" bIns="0">
            <a:noAutofit/>
          </a:bodyPr>
          <a:lstStyle/>
          <a:p>
            <a:pPr>
              <a:spcAft>
                <a:spcPts val="700"/>
              </a:spcAft>
              <a:defRPr sz="1100" b="1">
                <a:solidFill>
                  <a:srgbClr val="00708A"/>
                </a:solidFill>
                <a:latin typeface="Barlow"/>
              </a:defRPr>
            </a:pPr>
            <a:r>
              <a:t>SERVICEOPS</a:t>
            </a:r>
          </a:p>
        </p:txBody>
      </p:sp>
      <p:sp>
        <p:nvSpPr>
          <p:cNvPr id="4" name="TextBox 3"/>
          <p:cNvSpPr txBox="1"/>
          <p:nvPr/>
        </p:nvSpPr>
        <p:spPr>
          <a:xfrm>
            <a:off x="1714500" y="1270000"/>
            <a:ext cx="11430000" cy="365760"/>
          </a:xfrm>
          <a:prstGeom prst="rect">
            <a:avLst/>
          </a:prstGeom>
          <a:noFill/>
        </p:spPr>
        <p:txBody>
          <a:bodyPr wrap="square" lIns="0" tIns="0" rIns="0" bIns="0">
            <a:spAutoFit/>
          </a:bodyPr>
          <a:lstStyle/>
          <a:p>
            <a:pPr>
              <a:spcAft>
                <a:spcPts val="700"/>
              </a:spcAft>
              <a:defRPr sz="1200" b="1">
                <a:solidFill>
                  <a:srgbClr val="4F6670"/>
                </a:solidFill>
                <a:latin typeface="Barlow"/>
              </a:defRPr>
            </a:pPr>
            <a:r>
              <a:t>VALUE FOR EACH TEAM</a:t>
            </a:r>
          </a:p>
        </p:txBody>
      </p:sp>
      <p:sp>
        <p:nvSpPr>
          <p:cNvPr id="5" name="TextBox 4"/>
          <p:cNvSpPr txBox="1"/>
          <p:nvPr/>
        </p:nvSpPr>
        <p:spPr>
          <a:xfrm>
            <a:off x="596900" y="304800"/>
            <a:ext cx="11430000" cy="400110"/>
          </a:xfrm>
          <a:prstGeom prst="rect">
            <a:avLst/>
          </a:prstGeom>
          <a:noFill/>
        </p:spPr>
        <p:txBody>
          <a:bodyPr wrap="square" lIns="0" tIns="0" rIns="0" bIns="0">
            <a:spAutoFit/>
          </a:bodyPr>
          <a:lstStyle/>
          <a:p>
            <a:pPr>
              <a:spcAft>
                <a:spcPts val="700"/>
              </a:spcAft>
              <a:defRPr sz="3000" b="1">
                <a:solidFill>
                  <a:srgbClr val="0B3C4C"/>
                </a:solidFill>
                <a:latin typeface="Barlow"/>
              </a:defRPr>
            </a:pPr>
            <a:r>
              <a:rPr sz="2600"/>
              <a:t>Less guesswork for the people who protect the service.</a:t>
            </a:r>
          </a:p>
        </p:txBody>
      </p:sp>
      <p:sp>
        <p:nvSpPr>
          <p:cNvPr id="6" name="TextBox 5"/>
          <p:cNvSpPr txBox="1"/>
          <p:nvPr/>
        </p:nvSpPr>
        <p:spPr>
          <a:xfrm>
            <a:off x="596900" y="1625600"/>
            <a:ext cx="13436600" cy="307777"/>
          </a:xfrm>
          <a:prstGeom prst="rect">
            <a:avLst/>
          </a:prstGeom>
          <a:noFill/>
        </p:spPr>
        <p:txBody>
          <a:bodyPr wrap="square" lIns="0" tIns="0" rIns="0" bIns="0">
            <a:spAutoFit/>
          </a:bodyPr>
          <a:lstStyle/>
          <a:p>
            <a:pPr>
              <a:spcAft>
                <a:spcPts val="700"/>
              </a:spcAft>
              <a:defRPr sz="2000" b="0">
                <a:solidFill>
                  <a:srgbClr val="4F6670"/>
                </a:solidFill>
                <a:latin typeface="Barlow"/>
              </a:defRPr>
            </a:pPr>
            <a:r>
              <a:t>The value is coordinated action: visible plans, clearer impact and accountable handovers.</a:t>
            </a:r>
          </a:p>
        </p:txBody>
      </p:sp>
      <p:sp>
        <p:nvSpPr>
          <p:cNvPr id="7" name="Rectangle 6"/>
          <p:cNvSpPr/>
          <p:nvPr/>
        </p:nvSpPr>
        <p:spPr>
          <a:xfrm>
            <a:off x="594360" y="7754112"/>
            <a:ext cx="13441680" cy="10972"/>
          </a:xfrm>
          <a:prstGeom prst="rect">
            <a:avLst/>
          </a:prstGeom>
          <a:solidFill>
            <a:srgbClr val="D5D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7909560"/>
            <a:ext cx="10058400" cy="182880"/>
          </a:xfrm>
          <a:prstGeom prst="rect">
            <a:avLst/>
          </a:prstGeom>
          <a:noFill/>
        </p:spPr>
        <p:txBody>
          <a:bodyPr wrap="square" lIns="0" tIns="0" rIns="0" bIns="0">
            <a:spAutoFit/>
          </a:bodyPr>
          <a:lstStyle/>
          <a:p>
            <a:pPr>
              <a:spcAft>
                <a:spcPts val="700"/>
              </a:spcAft>
              <a:defRPr sz="900" b="0">
                <a:solidFill>
                  <a:srgbClr val="4F6670"/>
                </a:solidFill>
                <a:latin typeface="Barlow"/>
              </a:defRPr>
            </a:pPr>
            <a:r>
              <a:t>Anushka Wijesundara  /  Product overview</a:t>
            </a:r>
          </a:p>
        </p:txBody>
      </p:sp>
      <p:sp>
        <p:nvSpPr>
          <p:cNvPr id="9" name="TextBox 8"/>
          <p:cNvSpPr txBox="1"/>
          <p:nvPr/>
        </p:nvSpPr>
        <p:spPr>
          <a:xfrm>
            <a:off x="13487400" y="7854696"/>
            <a:ext cx="548640" cy="184666"/>
          </a:xfrm>
          <a:prstGeom prst="rect">
            <a:avLst/>
          </a:prstGeom>
          <a:noFill/>
        </p:spPr>
        <p:txBody>
          <a:bodyPr wrap="square" lIns="0" tIns="0" rIns="0" bIns="0">
            <a:spAutoFit/>
          </a:bodyPr>
          <a:lstStyle/>
          <a:p>
            <a:pPr>
              <a:spcAft>
                <a:spcPts val="700"/>
              </a:spcAft>
              <a:defRPr sz="1200" b="1">
                <a:solidFill>
                  <a:srgbClr val="00708A"/>
                </a:solidFill>
                <a:latin typeface="Barlow"/>
              </a:defRPr>
            </a:pPr>
            <a:r>
              <a:rPr lang="en-JP"/>
              <a:t>14</a:t>
            </a:r>
            <a:endParaRPr/>
          </a:p>
        </p:txBody>
      </p:sp>
      <p:sp>
        <p:nvSpPr>
          <p:cNvPr id="901" name="JNX Rule"/>
          <p:cNvSpPr/>
          <p:nvPr/>
        </p:nvSpPr>
        <p:spPr>
          <a:xfrm>
            <a:off x="596900" y="1016000"/>
            <a:ext cx="13436600" cy="19050"/>
          </a:xfrm>
          <a:prstGeom prst="rect">
            <a:avLst/>
          </a:prstGeom>
          <a:solidFill>
            <a:srgbClr val="0B3C4C"/>
          </a:solidFill>
          <a:ln>
            <a:noFill/>
          </a:ln>
        </p:spPr>
        <p:txBody>
          <a:bodyPr/>
          <a:lstStyle/>
          <a:p>
            <a:endParaRPr lang="en-JP"/>
          </a:p>
        </p:txBody>
      </p:sp>
      <p:pic>
        <p:nvPicPr>
          <p:cNvPr id="903" name="Copied Picture 903" descr="Japannext JNX logo">
            <a:extLst>
              <a:ext uri="{FF2B5EF4-FFF2-40B4-BE49-F238E27FC236}">
                <a16:creationId xmlns:a16="http://schemas.microsoft.com/office/drawing/2014/main" id="{429122C2-2B95-92FB-9A5C-2E92C9458AAC}"/>
              </a:ext>
            </a:extLst>
          </p:cNvPr>
          <p:cNvPicPr>
            <a:picLocks noChangeAspect="1"/>
          </p:cNvPicPr>
          <p:nvPr/>
        </p:nvPicPr>
        <p:blipFill>
          <a:blip r:embed="rId3">
            <a:clrChange>
              <a:clrFrom>
                <a:srgbClr val="FFFFFF"/>
              </a:clrFrom>
              <a:clrTo>
                <a:srgbClr val="FFFFFF">
                  <a:alpha val="0"/>
                </a:srgbClr>
              </a:clrTo>
            </a:clrChange>
          </a:blip>
          <a:srcRect l="13500" t="21500" r="13800" b="22500"/>
          <a:stretch>
            <a:fillRect/>
          </a:stretch>
        </p:blipFill>
        <p:spPr>
          <a:xfrm>
            <a:off x="12623800" y="254000"/>
            <a:ext cx="1409700" cy="660400"/>
          </a:xfrm>
          <a:prstGeom prst="rect">
            <a:avLst/>
          </a:prstGeom>
        </p:spPr>
      </p:pic>
      <p:sp>
        <p:nvSpPr>
          <p:cNvPr id="950" name="Body 950"/>
          <p:cNvSpPr/>
          <p:nvPr/>
        </p:nvSpPr>
        <p:spPr>
          <a:xfrm>
            <a:off x="596900" y="3048000"/>
            <a:ext cx="3130550" cy="2794000"/>
          </a:xfrm>
          <a:prstGeom prst="rect">
            <a:avLst/>
          </a:prstGeom>
          <a:solidFill>
            <a:srgbClr val="EFF4F6"/>
          </a:solidFill>
          <a:ln>
            <a:noFill/>
          </a:ln>
        </p:spPr>
        <p:txBody>
          <a:bodyPr wrap="square" lIns="355600" tIns="355600" rIns="355600" bIns="355600" anchor="t">
            <a:normAutofit fontScale="92500"/>
          </a:bodyPr>
          <a:lstStyle/>
          <a:p>
            <a:pPr>
              <a:spcBef>
                <a:spcPts val="0"/>
              </a:spcBef>
              <a:buNone/>
            </a:pPr>
            <a:r>
              <a:rPr lang="en-US" sz="4400" b="1" dirty="0">
                <a:solidFill>
                  <a:srgbClr val="F5A623"/>
                </a:solidFill>
                <a:latin typeface="Barlow"/>
              </a:rPr>
              <a:t>01</a:t>
            </a:r>
          </a:p>
          <a:p>
            <a:pPr>
              <a:spcBef>
                <a:spcPts val="1400"/>
              </a:spcBef>
              <a:buNone/>
            </a:pPr>
            <a:r>
              <a:rPr lang="en-US" sz="2400" b="1" dirty="0">
                <a:solidFill>
                  <a:srgbClr val="0B3C4C"/>
                </a:solidFill>
                <a:latin typeface="Barlow"/>
              </a:rPr>
              <a:t>Change managers</a:t>
            </a:r>
          </a:p>
          <a:p>
            <a:pPr>
              <a:spcBef>
                <a:spcPts val="1000"/>
              </a:spcBef>
              <a:buNone/>
            </a:pPr>
            <a:r>
              <a:rPr lang="en-US" sz="1800" b="0" dirty="0">
                <a:solidFill>
                  <a:srgbClr val="4F6670"/>
                </a:solidFill>
                <a:latin typeface="Barlow"/>
              </a:rPr>
              <a:t>Review planned work and detected conflicts in shared context.</a:t>
            </a:r>
          </a:p>
        </p:txBody>
      </p:sp>
      <p:sp>
        <p:nvSpPr>
          <p:cNvPr id="951" name="Body 951"/>
          <p:cNvSpPr/>
          <p:nvPr/>
        </p:nvSpPr>
        <p:spPr>
          <a:xfrm>
            <a:off x="4032250" y="3048000"/>
            <a:ext cx="3130550" cy="2794000"/>
          </a:xfrm>
          <a:prstGeom prst="rect">
            <a:avLst/>
          </a:prstGeom>
          <a:solidFill>
            <a:srgbClr val="EFF4F6"/>
          </a:solidFill>
          <a:ln>
            <a:noFill/>
          </a:ln>
        </p:spPr>
        <p:txBody>
          <a:bodyPr wrap="square" lIns="355600" tIns="355600" rIns="355600" bIns="355600" anchor="t">
            <a:normAutofit lnSpcReduction="10000"/>
          </a:bodyPr>
          <a:lstStyle/>
          <a:p>
            <a:pPr>
              <a:spcBef>
                <a:spcPts val="0"/>
              </a:spcBef>
              <a:buNone/>
            </a:pPr>
            <a:r>
              <a:rPr lang="en-US" sz="4400" b="1" dirty="0">
                <a:solidFill>
                  <a:srgbClr val="F5A623"/>
                </a:solidFill>
                <a:latin typeface="Barlow"/>
              </a:rPr>
              <a:t>02</a:t>
            </a:r>
          </a:p>
          <a:p>
            <a:pPr>
              <a:spcBef>
                <a:spcPts val="1400"/>
              </a:spcBef>
              <a:buNone/>
            </a:pPr>
            <a:r>
              <a:rPr lang="en-US" sz="2400" b="1" dirty="0">
                <a:solidFill>
                  <a:srgbClr val="0B3C4C"/>
                </a:solidFill>
                <a:latin typeface="Barlow"/>
              </a:rPr>
              <a:t>Engineers</a:t>
            </a:r>
          </a:p>
          <a:p>
            <a:pPr>
              <a:spcBef>
                <a:spcPts val="1000"/>
              </a:spcBef>
              <a:buNone/>
            </a:pPr>
            <a:r>
              <a:rPr lang="en-US" sz="1800" b="0" dirty="0">
                <a:solidFill>
                  <a:srgbClr val="4F6670"/>
                </a:solidFill>
                <a:latin typeface="Barlow"/>
              </a:rPr>
              <a:t>See linked work before committing to a maintenance window.</a:t>
            </a:r>
          </a:p>
        </p:txBody>
      </p:sp>
      <p:sp>
        <p:nvSpPr>
          <p:cNvPr id="952" name="Body 952"/>
          <p:cNvSpPr/>
          <p:nvPr/>
        </p:nvSpPr>
        <p:spPr>
          <a:xfrm>
            <a:off x="7467600" y="3048000"/>
            <a:ext cx="3130550" cy="2794000"/>
          </a:xfrm>
          <a:prstGeom prst="rect">
            <a:avLst/>
          </a:prstGeom>
          <a:solidFill>
            <a:srgbClr val="EFF4F6"/>
          </a:solidFill>
          <a:ln>
            <a:noFill/>
          </a:ln>
        </p:spPr>
        <p:txBody>
          <a:bodyPr wrap="square" lIns="355600" tIns="355600" rIns="355600" bIns="355600" anchor="t">
            <a:normAutofit lnSpcReduction="10000"/>
          </a:bodyPr>
          <a:lstStyle/>
          <a:p>
            <a:pPr>
              <a:spcBef>
                <a:spcPts val="0"/>
              </a:spcBef>
              <a:buNone/>
            </a:pPr>
            <a:r>
              <a:rPr lang="en-US" sz="4400" b="1" dirty="0">
                <a:solidFill>
                  <a:srgbClr val="F5A623"/>
                </a:solidFill>
                <a:latin typeface="Barlow"/>
              </a:rPr>
              <a:t>03</a:t>
            </a:r>
          </a:p>
          <a:p>
            <a:pPr>
              <a:spcBef>
                <a:spcPts val="1400"/>
              </a:spcBef>
              <a:buNone/>
            </a:pPr>
            <a:r>
              <a:rPr lang="en-US" sz="2400" b="1" dirty="0">
                <a:solidFill>
                  <a:srgbClr val="0B3C4C"/>
                </a:solidFill>
                <a:latin typeface="Barlow"/>
              </a:rPr>
              <a:t>Data centre</a:t>
            </a:r>
          </a:p>
          <a:p>
            <a:pPr>
              <a:spcBef>
                <a:spcPts val="1000"/>
              </a:spcBef>
              <a:buNone/>
            </a:pPr>
            <a:r>
              <a:rPr lang="en-US" sz="1800" b="0" dirty="0">
                <a:solidFill>
                  <a:srgbClr val="4F6670"/>
                </a:solidFill>
                <a:latin typeface="Barlow"/>
              </a:rPr>
              <a:t>Act with rack, device and delivery context—not assumptions.</a:t>
            </a:r>
          </a:p>
        </p:txBody>
      </p:sp>
      <p:sp>
        <p:nvSpPr>
          <p:cNvPr id="953" name="Body 953"/>
          <p:cNvSpPr/>
          <p:nvPr/>
        </p:nvSpPr>
        <p:spPr>
          <a:xfrm>
            <a:off x="10902950" y="3048000"/>
            <a:ext cx="3130550" cy="2794000"/>
          </a:xfrm>
          <a:prstGeom prst="rect">
            <a:avLst/>
          </a:prstGeom>
          <a:solidFill>
            <a:srgbClr val="EFF4F6"/>
          </a:solidFill>
          <a:ln>
            <a:noFill/>
          </a:ln>
        </p:spPr>
        <p:txBody>
          <a:bodyPr wrap="square" lIns="355600" tIns="355600" rIns="355600" bIns="355600" anchor="t">
            <a:normAutofit lnSpcReduction="10000"/>
          </a:bodyPr>
          <a:lstStyle/>
          <a:p>
            <a:pPr>
              <a:spcBef>
                <a:spcPts val="0"/>
              </a:spcBef>
              <a:buNone/>
            </a:pPr>
            <a:r>
              <a:rPr lang="en-US" sz="4400" b="1" dirty="0">
                <a:solidFill>
                  <a:srgbClr val="F5A623"/>
                </a:solidFill>
                <a:latin typeface="Barlow"/>
              </a:rPr>
              <a:t>04</a:t>
            </a:r>
          </a:p>
          <a:p>
            <a:pPr>
              <a:spcBef>
                <a:spcPts val="1400"/>
              </a:spcBef>
              <a:buNone/>
            </a:pPr>
            <a:r>
              <a:rPr lang="en-US" sz="2400" b="1" dirty="0">
                <a:solidFill>
                  <a:srgbClr val="0B3C4C"/>
                </a:solidFill>
                <a:latin typeface="Barlow"/>
              </a:rPr>
              <a:t>Leadership</a:t>
            </a:r>
          </a:p>
          <a:p>
            <a:pPr>
              <a:spcBef>
                <a:spcPts val="1000"/>
              </a:spcBef>
              <a:buNone/>
            </a:pPr>
            <a:r>
              <a:rPr lang="en-US" sz="1800" b="0" dirty="0">
                <a:solidFill>
                  <a:srgbClr val="4F6670"/>
                </a:solidFill>
                <a:latin typeface="Barlow"/>
              </a:rPr>
              <a:t>Review exceptions with named owners and recorded reasons.</a:t>
            </a:r>
          </a:p>
        </p:txBody>
      </p:sp>
    </p:spTree>
    <p:extLst>
      <p:ext uri="{BB962C8B-B14F-4D97-AF65-F5344CB8AC3E}">
        <p14:creationId xmlns:p14="http://schemas.microsoft.com/office/powerpoint/2010/main" val="42145257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6900" y="1270000"/>
            <a:ext cx="965200" cy="274320"/>
          </a:xfrm>
          <a:prstGeom prst="rect">
            <a:avLst/>
          </a:prstGeom>
          <a:noFill/>
        </p:spPr>
        <p:txBody>
          <a:bodyPr wrap="square" lIns="0" tIns="0" rIns="0" bIns="0">
            <a:noAutofit/>
          </a:bodyPr>
          <a:lstStyle/>
          <a:p>
            <a:pPr>
              <a:spcAft>
                <a:spcPts val="700"/>
              </a:spcAft>
              <a:defRPr sz="1100" b="1">
                <a:solidFill>
                  <a:srgbClr val="00708A"/>
                </a:solidFill>
                <a:latin typeface="Barlow"/>
              </a:defRPr>
            </a:pPr>
            <a:r>
              <a:t>SERVICEOPS</a:t>
            </a:r>
          </a:p>
        </p:txBody>
      </p:sp>
      <p:sp>
        <p:nvSpPr>
          <p:cNvPr id="4" name="TextBox 3"/>
          <p:cNvSpPr txBox="1"/>
          <p:nvPr/>
        </p:nvSpPr>
        <p:spPr>
          <a:xfrm>
            <a:off x="1714500" y="1270000"/>
            <a:ext cx="11430000" cy="365760"/>
          </a:xfrm>
          <a:prstGeom prst="rect">
            <a:avLst/>
          </a:prstGeom>
          <a:noFill/>
        </p:spPr>
        <p:txBody>
          <a:bodyPr wrap="square" lIns="0" tIns="0" rIns="0" bIns="0">
            <a:spAutoFit/>
          </a:bodyPr>
          <a:lstStyle/>
          <a:p>
            <a:pPr>
              <a:spcAft>
                <a:spcPts val="700"/>
              </a:spcAft>
              <a:defRPr sz="1200" b="1">
                <a:solidFill>
                  <a:srgbClr val="4F6670"/>
                </a:solidFill>
                <a:latin typeface="Barlow"/>
              </a:defRPr>
            </a:pPr>
            <a:r>
              <a:t>PILOT / PROVE THE CORE PROMISE</a:t>
            </a:r>
          </a:p>
        </p:txBody>
      </p:sp>
      <p:sp>
        <p:nvSpPr>
          <p:cNvPr id="5" name="TextBox 4"/>
          <p:cNvSpPr txBox="1"/>
          <p:nvPr/>
        </p:nvSpPr>
        <p:spPr>
          <a:xfrm>
            <a:off x="596900" y="304800"/>
            <a:ext cx="11430000" cy="400110"/>
          </a:xfrm>
          <a:prstGeom prst="rect">
            <a:avLst/>
          </a:prstGeom>
          <a:noFill/>
        </p:spPr>
        <p:txBody>
          <a:bodyPr wrap="square" lIns="0" tIns="0" rIns="0" bIns="0">
            <a:spAutoFit/>
          </a:bodyPr>
          <a:lstStyle/>
          <a:p>
            <a:pPr>
              <a:spcAft>
                <a:spcPts val="700"/>
              </a:spcAft>
              <a:defRPr sz="3000" b="1">
                <a:solidFill>
                  <a:srgbClr val="0B3C4C"/>
                </a:solidFill>
                <a:latin typeface="Barlow"/>
              </a:defRPr>
            </a:pPr>
            <a:r>
              <a:rPr sz="2600"/>
              <a:t>Test conflict prevention and handovers—not just features.</a:t>
            </a:r>
          </a:p>
        </p:txBody>
      </p:sp>
      <p:sp>
        <p:nvSpPr>
          <p:cNvPr id="6" name="TextBox 5"/>
          <p:cNvSpPr txBox="1"/>
          <p:nvPr/>
        </p:nvSpPr>
        <p:spPr>
          <a:xfrm>
            <a:off x="596900" y="1625600"/>
            <a:ext cx="13436600" cy="307777"/>
          </a:xfrm>
          <a:prstGeom prst="rect">
            <a:avLst/>
          </a:prstGeom>
          <a:noFill/>
        </p:spPr>
        <p:txBody>
          <a:bodyPr wrap="square" lIns="0" tIns="0" rIns="0" bIns="0">
            <a:spAutoFit/>
          </a:bodyPr>
          <a:lstStyle/>
          <a:p>
            <a:pPr>
              <a:spcAft>
                <a:spcPts val="700"/>
              </a:spcAft>
              <a:defRPr sz="2000" b="0">
                <a:solidFill>
                  <a:srgbClr val="4F6670"/>
                </a:solidFill>
                <a:latin typeface="Barlow"/>
              </a:defRPr>
            </a:pPr>
            <a:r>
              <a:t>Proposed one-month Tokyo DC1 pilot: name owners and capture evidence before deciding on expansion.</a:t>
            </a:r>
          </a:p>
        </p:txBody>
      </p:sp>
      <p:sp>
        <p:nvSpPr>
          <p:cNvPr id="7" name="Rectangle 6"/>
          <p:cNvSpPr/>
          <p:nvPr/>
        </p:nvSpPr>
        <p:spPr>
          <a:xfrm>
            <a:off x="594360" y="7754112"/>
            <a:ext cx="13441680" cy="10972"/>
          </a:xfrm>
          <a:prstGeom prst="rect">
            <a:avLst/>
          </a:prstGeom>
          <a:solidFill>
            <a:srgbClr val="D5D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7909560"/>
            <a:ext cx="10058400" cy="182880"/>
          </a:xfrm>
          <a:prstGeom prst="rect">
            <a:avLst/>
          </a:prstGeom>
          <a:noFill/>
        </p:spPr>
        <p:txBody>
          <a:bodyPr wrap="square" lIns="0" tIns="0" rIns="0" bIns="0">
            <a:spAutoFit/>
          </a:bodyPr>
          <a:lstStyle/>
          <a:p>
            <a:pPr>
              <a:spcAft>
                <a:spcPts val="700"/>
              </a:spcAft>
              <a:defRPr sz="900" b="0">
                <a:solidFill>
                  <a:srgbClr val="4F6670"/>
                </a:solidFill>
                <a:latin typeface="Barlow"/>
              </a:defRPr>
            </a:pPr>
            <a:r>
              <a:t>Anushka Wijesundara  /  Product overview</a:t>
            </a:r>
          </a:p>
        </p:txBody>
      </p:sp>
      <p:sp>
        <p:nvSpPr>
          <p:cNvPr id="9" name="TextBox 8"/>
          <p:cNvSpPr txBox="1"/>
          <p:nvPr/>
        </p:nvSpPr>
        <p:spPr>
          <a:xfrm>
            <a:off x="13487400" y="7854696"/>
            <a:ext cx="548640" cy="184666"/>
          </a:xfrm>
          <a:prstGeom prst="rect">
            <a:avLst/>
          </a:prstGeom>
          <a:noFill/>
        </p:spPr>
        <p:txBody>
          <a:bodyPr wrap="square" lIns="0" tIns="0" rIns="0" bIns="0">
            <a:spAutoFit/>
          </a:bodyPr>
          <a:lstStyle/>
          <a:p>
            <a:pPr>
              <a:spcAft>
                <a:spcPts val="700"/>
              </a:spcAft>
              <a:defRPr sz="1200" b="1">
                <a:solidFill>
                  <a:srgbClr val="00708A"/>
                </a:solidFill>
                <a:latin typeface="Barlow"/>
              </a:defRPr>
            </a:pPr>
            <a:r>
              <a:rPr lang="en-JP"/>
              <a:t>15</a:t>
            </a:r>
            <a:endParaRPr/>
          </a:p>
        </p:txBody>
      </p:sp>
      <p:sp>
        <p:nvSpPr>
          <p:cNvPr id="901" name="JNX Rule"/>
          <p:cNvSpPr/>
          <p:nvPr/>
        </p:nvSpPr>
        <p:spPr>
          <a:xfrm>
            <a:off x="596900" y="1016000"/>
            <a:ext cx="13436600" cy="19050"/>
          </a:xfrm>
          <a:prstGeom prst="rect">
            <a:avLst/>
          </a:prstGeom>
          <a:solidFill>
            <a:srgbClr val="0B3C4C"/>
          </a:solidFill>
          <a:ln>
            <a:noFill/>
          </a:ln>
        </p:spPr>
        <p:txBody>
          <a:bodyPr/>
          <a:lstStyle/>
          <a:p>
            <a:endParaRPr lang="en-JP"/>
          </a:p>
        </p:txBody>
      </p:sp>
      <p:pic>
        <p:nvPicPr>
          <p:cNvPr id="903" name="Copied Picture 903" descr="Japannext JNX logo">
            <a:extLst>
              <a:ext uri="{FF2B5EF4-FFF2-40B4-BE49-F238E27FC236}">
                <a16:creationId xmlns:a16="http://schemas.microsoft.com/office/drawing/2014/main" id="{429122C2-2B95-92FB-9A5C-2E92C9458AAC}"/>
              </a:ext>
            </a:extLst>
          </p:cNvPr>
          <p:cNvPicPr>
            <a:picLocks noChangeAspect="1"/>
          </p:cNvPicPr>
          <p:nvPr/>
        </p:nvPicPr>
        <p:blipFill>
          <a:blip r:embed="rId3">
            <a:clrChange>
              <a:clrFrom>
                <a:srgbClr val="FFFFFF"/>
              </a:clrFrom>
              <a:clrTo>
                <a:srgbClr val="FFFFFF">
                  <a:alpha val="0"/>
                </a:srgbClr>
              </a:clrTo>
            </a:clrChange>
          </a:blip>
          <a:srcRect l="13500" t="21500" r="13800" b="22500"/>
          <a:stretch>
            <a:fillRect/>
          </a:stretch>
        </p:blipFill>
        <p:spPr>
          <a:xfrm>
            <a:off x="12623800" y="254000"/>
            <a:ext cx="1409700" cy="660400"/>
          </a:xfrm>
          <a:prstGeom prst="rect">
            <a:avLst/>
          </a:prstGeom>
        </p:spPr>
      </p:pic>
      <p:graphicFrame>
        <p:nvGraphicFramePr>
          <p:cNvPr id="1000" name="Pilot acceptance scorecard"/>
          <p:cNvGraphicFramePr/>
          <p:nvPr/>
        </p:nvGraphicFramePr>
        <p:xfrm>
          <a:off x="596900" y="2667000"/>
          <a:ext cx="13436600" cy="3975100"/>
        </p:xfrm>
        <a:graphic>
          <a:graphicData uri="http://schemas.openxmlformats.org/drawingml/2006/table">
            <a:tbl>
              <a:tblPr firstRow="1"/>
              <a:tblGrid>
                <a:gridCol w="36830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6096000">
                  <a:extLst>
                    <a:ext uri="{9D8B030D-6E8A-4147-A177-3AD203B41FA5}">
                      <a16:colId xmlns:a16="http://schemas.microsoft.com/office/drawing/2014/main" val="20002"/>
                    </a:ext>
                  </a:extLst>
                </a:gridCol>
              </a:tblGrid>
              <a:tr h="571500">
                <a:tc>
                  <a:txBody>
                    <a:bodyPr/>
                    <a:lstStyle/>
                    <a:p>
                      <a:r>
                        <a:rPr lang="en-US" sz="1800" b="1">
                          <a:solidFill>
                            <a:srgbClr val="0B3C4C"/>
                          </a:solidFill>
                          <a:latin typeface="Barlow"/>
                        </a:rPr>
                        <a:t>Acceptance check</a:t>
                      </a:r>
                    </a:p>
                  </a:txBody>
                  <a:tcPr marL="152400" marR="152400" marT="127000" marB="127000" anchor="ctr">
                    <a:lnL w="6350">
                      <a:solidFill>
                        <a:srgbClr val="FFFFFF"/>
                      </a:solidFill>
                    </a:lnL>
                    <a:lnR w="6350">
                      <a:solidFill>
                        <a:srgbClr val="FFFFFF"/>
                      </a:solidFill>
                    </a:lnR>
                    <a:lnT w="6350">
                      <a:solidFill>
                        <a:srgbClr val="FFFFFF"/>
                      </a:solidFill>
                    </a:lnT>
                    <a:lnB w="19050">
                      <a:solidFill>
                        <a:srgbClr val="0B3C4C"/>
                      </a:solidFill>
                    </a:lnB>
                    <a:solidFill>
                      <a:srgbClr val="FFFFFF"/>
                    </a:solidFill>
                  </a:tcPr>
                </a:tc>
                <a:tc>
                  <a:txBody>
                    <a:bodyPr/>
                    <a:lstStyle/>
                    <a:p>
                      <a:r>
                        <a:rPr lang="en-US" sz="1800" b="1">
                          <a:solidFill>
                            <a:srgbClr val="0B3C4C"/>
                          </a:solidFill>
                          <a:latin typeface="Barlow"/>
                        </a:rPr>
                        <a:t>Suggested owner</a:t>
                      </a:r>
                    </a:p>
                  </a:txBody>
                  <a:tcPr marL="152400" marR="152400" marT="127000" marB="127000" anchor="ctr">
                    <a:lnL w="6350">
                      <a:solidFill>
                        <a:srgbClr val="FFFFFF"/>
                      </a:solidFill>
                    </a:lnL>
                    <a:lnR w="6350">
                      <a:solidFill>
                        <a:srgbClr val="FFFFFF"/>
                      </a:solidFill>
                    </a:lnR>
                    <a:lnT w="6350">
                      <a:solidFill>
                        <a:srgbClr val="FFFFFF"/>
                      </a:solidFill>
                    </a:lnT>
                    <a:lnB w="19050">
                      <a:solidFill>
                        <a:srgbClr val="0B3C4C"/>
                      </a:solidFill>
                    </a:lnB>
                    <a:solidFill>
                      <a:srgbClr val="FFFFFF"/>
                    </a:solidFill>
                  </a:tcPr>
                </a:tc>
                <a:tc>
                  <a:txBody>
                    <a:bodyPr/>
                    <a:lstStyle/>
                    <a:p>
                      <a:r>
                        <a:rPr lang="en-US" sz="1800" b="1">
                          <a:solidFill>
                            <a:srgbClr val="0B3C4C"/>
                          </a:solidFill>
                          <a:latin typeface="Barlow"/>
                        </a:rPr>
                        <a:t>Evidence to review</a:t>
                      </a:r>
                    </a:p>
                  </a:txBody>
                  <a:tcPr marL="152400" marR="152400" marT="127000" marB="127000" anchor="ctr">
                    <a:lnL w="6350">
                      <a:solidFill>
                        <a:srgbClr val="FFFFFF"/>
                      </a:solidFill>
                    </a:lnL>
                    <a:lnR w="6350">
                      <a:solidFill>
                        <a:srgbClr val="FFFFFF"/>
                      </a:solidFill>
                    </a:lnR>
                    <a:lnT w="6350">
                      <a:solidFill>
                        <a:srgbClr val="FFFFFF"/>
                      </a:solidFill>
                    </a:lnT>
                    <a:lnB w="19050">
                      <a:solidFill>
                        <a:srgbClr val="0B3C4C"/>
                      </a:solidFill>
                    </a:lnB>
                    <a:solidFill>
                      <a:srgbClr val="FFFFFF"/>
                    </a:solidFill>
                  </a:tcPr>
                </a:tc>
                <a:extLst>
                  <a:ext uri="{0D108BD9-81ED-4DB2-BD59-A6C34878D82A}">
                    <a16:rowId xmlns:a16="http://schemas.microsoft.com/office/drawing/2014/main" val="10000"/>
                  </a:ext>
                </a:extLst>
              </a:tr>
              <a:tr h="850900">
                <a:tc>
                  <a:txBody>
                    <a:bodyPr/>
                    <a:lstStyle/>
                    <a:p>
                      <a:r>
                        <a:rPr lang="en-US" sz="1600" b="1">
                          <a:solidFill>
                            <a:srgbClr val="0B3C4C"/>
                          </a:solidFill>
                          <a:latin typeface="Barlow"/>
                        </a:rPr>
                        <a:t>Dependency accuracy</a:t>
                      </a:r>
                    </a:p>
                  </a:txBody>
                  <a:tcPr marL="152400" marR="152400" marT="127000" marB="127000" anchor="ctr">
                    <a:lnL w="6350">
                      <a:solidFill>
                        <a:srgbClr val="FFFFFF"/>
                      </a:solidFill>
                    </a:lnL>
                    <a:lnR w="6350">
                      <a:solidFill>
                        <a:srgbClr val="FFFFFF"/>
                      </a:solidFill>
                    </a:lnR>
                    <a:lnT w="19050">
                      <a:solidFill>
                        <a:srgbClr val="0B3C4C"/>
                      </a:solidFill>
                    </a:lnT>
                    <a:lnB w="9525">
                      <a:solidFill>
                        <a:srgbClr val="D5DDE0"/>
                      </a:solidFill>
                    </a:lnB>
                    <a:solidFill>
                      <a:srgbClr val="EFF4F6"/>
                    </a:solidFill>
                  </a:tcPr>
                </a:tc>
                <a:tc>
                  <a:txBody>
                    <a:bodyPr/>
                    <a:lstStyle/>
                    <a:p>
                      <a:r>
                        <a:rPr lang="en-US" sz="1600" b="0">
                          <a:solidFill>
                            <a:srgbClr val="4F6670"/>
                          </a:solidFill>
                          <a:latin typeface="Barlow"/>
                        </a:rPr>
                        <a:t>Data centre / NetBox owner</a:t>
                      </a:r>
                    </a:p>
                  </a:txBody>
                  <a:tcPr marL="152400" marR="152400" marT="127000" marB="127000" anchor="ctr">
                    <a:lnL w="6350">
                      <a:solidFill>
                        <a:srgbClr val="FFFFFF"/>
                      </a:solidFill>
                    </a:lnL>
                    <a:lnR w="6350">
                      <a:solidFill>
                        <a:srgbClr val="FFFFFF"/>
                      </a:solidFill>
                    </a:lnR>
                    <a:lnT w="19050">
                      <a:solidFill>
                        <a:srgbClr val="0B3C4C"/>
                      </a:solidFill>
                    </a:lnT>
                    <a:lnB w="9525">
                      <a:solidFill>
                        <a:srgbClr val="D5DDE0"/>
                      </a:solidFill>
                    </a:lnB>
                    <a:solidFill>
                      <a:srgbClr val="FFFFFF"/>
                    </a:solidFill>
                  </a:tcPr>
                </a:tc>
                <a:tc>
                  <a:txBody>
                    <a:bodyPr/>
                    <a:lstStyle/>
                    <a:p>
                      <a:r>
                        <a:rPr lang="en-US" sz="1600" b="0">
                          <a:solidFill>
                            <a:srgbClr val="4F6670"/>
                          </a:solidFill>
                          <a:latin typeface="Barlow"/>
                        </a:rPr>
                        <a:t>Sampled devices and service links match reality.</a:t>
                      </a:r>
                    </a:p>
                  </a:txBody>
                  <a:tcPr marL="152400" marR="152400" marT="127000" marB="127000" anchor="ctr">
                    <a:lnL w="6350">
                      <a:solidFill>
                        <a:srgbClr val="FFFFFF"/>
                      </a:solidFill>
                    </a:lnL>
                    <a:lnR w="6350">
                      <a:solidFill>
                        <a:srgbClr val="FFFFFF"/>
                      </a:solidFill>
                    </a:lnR>
                    <a:lnT w="19050">
                      <a:solidFill>
                        <a:srgbClr val="0B3C4C"/>
                      </a:solidFill>
                    </a:lnT>
                    <a:lnB w="9525">
                      <a:solidFill>
                        <a:srgbClr val="D5DDE0"/>
                      </a:solidFill>
                    </a:lnB>
                    <a:solidFill>
                      <a:srgbClr val="FFFFFF"/>
                    </a:solidFill>
                  </a:tcPr>
                </a:tc>
                <a:extLst>
                  <a:ext uri="{0D108BD9-81ED-4DB2-BD59-A6C34878D82A}">
                    <a16:rowId xmlns:a16="http://schemas.microsoft.com/office/drawing/2014/main" val="10001"/>
                  </a:ext>
                </a:extLst>
              </a:tr>
              <a:tr h="850900">
                <a:tc>
                  <a:txBody>
                    <a:bodyPr/>
                    <a:lstStyle/>
                    <a:p>
                      <a:r>
                        <a:rPr lang="en-US" sz="1600" b="1">
                          <a:solidFill>
                            <a:srgbClr val="0B3C4C"/>
                          </a:solidFill>
                          <a:latin typeface="Barlow"/>
                        </a:rPr>
                        <a:t>Conflict and freeze checks</a:t>
                      </a:r>
                    </a:p>
                  </a:txBody>
                  <a:tcPr marL="152400" marR="152400" marT="127000" marB="127000" anchor="ctr">
                    <a:lnL w="6350">
                      <a:solidFill>
                        <a:srgbClr val="FFFFFF"/>
                      </a:solidFill>
                    </a:lnL>
                    <a:lnR w="6350">
                      <a:solidFill>
                        <a:srgbClr val="FFFFFF"/>
                      </a:solidFill>
                    </a:lnR>
                    <a:lnT w="9525">
                      <a:solidFill>
                        <a:srgbClr val="D5DDE0"/>
                      </a:solidFill>
                    </a:lnT>
                    <a:lnB w="9525">
                      <a:solidFill>
                        <a:srgbClr val="D5DDE0"/>
                      </a:solidFill>
                    </a:lnB>
                    <a:solidFill>
                      <a:srgbClr val="EFF4F6"/>
                    </a:solidFill>
                  </a:tcPr>
                </a:tc>
                <a:tc>
                  <a:txBody>
                    <a:bodyPr/>
                    <a:lstStyle/>
                    <a:p>
                      <a:r>
                        <a:rPr lang="en-US" sz="1600" b="0">
                          <a:solidFill>
                            <a:srgbClr val="4F6670"/>
                          </a:solidFill>
                          <a:latin typeface="Barlow"/>
                        </a:rPr>
                        <a:t>Change manager</a:t>
                      </a:r>
                    </a:p>
                  </a:txBody>
                  <a:tcPr marL="152400" marR="152400" marT="127000" marB="127000" anchor="ctr">
                    <a:lnL w="6350">
                      <a:solidFill>
                        <a:srgbClr val="FFFFFF"/>
                      </a:solidFill>
                    </a:lnL>
                    <a:lnR w="6350">
                      <a:solidFill>
                        <a:srgbClr val="FFFFFF"/>
                      </a:solidFill>
                    </a:lnR>
                    <a:lnT w="9525">
                      <a:solidFill>
                        <a:srgbClr val="D5DDE0"/>
                      </a:solidFill>
                    </a:lnT>
                    <a:lnB w="9525">
                      <a:solidFill>
                        <a:srgbClr val="D5DDE0"/>
                      </a:solidFill>
                    </a:lnB>
                    <a:solidFill>
                      <a:srgbClr val="FFFFFF"/>
                    </a:solidFill>
                  </a:tcPr>
                </a:tc>
                <a:tc>
                  <a:txBody>
                    <a:bodyPr/>
                    <a:lstStyle/>
                    <a:p>
                      <a:r>
                        <a:rPr lang="en-US" sz="1600" b="0">
                          <a:solidFill>
                            <a:srgbClr val="4F6670"/>
                          </a:solidFill>
                          <a:latin typeface="Barlow"/>
                        </a:rPr>
                        <a:t>Test overlaps and freeze rules; record blocks and exceptions.</a:t>
                      </a:r>
                    </a:p>
                  </a:txBody>
                  <a:tcPr marL="152400" marR="152400" marT="127000" marB="127000" anchor="ctr">
                    <a:lnL w="6350">
                      <a:solidFill>
                        <a:srgbClr val="FFFFFF"/>
                      </a:solidFill>
                    </a:lnL>
                    <a:lnR w="6350">
                      <a:solidFill>
                        <a:srgbClr val="FFFFFF"/>
                      </a:solidFill>
                    </a:lnR>
                    <a:lnT w="9525">
                      <a:solidFill>
                        <a:srgbClr val="D5DDE0"/>
                      </a:solidFill>
                    </a:lnT>
                    <a:lnB w="9525">
                      <a:solidFill>
                        <a:srgbClr val="D5DDE0"/>
                      </a:solidFill>
                    </a:lnB>
                    <a:solidFill>
                      <a:srgbClr val="FFFFFF"/>
                    </a:solidFill>
                  </a:tcPr>
                </a:tc>
                <a:extLst>
                  <a:ext uri="{0D108BD9-81ED-4DB2-BD59-A6C34878D82A}">
                    <a16:rowId xmlns:a16="http://schemas.microsoft.com/office/drawing/2014/main" val="10002"/>
                  </a:ext>
                </a:extLst>
              </a:tr>
              <a:tr h="850900">
                <a:tc>
                  <a:txBody>
                    <a:bodyPr/>
                    <a:lstStyle/>
                    <a:p>
                      <a:r>
                        <a:rPr lang="en-US" sz="1600" b="1">
                          <a:solidFill>
                            <a:srgbClr val="0B3C4C"/>
                          </a:solidFill>
                          <a:latin typeface="Barlow"/>
                        </a:rPr>
                        <a:t>Handover clarity</a:t>
                      </a:r>
                    </a:p>
                  </a:txBody>
                  <a:tcPr marL="152400" marR="152400" marT="127000" marB="127000" anchor="ctr">
                    <a:lnL w="6350">
                      <a:solidFill>
                        <a:srgbClr val="FFFFFF"/>
                      </a:solidFill>
                    </a:lnL>
                    <a:lnR w="6350">
                      <a:solidFill>
                        <a:srgbClr val="FFFFFF"/>
                      </a:solidFill>
                    </a:lnR>
                    <a:lnT w="9525">
                      <a:solidFill>
                        <a:srgbClr val="D5DDE0"/>
                      </a:solidFill>
                    </a:lnT>
                    <a:lnB w="9525">
                      <a:solidFill>
                        <a:srgbClr val="D5DDE0"/>
                      </a:solidFill>
                    </a:lnB>
                    <a:solidFill>
                      <a:srgbClr val="EFF4F6"/>
                    </a:solidFill>
                  </a:tcPr>
                </a:tc>
                <a:tc>
                  <a:txBody>
                    <a:bodyPr/>
                    <a:lstStyle/>
                    <a:p>
                      <a:r>
                        <a:rPr lang="en-US" sz="1600" b="0">
                          <a:solidFill>
                            <a:srgbClr val="4F6670"/>
                          </a:solidFill>
                          <a:latin typeface="Barlow"/>
                        </a:rPr>
                        <a:t>Unix / Network leads</a:t>
                      </a:r>
                    </a:p>
                  </a:txBody>
                  <a:tcPr marL="152400" marR="152400" marT="127000" marB="127000" anchor="ctr">
                    <a:lnL w="6350">
                      <a:solidFill>
                        <a:srgbClr val="FFFFFF"/>
                      </a:solidFill>
                    </a:lnL>
                    <a:lnR w="6350">
                      <a:solidFill>
                        <a:srgbClr val="FFFFFF"/>
                      </a:solidFill>
                    </a:lnR>
                    <a:lnT w="9525">
                      <a:solidFill>
                        <a:srgbClr val="D5DDE0"/>
                      </a:solidFill>
                    </a:lnT>
                    <a:lnB w="9525">
                      <a:solidFill>
                        <a:srgbClr val="D5DDE0"/>
                      </a:solidFill>
                    </a:lnB>
                    <a:solidFill>
                      <a:srgbClr val="FFFFFF"/>
                    </a:solidFill>
                  </a:tcPr>
                </a:tc>
                <a:tc>
                  <a:txBody>
                    <a:bodyPr/>
                    <a:lstStyle/>
                    <a:p>
                      <a:r>
                        <a:rPr lang="en-US" sz="1600" b="0">
                          <a:solidFill>
                            <a:srgbClr val="4F6670"/>
                          </a:solidFill>
                          <a:latin typeface="Barlow"/>
                        </a:rPr>
                        <a:t>Both teams can identify the scope, owner and next action.</a:t>
                      </a:r>
                    </a:p>
                  </a:txBody>
                  <a:tcPr marL="152400" marR="152400" marT="127000" marB="127000" anchor="ctr">
                    <a:lnL w="6350">
                      <a:solidFill>
                        <a:srgbClr val="FFFFFF"/>
                      </a:solidFill>
                    </a:lnL>
                    <a:lnR w="6350">
                      <a:solidFill>
                        <a:srgbClr val="FFFFFF"/>
                      </a:solidFill>
                    </a:lnR>
                    <a:lnT w="9525">
                      <a:solidFill>
                        <a:srgbClr val="D5DDE0"/>
                      </a:solidFill>
                    </a:lnT>
                    <a:lnB w="9525">
                      <a:solidFill>
                        <a:srgbClr val="D5DDE0"/>
                      </a:solidFill>
                    </a:lnB>
                    <a:solidFill>
                      <a:srgbClr val="FFFFFF"/>
                    </a:solidFill>
                  </a:tcPr>
                </a:tc>
                <a:extLst>
                  <a:ext uri="{0D108BD9-81ED-4DB2-BD59-A6C34878D82A}">
                    <a16:rowId xmlns:a16="http://schemas.microsoft.com/office/drawing/2014/main" val="10003"/>
                  </a:ext>
                </a:extLst>
              </a:tr>
              <a:tr h="850900">
                <a:tc>
                  <a:txBody>
                    <a:bodyPr/>
                    <a:lstStyle/>
                    <a:p>
                      <a:r>
                        <a:rPr lang="en-US" sz="1600" b="1">
                          <a:solidFill>
                            <a:srgbClr val="0B3C4C"/>
                          </a:solidFill>
                          <a:latin typeface="Barlow"/>
                        </a:rPr>
                        <a:t>Approval and decision trail</a:t>
                      </a:r>
                    </a:p>
                  </a:txBody>
                  <a:tcPr marL="152400" marR="152400" marT="127000" marB="127000" anchor="ctr">
                    <a:lnL w="6350">
                      <a:solidFill>
                        <a:srgbClr val="FFFFFF"/>
                      </a:solidFill>
                    </a:lnL>
                    <a:lnR w="6350">
                      <a:solidFill>
                        <a:srgbClr val="FFFFFF"/>
                      </a:solidFill>
                    </a:lnR>
                    <a:lnT w="9525">
                      <a:solidFill>
                        <a:srgbClr val="D5DDE0"/>
                      </a:solidFill>
                    </a:lnT>
                    <a:lnB w="9525">
                      <a:solidFill>
                        <a:srgbClr val="D5DDE0"/>
                      </a:solidFill>
                    </a:lnB>
                    <a:solidFill>
                      <a:srgbClr val="EFF4F6"/>
                    </a:solidFill>
                  </a:tcPr>
                </a:tc>
                <a:tc>
                  <a:txBody>
                    <a:bodyPr/>
                    <a:lstStyle/>
                    <a:p>
                      <a:r>
                        <a:rPr lang="en-US" sz="1600" b="0">
                          <a:solidFill>
                            <a:srgbClr val="4F6670"/>
                          </a:solidFill>
                          <a:latin typeface="Barlow"/>
                        </a:rPr>
                        <a:t>Change manager / audit</a:t>
                      </a:r>
                    </a:p>
                  </a:txBody>
                  <a:tcPr marL="152400" marR="152400" marT="127000" marB="127000" anchor="ctr">
                    <a:lnL w="6350">
                      <a:solidFill>
                        <a:srgbClr val="FFFFFF"/>
                      </a:solidFill>
                    </a:lnL>
                    <a:lnR w="6350">
                      <a:solidFill>
                        <a:srgbClr val="FFFFFF"/>
                      </a:solidFill>
                    </a:lnR>
                    <a:lnT w="9525">
                      <a:solidFill>
                        <a:srgbClr val="D5DDE0"/>
                      </a:solidFill>
                    </a:lnT>
                    <a:lnB w="9525">
                      <a:solidFill>
                        <a:srgbClr val="D5DDE0"/>
                      </a:solidFill>
                    </a:lnB>
                    <a:solidFill>
                      <a:srgbClr val="FFFFFF"/>
                    </a:solidFill>
                  </a:tcPr>
                </a:tc>
                <a:tc>
                  <a:txBody>
                    <a:bodyPr/>
                    <a:lstStyle/>
                    <a:p>
                      <a:r>
                        <a:rPr lang="en-US" sz="1600" b="0">
                          <a:solidFill>
                            <a:srgbClr val="4F6670"/>
                          </a:solidFill>
                          <a:latin typeface="Barlow"/>
                        </a:rPr>
                        <a:t>Approvers, reasons and recovery plans are reviewable.</a:t>
                      </a:r>
                    </a:p>
                  </a:txBody>
                  <a:tcPr marL="152400" marR="152400" marT="127000" marB="127000" anchor="ctr">
                    <a:lnL w="6350">
                      <a:solidFill>
                        <a:srgbClr val="FFFFFF"/>
                      </a:solidFill>
                    </a:lnL>
                    <a:lnR w="6350">
                      <a:solidFill>
                        <a:srgbClr val="FFFFFF"/>
                      </a:solidFill>
                    </a:lnR>
                    <a:lnT w="9525">
                      <a:solidFill>
                        <a:srgbClr val="D5DDE0"/>
                      </a:solidFill>
                    </a:lnT>
                    <a:lnB w="9525">
                      <a:solidFill>
                        <a:srgbClr val="D5DDE0"/>
                      </a:solidFill>
                    </a:lnB>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3867492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6900" y="1270000"/>
            <a:ext cx="965200" cy="274320"/>
          </a:xfrm>
          <a:prstGeom prst="rect">
            <a:avLst/>
          </a:prstGeom>
          <a:noFill/>
        </p:spPr>
        <p:txBody>
          <a:bodyPr wrap="square" lIns="0" tIns="0" rIns="0" bIns="0">
            <a:noAutofit/>
          </a:bodyPr>
          <a:lstStyle/>
          <a:p>
            <a:pPr>
              <a:spcAft>
                <a:spcPts val="700"/>
              </a:spcAft>
              <a:defRPr sz="1100" b="1">
                <a:solidFill>
                  <a:srgbClr val="00708A"/>
                </a:solidFill>
                <a:latin typeface="Barlow"/>
              </a:defRPr>
            </a:pPr>
            <a:r>
              <a:t>SERVICEOPS</a:t>
            </a:r>
          </a:p>
        </p:txBody>
      </p:sp>
      <p:sp>
        <p:nvSpPr>
          <p:cNvPr id="4" name="TextBox 3"/>
          <p:cNvSpPr txBox="1"/>
          <p:nvPr/>
        </p:nvSpPr>
        <p:spPr>
          <a:xfrm>
            <a:off x="1714500" y="1270000"/>
            <a:ext cx="11430000" cy="365760"/>
          </a:xfrm>
          <a:prstGeom prst="rect">
            <a:avLst/>
          </a:prstGeom>
          <a:noFill/>
        </p:spPr>
        <p:txBody>
          <a:bodyPr wrap="square" lIns="0" tIns="0" rIns="0" bIns="0">
            <a:spAutoFit/>
          </a:bodyPr>
          <a:lstStyle/>
          <a:p>
            <a:pPr>
              <a:spcAft>
                <a:spcPts val="700"/>
              </a:spcAft>
              <a:defRPr sz="1200" b="1">
                <a:solidFill>
                  <a:srgbClr val="4F6670"/>
                </a:solidFill>
                <a:latin typeface="Barlow"/>
              </a:defRPr>
            </a:pPr>
            <a:r>
              <a:t>THE NEXT DECISION</a:t>
            </a:r>
          </a:p>
        </p:txBody>
      </p:sp>
      <p:sp>
        <p:nvSpPr>
          <p:cNvPr id="5" name="TextBox 4"/>
          <p:cNvSpPr txBox="1"/>
          <p:nvPr/>
        </p:nvSpPr>
        <p:spPr>
          <a:xfrm>
            <a:off x="596900" y="304800"/>
            <a:ext cx="11430000" cy="400110"/>
          </a:xfrm>
          <a:prstGeom prst="rect">
            <a:avLst/>
          </a:prstGeom>
          <a:noFill/>
        </p:spPr>
        <p:txBody>
          <a:bodyPr wrap="square" lIns="0" tIns="0" rIns="0" bIns="0">
            <a:spAutoFit/>
          </a:bodyPr>
          <a:lstStyle/>
          <a:p>
            <a:pPr>
              <a:spcAft>
                <a:spcPts val="700"/>
              </a:spcAft>
              <a:defRPr sz="3000" b="1">
                <a:solidFill>
                  <a:srgbClr val="0B3C4C"/>
                </a:solidFill>
                <a:latin typeface="Barlow"/>
              </a:defRPr>
            </a:pPr>
            <a:r>
              <a:rPr sz="2600"/>
              <a:t>Bring two teams and one service into the same plan.</a:t>
            </a:r>
          </a:p>
        </p:txBody>
      </p:sp>
      <p:sp>
        <p:nvSpPr>
          <p:cNvPr id="6" name="TextBox 5"/>
          <p:cNvSpPr txBox="1"/>
          <p:nvPr/>
        </p:nvSpPr>
        <p:spPr>
          <a:xfrm>
            <a:off x="596900" y="1625600"/>
            <a:ext cx="13436600" cy="307777"/>
          </a:xfrm>
          <a:prstGeom prst="rect">
            <a:avLst/>
          </a:prstGeom>
          <a:noFill/>
        </p:spPr>
        <p:txBody>
          <a:bodyPr wrap="square" lIns="0" tIns="0" rIns="0" bIns="0">
            <a:spAutoFit/>
          </a:bodyPr>
          <a:lstStyle/>
          <a:p>
            <a:pPr>
              <a:spcAft>
                <a:spcPts val="700"/>
              </a:spcAft>
              <a:defRPr sz="2000" b="0">
                <a:solidFill>
                  <a:srgbClr val="4F6670"/>
                </a:solidFill>
                <a:latin typeface="Barlow"/>
              </a:defRPr>
            </a:pPr>
            <a:r>
              <a:t>Sponsor a focused Tokyo DC1 pilot to prove earlier conflict detection and clearer maintenance handovers.</a:t>
            </a:r>
          </a:p>
        </p:txBody>
      </p:sp>
      <p:sp>
        <p:nvSpPr>
          <p:cNvPr id="7" name="Rectangle 6"/>
          <p:cNvSpPr/>
          <p:nvPr/>
        </p:nvSpPr>
        <p:spPr>
          <a:xfrm>
            <a:off x="594360" y="7754112"/>
            <a:ext cx="13441680" cy="10972"/>
          </a:xfrm>
          <a:prstGeom prst="rect">
            <a:avLst/>
          </a:prstGeom>
          <a:solidFill>
            <a:srgbClr val="D5D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7909560"/>
            <a:ext cx="10058400" cy="182880"/>
          </a:xfrm>
          <a:prstGeom prst="rect">
            <a:avLst/>
          </a:prstGeom>
          <a:noFill/>
        </p:spPr>
        <p:txBody>
          <a:bodyPr wrap="square" lIns="0" tIns="0" rIns="0" bIns="0">
            <a:spAutoFit/>
          </a:bodyPr>
          <a:lstStyle/>
          <a:p>
            <a:pPr>
              <a:spcAft>
                <a:spcPts val="700"/>
              </a:spcAft>
              <a:defRPr sz="900" b="0">
                <a:solidFill>
                  <a:srgbClr val="4F6670"/>
                </a:solidFill>
                <a:latin typeface="Barlow"/>
              </a:defRPr>
            </a:pPr>
            <a:r>
              <a:t>Anushka Wijesundara  /  Product overview</a:t>
            </a:r>
          </a:p>
        </p:txBody>
      </p:sp>
      <p:sp>
        <p:nvSpPr>
          <p:cNvPr id="9" name="TextBox 8"/>
          <p:cNvSpPr txBox="1"/>
          <p:nvPr/>
        </p:nvSpPr>
        <p:spPr>
          <a:xfrm>
            <a:off x="13487400" y="7854696"/>
            <a:ext cx="548640" cy="184666"/>
          </a:xfrm>
          <a:prstGeom prst="rect">
            <a:avLst/>
          </a:prstGeom>
          <a:noFill/>
        </p:spPr>
        <p:txBody>
          <a:bodyPr wrap="square" lIns="0" tIns="0" rIns="0" bIns="0">
            <a:spAutoFit/>
          </a:bodyPr>
          <a:lstStyle/>
          <a:p>
            <a:pPr>
              <a:spcAft>
                <a:spcPts val="700"/>
              </a:spcAft>
              <a:defRPr sz="1200" b="1">
                <a:solidFill>
                  <a:srgbClr val="00708A"/>
                </a:solidFill>
                <a:latin typeface="Barlow"/>
              </a:defRPr>
            </a:pPr>
            <a:r>
              <a:rPr lang="en-JP"/>
              <a:t>16</a:t>
            </a:r>
            <a:endParaRPr/>
          </a:p>
        </p:txBody>
      </p:sp>
      <p:sp>
        <p:nvSpPr>
          <p:cNvPr id="901" name="JNX Rule"/>
          <p:cNvSpPr/>
          <p:nvPr/>
        </p:nvSpPr>
        <p:spPr>
          <a:xfrm>
            <a:off x="596900" y="1016000"/>
            <a:ext cx="13436600" cy="19050"/>
          </a:xfrm>
          <a:prstGeom prst="rect">
            <a:avLst/>
          </a:prstGeom>
          <a:solidFill>
            <a:srgbClr val="0B3C4C"/>
          </a:solidFill>
          <a:ln>
            <a:noFill/>
          </a:ln>
        </p:spPr>
        <p:txBody>
          <a:bodyPr/>
          <a:lstStyle/>
          <a:p>
            <a:endParaRPr lang="en-JP"/>
          </a:p>
        </p:txBody>
      </p:sp>
      <p:pic>
        <p:nvPicPr>
          <p:cNvPr id="903" name="Copied Picture 903" descr="Japannext JNX logo">
            <a:extLst>
              <a:ext uri="{FF2B5EF4-FFF2-40B4-BE49-F238E27FC236}">
                <a16:creationId xmlns:a16="http://schemas.microsoft.com/office/drawing/2014/main" id="{429122C2-2B95-92FB-9A5C-2E92C9458AAC}"/>
              </a:ext>
            </a:extLst>
          </p:cNvPr>
          <p:cNvPicPr>
            <a:picLocks noChangeAspect="1"/>
          </p:cNvPicPr>
          <p:nvPr/>
        </p:nvPicPr>
        <p:blipFill>
          <a:blip r:embed="rId3">
            <a:clrChange>
              <a:clrFrom>
                <a:srgbClr val="FFFFFF"/>
              </a:clrFrom>
              <a:clrTo>
                <a:srgbClr val="FFFFFF">
                  <a:alpha val="0"/>
                </a:srgbClr>
              </a:clrTo>
            </a:clrChange>
          </a:blip>
          <a:srcRect l="13500" t="21500" r="13800" b="22500"/>
          <a:stretch>
            <a:fillRect/>
          </a:stretch>
        </p:blipFill>
        <p:spPr>
          <a:xfrm>
            <a:off x="12623800" y="254000"/>
            <a:ext cx="1409700" cy="660400"/>
          </a:xfrm>
          <a:prstGeom prst="rect">
            <a:avLst/>
          </a:prstGeom>
        </p:spPr>
      </p:pic>
      <p:sp>
        <p:nvSpPr>
          <p:cNvPr id="950" name="Body 950"/>
          <p:cNvSpPr/>
          <p:nvPr/>
        </p:nvSpPr>
        <p:spPr>
          <a:xfrm>
            <a:off x="596900" y="3048000"/>
            <a:ext cx="4275667" cy="2794000"/>
          </a:xfrm>
          <a:prstGeom prst="rect">
            <a:avLst/>
          </a:prstGeom>
          <a:solidFill>
            <a:srgbClr val="EFF4F6"/>
          </a:solidFill>
          <a:ln>
            <a:noFill/>
          </a:ln>
        </p:spPr>
        <p:txBody>
          <a:bodyPr wrap="square" lIns="355600" tIns="355600" rIns="355600" bIns="355600" anchor="t">
            <a:normAutofit lnSpcReduction="10000"/>
          </a:bodyPr>
          <a:lstStyle/>
          <a:p>
            <a:pPr>
              <a:spcBef>
                <a:spcPts val="0"/>
              </a:spcBef>
              <a:buNone/>
            </a:pPr>
            <a:r>
              <a:rPr lang="en-US" sz="4400" b="1" dirty="0">
                <a:solidFill>
                  <a:srgbClr val="F5A623"/>
                </a:solidFill>
                <a:latin typeface="Barlow"/>
              </a:rPr>
              <a:t>01</a:t>
            </a:r>
          </a:p>
          <a:p>
            <a:pPr>
              <a:spcBef>
                <a:spcPts val="1400"/>
              </a:spcBef>
              <a:buNone/>
            </a:pPr>
            <a:r>
              <a:rPr lang="en-US" sz="2400" b="1" dirty="0">
                <a:solidFill>
                  <a:srgbClr val="0B3C4C"/>
                </a:solidFill>
                <a:latin typeface="Barlow"/>
              </a:rPr>
              <a:t>Choose the service</a:t>
            </a:r>
          </a:p>
          <a:p>
            <a:pPr>
              <a:spcBef>
                <a:spcPts val="1000"/>
              </a:spcBef>
              <a:buNone/>
            </a:pPr>
            <a:r>
              <a:rPr lang="en-US" sz="1800" b="0" dirty="0">
                <a:solidFill>
                  <a:srgbClr val="4F6670"/>
                </a:solidFill>
                <a:latin typeface="Barlow"/>
              </a:rPr>
              <a:t>Name the sponsor, Unix and Network leads, scope and acceptance checks.</a:t>
            </a:r>
          </a:p>
        </p:txBody>
      </p:sp>
      <p:sp>
        <p:nvSpPr>
          <p:cNvPr id="951" name="Body 951"/>
          <p:cNvSpPr/>
          <p:nvPr/>
        </p:nvSpPr>
        <p:spPr>
          <a:xfrm>
            <a:off x="5177367" y="3048000"/>
            <a:ext cx="4275667" cy="2794000"/>
          </a:xfrm>
          <a:prstGeom prst="rect">
            <a:avLst/>
          </a:prstGeom>
          <a:solidFill>
            <a:srgbClr val="EFF4F6"/>
          </a:solidFill>
          <a:ln>
            <a:noFill/>
          </a:ln>
        </p:spPr>
        <p:txBody>
          <a:bodyPr wrap="square" lIns="355600" tIns="355600" rIns="355600" bIns="355600" anchor="t">
            <a:normAutofit lnSpcReduction="10000"/>
          </a:bodyPr>
          <a:lstStyle/>
          <a:p>
            <a:pPr>
              <a:spcBef>
                <a:spcPts val="0"/>
              </a:spcBef>
              <a:buNone/>
            </a:pPr>
            <a:r>
              <a:rPr lang="en-US" sz="4400" b="1" dirty="0">
                <a:solidFill>
                  <a:srgbClr val="F5A623"/>
                </a:solidFill>
                <a:latin typeface="Barlow"/>
              </a:rPr>
              <a:t>02</a:t>
            </a:r>
          </a:p>
          <a:p>
            <a:pPr>
              <a:spcBef>
                <a:spcPts val="1400"/>
              </a:spcBef>
              <a:buNone/>
            </a:pPr>
            <a:r>
              <a:rPr lang="en-US" sz="2400" b="1" dirty="0">
                <a:solidFill>
                  <a:srgbClr val="0B3C4C"/>
                </a:solidFill>
                <a:latin typeface="Barlow"/>
              </a:rPr>
              <a:t>Prove coordination</a:t>
            </a:r>
          </a:p>
          <a:p>
            <a:pPr>
              <a:spcBef>
                <a:spcPts val="1000"/>
              </a:spcBef>
              <a:buNone/>
            </a:pPr>
            <a:r>
              <a:rPr lang="en-US" sz="1800" b="0" dirty="0">
                <a:solidFill>
                  <a:srgbClr val="4F6670"/>
                </a:solidFill>
                <a:latin typeface="Barlow"/>
              </a:rPr>
              <a:t>Run the proposed one-month pilot; review conflicts and handovers weekly.</a:t>
            </a:r>
          </a:p>
        </p:txBody>
      </p:sp>
      <p:sp>
        <p:nvSpPr>
          <p:cNvPr id="952" name="Body 952"/>
          <p:cNvSpPr/>
          <p:nvPr/>
        </p:nvSpPr>
        <p:spPr>
          <a:xfrm>
            <a:off x="9757833" y="3048000"/>
            <a:ext cx="4275667" cy="2794000"/>
          </a:xfrm>
          <a:prstGeom prst="rect">
            <a:avLst/>
          </a:prstGeom>
          <a:solidFill>
            <a:srgbClr val="EFF4F6"/>
          </a:solidFill>
          <a:ln>
            <a:noFill/>
          </a:ln>
        </p:spPr>
        <p:txBody>
          <a:bodyPr wrap="square" lIns="355600" tIns="355600" rIns="355600" bIns="355600" anchor="t">
            <a:normAutofit lnSpcReduction="10000"/>
          </a:bodyPr>
          <a:lstStyle/>
          <a:p>
            <a:pPr>
              <a:spcBef>
                <a:spcPts val="0"/>
              </a:spcBef>
              <a:buNone/>
            </a:pPr>
            <a:r>
              <a:rPr lang="en-US" sz="4400" b="1" dirty="0">
                <a:solidFill>
                  <a:srgbClr val="F5A623"/>
                </a:solidFill>
                <a:latin typeface="Barlow"/>
              </a:rPr>
              <a:t>03</a:t>
            </a:r>
          </a:p>
          <a:p>
            <a:pPr>
              <a:spcBef>
                <a:spcPts val="1400"/>
              </a:spcBef>
              <a:buNone/>
            </a:pPr>
            <a:r>
              <a:rPr lang="en-US" sz="2400" b="1" dirty="0">
                <a:solidFill>
                  <a:srgbClr val="0B3C4C"/>
                </a:solidFill>
                <a:latin typeface="Barlow"/>
              </a:rPr>
              <a:t>Expand on evidence</a:t>
            </a:r>
          </a:p>
          <a:p>
            <a:pPr>
              <a:spcBef>
                <a:spcPts val="1000"/>
              </a:spcBef>
              <a:buNone/>
            </a:pPr>
            <a:r>
              <a:rPr lang="en-US" sz="1800" b="0" dirty="0">
                <a:solidFill>
                  <a:srgbClr val="4F6670"/>
                </a:solidFill>
                <a:latin typeface="Barlow"/>
              </a:rPr>
              <a:t>Roll out only when the agreed checks pass; otherwise fix and retest.</a:t>
            </a:r>
          </a:p>
        </p:txBody>
      </p:sp>
    </p:spTree>
    <p:extLst>
      <p:ext uri="{BB962C8B-B14F-4D97-AF65-F5344CB8AC3E}">
        <p14:creationId xmlns:p14="http://schemas.microsoft.com/office/powerpoint/2010/main" val="2783142441"/>
      </p:ext>
    </p:extLst>
  </p:cSld>
  <p:clrMapOvr>
    <a:masterClrMapping/>
  </p:clrMapOvr>
</p:sld>
</file>

<file path=ppt/theme/theme1.xml><?xml version="1.0" encoding="utf-8"?>
<a:theme xmlns:a="http://schemas.openxmlformats.org/drawingml/2006/main" name="Office Theme [1792315904846]">
  <a:themeElements>
    <a:clrScheme name="Japannext">
      <a:dk1>
        <a:srgbClr val="0B3C4C"/>
      </a:dk1>
      <a:lt1>
        <a:srgbClr val="FFFFFF"/>
      </a:lt1>
      <a:dk2>
        <a:srgbClr val="003C4D"/>
      </a:dk2>
      <a:lt2>
        <a:srgbClr val="EFF4F6"/>
      </a:lt2>
      <a:accent1>
        <a:srgbClr val="F5A623"/>
      </a:accent1>
      <a:accent2>
        <a:srgbClr val="00708A"/>
      </a:accent2>
      <a:accent3>
        <a:srgbClr val="4F6670"/>
      </a:accent3>
      <a:accent4>
        <a:srgbClr val="8FB3BF"/>
      </a:accent4>
      <a:accent5>
        <a:srgbClr val="C97B12"/>
      </a:accent5>
      <a:accent6>
        <a:srgbClr val="2D5A69"/>
      </a:accent6>
      <a:hlink>
        <a:srgbClr val="0000FF"/>
      </a:hlink>
      <a:folHlink>
        <a:srgbClr val="800080"/>
      </a:folHlink>
    </a:clrScheme>
    <a:fontScheme name="Office">
      <a:majorFont>
        <a:latin typeface="Barlow"/>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arlow"/>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C13C7B92-328A-564D-8770-B94A6AFE2B46}">
  <we:reference id="wa200010001" version="1.0.0.1" store="en-US" storeType="OMEX"/>
  <we:alternateReferences>
    <we:reference id="wa200010001" version="1.0.0.1" store="en-US" storeType="OMEX"/>
  </we:alternateReferences>
  <we:properties>
    <we:property name="claude.fileId" value="&quot;d1288e4f-976e-421f-b15a-48dbd35508aa&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3E8EF64-E9EF-D644-A32C-B9A748F28F22}">
  <we:reference id="wa200010215" version="2.0.0.1" store="en-US" storeType="OMEX"/>
  <we:alternateReferences>
    <we:reference id="wa200010215" version="2.0.0.1" store="wa200010215" storeType="OMEX"/>
  </we:alternateReferences>
  <we:properties>
    <we:property name="bps.codex_control.document_id" value="&quot;a4657d15-54af-4866-86bc-d3213d1b164b&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4810</TotalTime>
  <Words>5690</Words>
  <Application>Microsoft Macintosh PowerPoint</Application>
  <PresentationFormat>Custom</PresentationFormat>
  <Paragraphs>647</Paragraphs>
  <Slides>34</Slides>
  <Notes>34</Notes>
  <HiddenSlides>2</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Barlow</vt:lpstr>
      <vt:lpstr>Office Theme [1792315904846]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ServiceOps | Connected service operations</dc:title>
  <dc:subject>ServiceOps product overview and native iOS companion</dc:subject>
  <dc:creator>Anushka Wijesundara</dc:creator>
  <cp:keywords/>
  <dc:description>generated using python-pptx</dc:description>
  <cp:lastModifiedBy>Anushka Wijesundara</cp:lastModifiedBy>
  <cp:revision>15</cp:revision>
  <dcterms:created xsi:type="dcterms:W3CDTF">2013-01-27T09:14:16Z</dcterms:created>
  <dcterms:modified xsi:type="dcterms:W3CDTF">2026-10-22T04:48:53Z</dcterms:modified>
  <cp:category/>
</cp:coreProperties>
</file>